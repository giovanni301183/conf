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17"/>
    <p:sldId id="257" r:id="rId18"/>
    <p:sldId id="258" r:id="rId2"/>
    <p:sldId id="259" r:id="rId3"/>
    <p:sldId id="260" r:id="rId4"/>
    <p:sldId id="261" r:id="rId6"/>
    <p:sldId id="262" r:id="rId23"/>
    <p:sldId id="263" r:id="rId19"/>
    <p:sldId id="264" r:id="rId24"/>
    <p:sldId id="265" r:id="rId5"/>
    <p:sldId id="266" r:id="rId7"/>
    <p:sldId id="267" r:id="rId25"/>
    <p:sldId id="268" r:id="rId20"/>
    <p:sldId id="269" r:id="rId21"/>
    <p:sldId id="270" r:id="rId22"/>
  </p:sldIdLst>
  <p:sldSz cx="18288000" cy="10287000"/>
  <p:notesSz cx="7104063" cy="10234613"/>
  <p:embeddedFontLst>
    <p:embeddedFont>
      <p:font typeface="Canva Sans" panose="020B0604020202020204" charset="0"/>
      <p:regular r:id="rId9"/>
    </p:embeddedFont>
    <p:embeddedFont>
      <p:font typeface="Canva Sans Bold" panose="020B0604020202020204" charset="0"/>
      <p:regular r:id="rId10"/>
    </p:embeddedFont>
    <p:embeddedFont>
      <p:font typeface="Open Sauce" panose="020B0604020202020204" charset="0"/>
      <p:regular r:id="rId11"/>
    </p:embeddedFont>
    <p:embeddedFont>
      <p:font typeface="Open Sauce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BE2266FF-7630-4928-8F55-1E0618D0E3AB}" type="datetimeFigureOut">
              <a:rPr lang="it-IT" smtClean="0"/>
              <a:t>25/09/2026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B31FA81F-D9BE-416B-B888-5032DBBC3AA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68773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752"/>
            <a:fld id="{1B7CB805-766D-4E39-93D5-D0ECFD709C44}" type="slidenum">
              <a:rPr lang="it-IT">
                <a:solidFill>
                  <a:prstClr val="black"/>
                </a:solidFill>
                <a:latin typeface="Aptos" panose="02110004020202020204"/>
              </a:rPr>
              <a:pPr defTabSz="990752"/>
              <a:t>4</a:t>
            </a:fld>
            <a:endParaRPr lang="it-IT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130211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6.svg"/><Relationship Id="rId7" Type="http://schemas.openxmlformats.org/officeDocument/2006/relationships/image" Target="../media/image4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sv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5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C2C2C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V="1">
            <a:off x="-1402481" y="-2172510"/>
            <a:ext cx="2709713" cy="4345021"/>
          </a:xfrm>
          <a:custGeom>
            <a:avLst/>
            <a:gdLst/>
            <a:ahLst/>
            <a:cxnLst/>
            <a:rect l="l" t="t" r="r" b="b"/>
            <a:pathLst>
              <a:path w="2709713" h="4345021">
                <a:moveTo>
                  <a:pt x="0" y="4345020"/>
                </a:moveTo>
                <a:lnTo>
                  <a:pt x="2709712" y="4345020"/>
                </a:lnTo>
                <a:lnTo>
                  <a:pt x="2709712" y="0"/>
                </a:lnTo>
                <a:lnTo>
                  <a:pt x="0" y="0"/>
                </a:lnTo>
                <a:lnTo>
                  <a:pt x="0" y="434502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 rot="5400000">
            <a:off x="16502346" y="8862019"/>
            <a:ext cx="988790" cy="1304159"/>
          </a:xfrm>
          <a:custGeom>
            <a:avLst/>
            <a:gdLst/>
            <a:ahLst/>
            <a:cxnLst/>
            <a:rect l="l" t="t" r="r" b="b"/>
            <a:pathLst>
              <a:path w="988790" h="1304159">
                <a:moveTo>
                  <a:pt x="0" y="0"/>
                </a:moveTo>
                <a:lnTo>
                  <a:pt x="988790" y="0"/>
                </a:lnTo>
                <a:lnTo>
                  <a:pt x="988790" y="1304159"/>
                </a:lnTo>
                <a:lnTo>
                  <a:pt x="0" y="13041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>
            <a:off x="9144000" y="9254266"/>
            <a:ext cx="1121840" cy="422199"/>
          </a:xfrm>
          <a:custGeom>
            <a:avLst/>
            <a:gdLst/>
            <a:ahLst/>
            <a:cxnLst/>
            <a:rect l="l" t="t" r="r" b="b"/>
            <a:pathLst>
              <a:path w="1121840" h="422199">
                <a:moveTo>
                  <a:pt x="0" y="0"/>
                </a:moveTo>
                <a:lnTo>
                  <a:pt x="1121840" y="0"/>
                </a:lnTo>
                <a:lnTo>
                  <a:pt x="1121840" y="422199"/>
                </a:lnTo>
                <a:lnTo>
                  <a:pt x="0" y="4221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60269" r="-7196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1463291" y="440431"/>
            <a:ext cx="13441021" cy="1651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17"/>
              </a:lnSpc>
            </a:pPr>
            <a:r>
              <a:rPr lang="en-US" sz="5997" b="1" spc="-29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SOLAR MAX IMPIANTO FOTOVOLTAICO TERRANOVA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63281" y="2558476"/>
            <a:ext cx="13241031" cy="5562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31"/>
              </a:lnSpc>
            </a:pPr>
            <a:r>
              <a:rPr lang="en-US" sz="4697" b="1" spc="-230" dirty="0" err="1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Strutture</a:t>
            </a:r>
            <a:r>
              <a:rPr lang="en-US" sz="4697" b="1" spc="-230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4697" b="1" spc="-230" dirty="0" err="1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fotovoltaiche</a:t>
            </a:r>
            <a:r>
              <a:rPr lang="en-US" sz="4697" b="1" spc="-230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4697" b="1" spc="-230" dirty="0" err="1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fisse</a:t>
            </a:r>
            <a:r>
              <a:rPr lang="en-US" sz="4697" b="1" spc="-230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</a:p>
          <a:p>
            <a:pPr algn="l">
              <a:lnSpc>
                <a:spcPts val="5731"/>
              </a:lnSpc>
            </a:pPr>
            <a:r>
              <a:rPr lang="en-US" sz="4697" b="1" spc="-230" dirty="0" err="1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Soluzione</a:t>
            </a:r>
            <a:r>
              <a:rPr lang="en-US" sz="4697" b="1" spc="-230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4697" b="1" spc="-230" dirty="0" err="1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industriale</a:t>
            </a:r>
            <a:r>
              <a:rPr lang="en-US" sz="4697" b="1" spc="-230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4697" b="1" spc="-230" dirty="0" err="1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integrata</a:t>
            </a:r>
            <a:endParaRPr lang="en-US" sz="4697" b="1" spc="-230" dirty="0">
              <a:solidFill>
                <a:srgbClr val="79E92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3657"/>
              </a:lnSpc>
            </a:pPr>
            <a:r>
              <a:rPr lang="en-US" sz="2998" b="1" spc="-146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Produzione</a:t>
            </a:r>
            <a:r>
              <a:rPr lang="en-US" sz="2998" b="1" spc="-146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998" b="1" spc="-146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interamente</a:t>
            </a:r>
            <a:r>
              <a:rPr lang="en-US" sz="2998" b="1" spc="-146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in-house, </a:t>
            </a:r>
            <a:r>
              <a:rPr lang="en-US" sz="2998" b="1" spc="-146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basata</a:t>
            </a:r>
            <a:r>
              <a:rPr lang="en-US" sz="2998" b="1" spc="-146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998" b="1" spc="-146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su</a:t>
            </a:r>
            <a:r>
              <a:rPr lang="en-US" sz="2998" b="1" spc="-146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998" b="1" spc="-146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una</a:t>
            </a:r>
            <a:r>
              <a:rPr lang="en-US" sz="2998" b="1" spc="-146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998" b="1" spc="-146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consolidata</a:t>
            </a:r>
            <a:r>
              <a:rPr lang="en-US" sz="2998" b="1" spc="-146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998" b="1" spc="-146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esperienza</a:t>
            </a:r>
            <a:r>
              <a:rPr lang="en-US" sz="2998" b="1" spc="-146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998" b="1" spc="-146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nella</a:t>
            </a:r>
            <a:r>
              <a:rPr lang="en-US" sz="2998" b="1" spc="-146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998" b="1" spc="-146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carpenteria</a:t>
            </a:r>
            <a:r>
              <a:rPr lang="en-US" sz="2998" b="1" spc="-146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998" b="1" spc="-146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metallica</a:t>
            </a:r>
            <a:r>
              <a:rPr lang="en-US" sz="2998" b="1" spc="-146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per </a:t>
            </a:r>
            <a:r>
              <a:rPr lang="en-US" sz="2998" b="1" spc="-146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vigneti</a:t>
            </a:r>
            <a:r>
              <a:rPr lang="en-US" sz="2998" b="1" spc="-146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, serre, </a:t>
            </a:r>
            <a:r>
              <a:rPr lang="en-US" sz="2998" b="1" spc="-146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capannoni</a:t>
            </a:r>
            <a:r>
              <a:rPr lang="en-US" sz="2998" b="1" spc="-146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e </a:t>
            </a:r>
            <a:r>
              <a:rPr lang="en-US" sz="2998" b="1" spc="-146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strutture</a:t>
            </a:r>
            <a:r>
              <a:rPr lang="en-US" sz="2998" b="1" spc="-146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custom.</a:t>
            </a:r>
          </a:p>
          <a:p>
            <a:pPr algn="l">
              <a:lnSpc>
                <a:spcPts val="3657"/>
              </a:lnSpc>
            </a:pPr>
            <a:endParaRPr lang="en-US" sz="2998" b="1" spc="-146" dirty="0">
              <a:solidFill>
                <a:srgbClr val="FFFFFF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3657"/>
              </a:lnSpc>
            </a:pPr>
            <a:r>
              <a:rPr lang="en-US" sz="2998" b="1" spc="-146" dirty="0" err="1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Vantaggi</a:t>
            </a:r>
            <a:endParaRPr lang="en-US" sz="2998" b="1" spc="-146" dirty="0">
              <a:solidFill>
                <a:srgbClr val="79E92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3657"/>
              </a:lnSpc>
            </a:pPr>
            <a:r>
              <a:rPr lang="en-US" sz="2998" b="1" spc="-146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• </a:t>
            </a:r>
            <a:r>
              <a:rPr lang="en-US" sz="2998" b="1" spc="-146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Produzione</a:t>
            </a:r>
            <a:r>
              <a:rPr lang="en-US" sz="2998" b="1" spc="-146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998" b="1" spc="-146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rapida</a:t>
            </a:r>
            <a:endParaRPr lang="en-US" sz="2998" b="1" spc="-146" dirty="0">
              <a:solidFill>
                <a:srgbClr val="FFFFFF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3657"/>
              </a:lnSpc>
            </a:pPr>
            <a:r>
              <a:rPr lang="en-US" sz="2998" b="1" spc="-146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• </a:t>
            </a:r>
            <a:r>
              <a:rPr lang="en-US" sz="2998" b="1" spc="-146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Installazione</a:t>
            </a:r>
            <a:r>
              <a:rPr lang="en-US" sz="2998" b="1" spc="-146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998" b="1" spc="-146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semplificata</a:t>
            </a:r>
            <a:endParaRPr lang="en-US" sz="2998" b="1" spc="-146" dirty="0">
              <a:solidFill>
                <a:srgbClr val="FFFFFF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3657"/>
              </a:lnSpc>
            </a:pPr>
            <a:r>
              <a:rPr lang="en-US" sz="2998" b="1" spc="-146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• </a:t>
            </a:r>
            <a:r>
              <a:rPr lang="en-US" sz="2998" b="1" spc="-146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Qualità</a:t>
            </a:r>
            <a:r>
              <a:rPr lang="en-US" sz="2998" b="1" spc="-146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998" b="1" spc="-146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controllata</a:t>
            </a:r>
            <a:r>
              <a:rPr lang="en-US" sz="2998" b="1" spc="-146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998" b="1" spc="-146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lungo</a:t>
            </a:r>
            <a:r>
              <a:rPr lang="en-US" sz="2998" b="1" spc="-146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998" b="1" spc="-146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tutta</a:t>
            </a:r>
            <a:r>
              <a:rPr lang="en-US" sz="2998" b="1" spc="-146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la </a:t>
            </a:r>
            <a:r>
              <a:rPr lang="en-US" sz="2998" b="1" spc="-146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filiera</a:t>
            </a:r>
            <a:endParaRPr lang="en-US" sz="2998" b="1" spc="-146" dirty="0">
              <a:solidFill>
                <a:srgbClr val="FFFFFF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3657"/>
              </a:lnSpc>
            </a:pPr>
            <a:r>
              <a:rPr lang="en-US" sz="2998" b="1" spc="-146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• </a:t>
            </a:r>
            <a:r>
              <a:rPr lang="en-US" sz="2998" b="1" spc="-146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Affidabilità</a:t>
            </a:r>
            <a:r>
              <a:rPr lang="en-US" sz="2998" b="1" spc="-146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e </a:t>
            </a:r>
            <a:r>
              <a:rPr lang="en-US" sz="2998" b="1" spc="-146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durata</a:t>
            </a:r>
            <a:r>
              <a:rPr lang="en-US" sz="2998" b="1" spc="-146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998" b="1" spc="-146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nel</a:t>
            </a:r>
            <a:r>
              <a:rPr lang="en-US" sz="2998" b="1" spc="-146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tempo</a:t>
            </a:r>
          </a:p>
          <a:p>
            <a:pPr algn="l">
              <a:lnSpc>
                <a:spcPts val="3657"/>
              </a:lnSpc>
            </a:pPr>
            <a:endParaRPr lang="en-US" sz="2998" b="1" spc="-146" dirty="0">
              <a:solidFill>
                <a:srgbClr val="FFFFFF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5765540" y="294725"/>
            <a:ext cx="2080170" cy="1739830"/>
          </a:xfrm>
          <a:custGeom>
            <a:avLst/>
            <a:gdLst/>
            <a:ahLst/>
            <a:cxnLst/>
            <a:rect l="l" t="t" r="r" b="b"/>
            <a:pathLst>
              <a:path w="2080170" h="1739830">
                <a:moveTo>
                  <a:pt x="0" y="0"/>
                </a:moveTo>
                <a:lnTo>
                  <a:pt x="2080169" y="0"/>
                </a:lnTo>
                <a:lnTo>
                  <a:pt x="2080169" y="1739830"/>
                </a:lnTo>
                <a:lnTo>
                  <a:pt x="0" y="17398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0" name="Freeform 10"/>
          <p:cNvSpPr/>
          <p:nvPr/>
        </p:nvSpPr>
        <p:spPr>
          <a:xfrm>
            <a:off x="612089" y="8596796"/>
            <a:ext cx="4983083" cy="1370348"/>
          </a:xfrm>
          <a:custGeom>
            <a:avLst/>
            <a:gdLst/>
            <a:ahLst/>
            <a:cxnLst/>
            <a:rect l="l" t="t" r="r" b="b"/>
            <a:pathLst>
              <a:path w="4983083" h="1370348">
                <a:moveTo>
                  <a:pt x="0" y="0"/>
                </a:moveTo>
                <a:lnTo>
                  <a:pt x="4983083" y="0"/>
                </a:lnTo>
                <a:lnTo>
                  <a:pt x="4983083" y="1370348"/>
                </a:lnTo>
                <a:lnTo>
                  <a:pt x="0" y="13703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C2C2C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H="1" flipV="1">
            <a:off x="-597177" y="7679908"/>
            <a:ext cx="3251754" cy="5214183"/>
          </a:xfrm>
          <a:custGeom>
            <a:avLst/>
            <a:gdLst/>
            <a:ahLst/>
            <a:cxnLst/>
            <a:rect l="l" t="t" r="r" b="b"/>
            <a:pathLst>
              <a:path w="3251754" h="5214183">
                <a:moveTo>
                  <a:pt x="3251754" y="5214184"/>
                </a:moveTo>
                <a:lnTo>
                  <a:pt x="0" y="5214184"/>
                </a:lnTo>
                <a:lnTo>
                  <a:pt x="0" y="0"/>
                </a:lnTo>
                <a:lnTo>
                  <a:pt x="3251754" y="0"/>
                </a:lnTo>
                <a:lnTo>
                  <a:pt x="3251754" y="521418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1420397" y="4003863"/>
            <a:ext cx="6996424" cy="820375"/>
            <a:chOff x="0" y="0"/>
            <a:chExt cx="3465910" cy="406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465910" cy="406400"/>
            </a:xfrm>
            <a:custGeom>
              <a:avLst/>
              <a:gdLst/>
              <a:ahLst/>
              <a:cxnLst/>
              <a:rect l="l" t="t" r="r" b="b"/>
              <a:pathLst>
                <a:path w="3465910" h="406400">
                  <a:moveTo>
                    <a:pt x="3262710" y="0"/>
                  </a:moveTo>
                  <a:cubicBezTo>
                    <a:pt x="3374934" y="0"/>
                    <a:pt x="3465910" y="90976"/>
                    <a:pt x="3465910" y="203200"/>
                  </a:cubicBezTo>
                  <a:cubicBezTo>
                    <a:pt x="3465910" y="315424"/>
                    <a:pt x="3374934" y="406400"/>
                    <a:pt x="326271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9E92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46591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20397" y="4981186"/>
            <a:ext cx="6996424" cy="820375"/>
            <a:chOff x="0" y="0"/>
            <a:chExt cx="3465910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465910" cy="406400"/>
            </a:xfrm>
            <a:custGeom>
              <a:avLst/>
              <a:gdLst/>
              <a:ahLst/>
              <a:cxnLst/>
              <a:rect l="l" t="t" r="r" b="b"/>
              <a:pathLst>
                <a:path w="3465910" h="406400">
                  <a:moveTo>
                    <a:pt x="3262710" y="0"/>
                  </a:moveTo>
                  <a:cubicBezTo>
                    <a:pt x="3374934" y="0"/>
                    <a:pt x="3465910" y="90976"/>
                    <a:pt x="3465910" y="203200"/>
                  </a:cubicBezTo>
                  <a:cubicBezTo>
                    <a:pt x="3465910" y="315424"/>
                    <a:pt x="3374934" y="406400"/>
                    <a:pt x="326271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9E92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46591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20397" y="5958509"/>
            <a:ext cx="8634821" cy="956613"/>
            <a:chOff x="0" y="0"/>
            <a:chExt cx="3668349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668349" cy="406400"/>
            </a:xfrm>
            <a:custGeom>
              <a:avLst/>
              <a:gdLst/>
              <a:ahLst/>
              <a:cxnLst/>
              <a:rect l="l" t="t" r="r" b="b"/>
              <a:pathLst>
                <a:path w="3668349" h="406400">
                  <a:moveTo>
                    <a:pt x="3465149" y="0"/>
                  </a:moveTo>
                  <a:cubicBezTo>
                    <a:pt x="3577373" y="0"/>
                    <a:pt x="3668349" y="90976"/>
                    <a:pt x="3668349" y="203200"/>
                  </a:cubicBezTo>
                  <a:cubicBezTo>
                    <a:pt x="3668349" y="315424"/>
                    <a:pt x="3577373" y="406400"/>
                    <a:pt x="346514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9E92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66834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20397" y="7015867"/>
            <a:ext cx="6996424" cy="820375"/>
            <a:chOff x="0" y="0"/>
            <a:chExt cx="3465910" cy="406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465910" cy="406400"/>
            </a:xfrm>
            <a:custGeom>
              <a:avLst/>
              <a:gdLst/>
              <a:ahLst/>
              <a:cxnLst/>
              <a:rect l="l" t="t" r="r" b="b"/>
              <a:pathLst>
                <a:path w="3465910" h="406400">
                  <a:moveTo>
                    <a:pt x="3262710" y="0"/>
                  </a:moveTo>
                  <a:cubicBezTo>
                    <a:pt x="3374934" y="0"/>
                    <a:pt x="3465910" y="90976"/>
                    <a:pt x="3465910" y="203200"/>
                  </a:cubicBezTo>
                  <a:cubicBezTo>
                    <a:pt x="3465910" y="315424"/>
                    <a:pt x="3374934" y="406400"/>
                    <a:pt x="326271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9E92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346591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524091" y="4098387"/>
            <a:ext cx="576005" cy="576005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524091" y="5089384"/>
            <a:ext cx="576005" cy="576005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420397" y="2121760"/>
            <a:ext cx="13930042" cy="1615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93"/>
              </a:lnSpc>
            </a:pPr>
            <a:r>
              <a:rPr lang="en-US" sz="3302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Time-to-energy più rapido</a:t>
            </a:r>
          </a:p>
          <a:p>
            <a:pPr algn="l">
              <a:lnSpc>
                <a:spcPts val="4293"/>
              </a:lnSpc>
            </a:pPr>
            <a:r>
              <a:rPr lang="en-US" sz="3302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Produzione interna dei profili → eliminazione delle dipendenze esterne → consegne più veloci e cantieri più rapidi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524091" y="6080380"/>
            <a:ext cx="576005" cy="576005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524091" y="7151412"/>
            <a:ext cx="576005" cy="576005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>
            <a:off x="1629460" y="4217237"/>
            <a:ext cx="365268" cy="338305"/>
          </a:xfrm>
          <a:custGeom>
            <a:avLst/>
            <a:gdLst/>
            <a:ahLst/>
            <a:cxnLst/>
            <a:rect l="l" t="t" r="r" b="b"/>
            <a:pathLst>
              <a:path w="365268" h="338305">
                <a:moveTo>
                  <a:pt x="0" y="0"/>
                </a:moveTo>
                <a:lnTo>
                  <a:pt x="365268" y="0"/>
                </a:lnTo>
                <a:lnTo>
                  <a:pt x="365268" y="338305"/>
                </a:lnTo>
                <a:lnTo>
                  <a:pt x="0" y="3383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9" name="Freeform 29"/>
          <p:cNvSpPr/>
          <p:nvPr/>
        </p:nvSpPr>
        <p:spPr>
          <a:xfrm>
            <a:off x="1629460" y="5208234"/>
            <a:ext cx="365268" cy="338305"/>
          </a:xfrm>
          <a:custGeom>
            <a:avLst/>
            <a:gdLst/>
            <a:ahLst/>
            <a:cxnLst/>
            <a:rect l="l" t="t" r="r" b="b"/>
            <a:pathLst>
              <a:path w="365268" h="338305">
                <a:moveTo>
                  <a:pt x="0" y="0"/>
                </a:moveTo>
                <a:lnTo>
                  <a:pt x="365268" y="0"/>
                </a:lnTo>
                <a:lnTo>
                  <a:pt x="365268" y="338305"/>
                </a:lnTo>
                <a:lnTo>
                  <a:pt x="0" y="3383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0" name="Freeform 30"/>
          <p:cNvSpPr/>
          <p:nvPr/>
        </p:nvSpPr>
        <p:spPr>
          <a:xfrm>
            <a:off x="1629460" y="6199230"/>
            <a:ext cx="365268" cy="338305"/>
          </a:xfrm>
          <a:custGeom>
            <a:avLst/>
            <a:gdLst/>
            <a:ahLst/>
            <a:cxnLst/>
            <a:rect l="l" t="t" r="r" b="b"/>
            <a:pathLst>
              <a:path w="365268" h="338305">
                <a:moveTo>
                  <a:pt x="0" y="0"/>
                </a:moveTo>
                <a:lnTo>
                  <a:pt x="365268" y="0"/>
                </a:lnTo>
                <a:lnTo>
                  <a:pt x="365268" y="338306"/>
                </a:lnTo>
                <a:lnTo>
                  <a:pt x="0" y="3383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1" name="Freeform 31"/>
          <p:cNvSpPr/>
          <p:nvPr/>
        </p:nvSpPr>
        <p:spPr>
          <a:xfrm>
            <a:off x="1629460" y="7270262"/>
            <a:ext cx="365268" cy="338305"/>
          </a:xfrm>
          <a:custGeom>
            <a:avLst/>
            <a:gdLst/>
            <a:ahLst/>
            <a:cxnLst/>
            <a:rect l="l" t="t" r="r" b="b"/>
            <a:pathLst>
              <a:path w="365268" h="338305">
                <a:moveTo>
                  <a:pt x="0" y="0"/>
                </a:moveTo>
                <a:lnTo>
                  <a:pt x="365268" y="0"/>
                </a:lnTo>
                <a:lnTo>
                  <a:pt x="365268" y="338305"/>
                </a:lnTo>
                <a:lnTo>
                  <a:pt x="0" y="3383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2" name="Freeform 32"/>
          <p:cNvSpPr/>
          <p:nvPr/>
        </p:nvSpPr>
        <p:spPr>
          <a:xfrm flipH="1">
            <a:off x="17039241" y="9038241"/>
            <a:ext cx="1248759" cy="1248759"/>
          </a:xfrm>
          <a:custGeom>
            <a:avLst/>
            <a:gdLst/>
            <a:ahLst/>
            <a:cxnLst/>
            <a:rect l="l" t="t" r="r" b="b"/>
            <a:pathLst>
              <a:path w="1248759" h="1248759">
                <a:moveTo>
                  <a:pt x="1248759" y="0"/>
                </a:moveTo>
                <a:lnTo>
                  <a:pt x="0" y="0"/>
                </a:lnTo>
                <a:lnTo>
                  <a:pt x="0" y="1248759"/>
                </a:lnTo>
                <a:lnTo>
                  <a:pt x="1248759" y="1248759"/>
                </a:lnTo>
                <a:lnTo>
                  <a:pt x="124875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3" name="Freeform 33"/>
          <p:cNvSpPr/>
          <p:nvPr/>
        </p:nvSpPr>
        <p:spPr>
          <a:xfrm rot="5400000">
            <a:off x="10811107" y="99436"/>
            <a:ext cx="996555" cy="1314401"/>
          </a:xfrm>
          <a:custGeom>
            <a:avLst/>
            <a:gdLst/>
            <a:ahLst/>
            <a:cxnLst/>
            <a:rect l="l" t="t" r="r" b="b"/>
            <a:pathLst>
              <a:path w="996555" h="1314401">
                <a:moveTo>
                  <a:pt x="0" y="0"/>
                </a:moveTo>
                <a:lnTo>
                  <a:pt x="996555" y="0"/>
                </a:lnTo>
                <a:lnTo>
                  <a:pt x="996555" y="1314401"/>
                </a:lnTo>
                <a:lnTo>
                  <a:pt x="0" y="13144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4" name="Freeform 34"/>
          <p:cNvSpPr/>
          <p:nvPr/>
        </p:nvSpPr>
        <p:spPr>
          <a:xfrm>
            <a:off x="16618135" y="9047200"/>
            <a:ext cx="1121840" cy="422199"/>
          </a:xfrm>
          <a:custGeom>
            <a:avLst/>
            <a:gdLst/>
            <a:ahLst/>
            <a:cxnLst/>
            <a:rect l="l" t="t" r="r" b="b"/>
            <a:pathLst>
              <a:path w="1121840" h="422199">
                <a:moveTo>
                  <a:pt x="0" y="0"/>
                </a:moveTo>
                <a:lnTo>
                  <a:pt x="1121841" y="0"/>
                </a:lnTo>
                <a:lnTo>
                  <a:pt x="1121841" y="422200"/>
                </a:lnTo>
                <a:lnTo>
                  <a:pt x="0" y="4222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360269" r="-7196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5" name="Freeform 35"/>
          <p:cNvSpPr/>
          <p:nvPr/>
        </p:nvSpPr>
        <p:spPr>
          <a:xfrm>
            <a:off x="15765540" y="294725"/>
            <a:ext cx="2080170" cy="1739830"/>
          </a:xfrm>
          <a:custGeom>
            <a:avLst/>
            <a:gdLst/>
            <a:ahLst/>
            <a:cxnLst/>
            <a:rect l="l" t="t" r="r" b="b"/>
            <a:pathLst>
              <a:path w="2080170" h="1739830">
                <a:moveTo>
                  <a:pt x="0" y="0"/>
                </a:moveTo>
                <a:lnTo>
                  <a:pt x="2080169" y="0"/>
                </a:lnTo>
                <a:lnTo>
                  <a:pt x="2080169" y="1739830"/>
                </a:lnTo>
                <a:lnTo>
                  <a:pt x="0" y="17398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6" name="Freeform 36"/>
          <p:cNvSpPr/>
          <p:nvPr/>
        </p:nvSpPr>
        <p:spPr>
          <a:xfrm>
            <a:off x="612089" y="8596796"/>
            <a:ext cx="4983083" cy="1370348"/>
          </a:xfrm>
          <a:custGeom>
            <a:avLst/>
            <a:gdLst/>
            <a:ahLst/>
            <a:cxnLst/>
            <a:rect l="l" t="t" r="r" b="b"/>
            <a:pathLst>
              <a:path w="4983083" h="1370348">
                <a:moveTo>
                  <a:pt x="0" y="0"/>
                </a:moveTo>
                <a:lnTo>
                  <a:pt x="4983083" y="0"/>
                </a:lnTo>
                <a:lnTo>
                  <a:pt x="4983083" y="1370348"/>
                </a:lnTo>
                <a:lnTo>
                  <a:pt x="0" y="137034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7" name="TextBox 37"/>
          <p:cNvSpPr txBox="1"/>
          <p:nvPr/>
        </p:nvSpPr>
        <p:spPr>
          <a:xfrm>
            <a:off x="2327558" y="4054602"/>
            <a:ext cx="4841118" cy="1216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 spc="-17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Produzione interna 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endParaRPr lang="en-US" sz="3500" b="1" spc="-171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2327558" y="5045599"/>
            <a:ext cx="6298692" cy="1216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 spc="-17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Qualità costante 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endParaRPr lang="en-US" sz="3500" b="1" spc="-171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2327558" y="6036596"/>
            <a:ext cx="9373524" cy="1216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 spc="-17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Zero rischi di ritardi da fornitori critici 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endParaRPr lang="en-US" sz="3500" b="1" spc="-171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2327558" y="7027592"/>
            <a:ext cx="5545922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 spc="-17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Supporto tecnico diretto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12089" y="235687"/>
            <a:ext cx="4587120" cy="1019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7"/>
              </a:lnSpc>
              <a:spcBef>
                <a:spcPct val="0"/>
              </a:spcBef>
            </a:pPr>
            <a:r>
              <a:rPr lang="en-US" sz="5997" b="1" spc="-29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IL NOSTRO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488163" y="770852"/>
            <a:ext cx="4993619" cy="1111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7"/>
              </a:lnSpc>
              <a:spcBef>
                <a:spcPct val="0"/>
              </a:spcBef>
            </a:pPr>
            <a:r>
              <a:rPr lang="en-US" sz="6497" b="1" spc="-318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vantaggio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C2C2C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V="1">
            <a:off x="-326156" y="-2172510"/>
            <a:ext cx="2709713" cy="4345021"/>
          </a:xfrm>
          <a:custGeom>
            <a:avLst/>
            <a:gdLst/>
            <a:ahLst/>
            <a:cxnLst/>
            <a:rect l="l" t="t" r="r" b="b"/>
            <a:pathLst>
              <a:path w="2709713" h="4345021">
                <a:moveTo>
                  <a:pt x="0" y="4345020"/>
                </a:moveTo>
                <a:lnTo>
                  <a:pt x="2709712" y="4345020"/>
                </a:lnTo>
                <a:lnTo>
                  <a:pt x="2709712" y="0"/>
                </a:lnTo>
                <a:lnTo>
                  <a:pt x="0" y="0"/>
                </a:lnTo>
                <a:lnTo>
                  <a:pt x="0" y="434502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2010450" y="2473646"/>
            <a:ext cx="13795531" cy="944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3"/>
              </a:lnSpc>
            </a:pPr>
            <a:r>
              <a:rPr lang="en-US" sz="2902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Adattiamo la struttura al sito senza perdere standardizzazione:</a:t>
            </a:r>
          </a:p>
          <a:p>
            <a:pPr algn="l">
              <a:lnSpc>
                <a:spcPts val="3773"/>
              </a:lnSpc>
            </a:pPr>
            <a:r>
              <a:rPr lang="en-US" sz="2902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terreni complessi - configurazioni variabili - moduli di nuova generazione</a:t>
            </a:r>
          </a:p>
        </p:txBody>
      </p:sp>
      <p:sp>
        <p:nvSpPr>
          <p:cNvPr id="4" name="Freeform 4"/>
          <p:cNvSpPr/>
          <p:nvPr/>
        </p:nvSpPr>
        <p:spPr>
          <a:xfrm rot="5400000">
            <a:off x="16502346" y="8862019"/>
            <a:ext cx="988790" cy="1304159"/>
          </a:xfrm>
          <a:custGeom>
            <a:avLst/>
            <a:gdLst/>
            <a:ahLst/>
            <a:cxnLst/>
            <a:rect l="l" t="t" r="r" b="b"/>
            <a:pathLst>
              <a:path w="988790" h="1304159">
                <a:moveTo>
                  <a:pt x="0" y="0"/>
                </a:moveTo>
                <a:lnTo>
                  <a:pt x="988790" y="0"/>
                </a:lnTo>
                <a:lnTo>
                  <a:pt x="988790" y="1304159"/>
                </a:lnTo>
                <a:lnTo>
                  <a:pt x="0" y="13041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5" name="Group 5"/>
          <p:cNvGrpSpPr/>
          <p:nvPr/>
        </p:nvGrpSpPr>
        <p:grpSpPr>
          <a:xfrm>
            <a:off x="254479" y="3651217"/>
            <a:ext cx="17591230" cy="4712217"/>
            <a:chOff x="0" y="0"/>
            <a:chExt cx="4033356" cy="108042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033357" cy="1080428"/>
            </a:xfrm>
            <a:custGeom>
              <a:avLst/>
              <a:gdLst/>
              <a:ahLst/>
              <a:cxnLst/>
              <a:rect l="l" t="t" r="r" b="b"/>
              <a:pathLst>
                <a:path w="4033357" h="1080428">
                  <a:moveTo>
                    <a:pt x="0" y="0"/>
                  </a:moveTo>
                  <a:lnTo>
                    <a:pt x="4033357" y="0"/>
                  </a:lnTo>
                  <a:lnTo>
                    <a:pt x="4033357" y="1080428"/>
                  </a:lnTo>
                  <a:lnTo>
                    <a:pt x="0" y="1080428"/>
                  </a:lnTo>
                  <a:close/>
                </a:path>
              </a:pathLst>
            </a:custGeom>
            <a:solidFill>
              <a:srgbClr val="79E92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033356" cy="11185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9144000" y="9254266"/>
            <a:ext cx="1121840" cy="422199"/>
          </a:xfrm>
          <a:custGeom>
            <a:avLst/>
            <a:gdLst/>
            <a:ahLst/>
            <a:cxnLst/>
            <a:rect l="l" t="t" r="r" b="b"/>
            <a:pathLst>
              <a:path w="1121840" h="422199">
                <a:moveTo>
                  <a:pt x="0" y="0"/>
                </a:moveTo>
                <a:lnTo>
                  <a:pt x="1121840" y="0"/>
                </a:lnTo>
                <a:lnTo>
                  <a:pt x="1121840" y="422199"/>
                </a:lnTo>
                <a:lnTo>
                  <a:pt x="0" y="4221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60269" r="-7196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9" name="TextBox 9"/>
          <p:cNvSpPr txBox="1"/>
          <p:nvPr/>
        </p:nvSpPr>
        <p:spPr>
          <a:xfrm>
            <a:off x="12401140" y="4964401"/>
            <a:ext cx="5175595" cy="31854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165"/>
              </a:lnSpc>
              <a:spcBef>
                <a:spcPct val="0"/>
              </a:spcBef>
            </a:pPr>
            <a:r>
              <a:rPr lang="en-US" sz="3000" u="none" strike="noStrike" spc="-17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Installazione</a:t>
            </a:r>
            <a:r>
              <a:rPr lang="en-US" sz="3000" u="none" strike="noStrike" spc="-17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000" u="none" strike="noStrike" spc="-17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semplificata</a:t>
            </a:r>
            <a:endParaRPr lang="en-US" sz="3000" u="none" strike="noStrike" spc="-17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0" lvl="0" indent="0" algn="ctr">
              <a:lnSpc>
                <a:spcPts val="4165"/>
              </a:lnSpc>
              <a:spcBef>
                <a:spcPct val="0"/>
              </a:spcBef>
            </a:pPr>
            <a:r>
              <a:rPr lang="en-US" sz="3000" u="none" strike="noStrike" spc="-17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Meno </a:t>
            </a:r>
            <a:r>
              <a:rPr lang="en-US" sz="3000" u="none" strike="noStrike" spc="-17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componenti</a:t>
            </a:r>
            <a:r>
              <a:rPr lang="en-US" sz="3000" u="none" strike="noStrike" spc="-17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, </a:t>
            </a:r>
            <a:r>
              <a:rPr lang="en-US" sz="3000" u="none" strike="noStrike" spc="-17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meno</a:t>
            </a:r>
            <a:r>
              <a:rPr lang="en-US" sz="3000" u="none" strike="noStrike" spc="-17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000" u="none" strike="noStrike" spc="-17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complessità</a:t>
            </a:r>
            <a:r>
              <a:rPr lang="en-US" sz="3000" u="none" strike="noStrike" spc="-17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, </a:t>
            </a:r>
          </a:p>
          <a:p>
            <a:pPr marL="0" lvl="0" indent="0" algn="ctr">
              <a:lnSpc>
                <a:spcPts val="4165"/>
              </a:lnSpc>
              <a:spcBef>
                <a:spcPct val="0"/>
              </a:spcBef>
            </a:pPr>
            <a:r>
              <a:rPr lang="en-US" sz="3000" u="none" strike="noStrike" spc="-17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meno</a:t>
            </a:r>
            <a:r>
              <a:rPr lang="en-US" sz="3000" u="none" strike="noStrike" spc="-17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000" u="none" strike="noStrike" spc="-17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errori</a:t>
            </a:r>
            <a:r>
              <a:rPr lang="en-US" sz="3000" u="none" strike="noStrike" spc="-17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in campo.</a:t>
            </a:r>
          </a:p>
          <a:p>
            <a:pPr marL="0" lvl="0" indent="0" algn="ctr">
              <a:lnSpc>
                <a:spcPts val="4165"/>
              </a:lnSpc>
              <a:spcBef>
                <a:spcPct val="0"/>
              </a:spcBef>
            </a:pPr>
            <a:r>
              <a:rPr lang="en-US" sz="3000" u="none" strike="noStrike" spc="-17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→ </a:t>
            </a:r>
            <a:r>
              <a:rPr lang="en-US" sz="3000" u="none" strike="noStrike" spc="-17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Riduzione</a:t>
            </a:r>
            <a:r>
              <a:rPr lang="en-US" sz="3000" u="none" strike="noStrike" spc="-17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000" u="none" strike="noStrike" spc="-17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diretta</a:t>
            </a:r>
            <a:r>
              <a:rPr lang="en-US" sz="3000" u="none" strike="noStrike" spc="-17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000" u="none" strike="noStrike" spc="-17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dei</a:t>
            </a:r>
            <a:r>
              <a:rPr lang="en-US" sz="3000" u="none" strike="noStrike" spc="-17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000" u="none" strike="noStrike" spc="-17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costi</a:t>
            </a:r>
            <a:r>
              <a:rPr lang="en-US" sz="3000" u="none" strike="noStrike" spc="-17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EPC e </a:t>
            </a:r>
            <a:r>
              <a:rPr lang="en-US" sz="3000" u="none" strike="noStrike" spc="-17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dei</a:t>
            </a:r>
            <a:r>
              <a:rPr lang="en-US" sz="3000" u="none" strike="noStrike" spc="-17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tempi di </a:t>
            </a:r>
            <a:r>
              <a:rPr lang="en-US" sz="3000" u="none" strike="noStrike" spc="-17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montaggio</a:t>
            </a:r>
            <a:r>
              <a:rPr lang="en-US" sz="3000" u="none" strike="noStrike" spc="-17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.</a:t>
            </a:r>
            <a:endParaRPr lang="en-US" sz="3500" b="1" u="none" strike="noStrike" spc="-17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691826" y="9473"/>
            <a:ext cx="3493653" cy="1019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7"/>
              </a:lnSpc>
              <a:spcBef>
                <a:spcPct val="0"/>
              </a:spcBef>
            </a:pPr>
            <a:r>
              <a:rPr lang="en-US" sz="5997" b="1" spc="-29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CUSTOM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10450" y="840729"/>
            <a:ext cx="12435067" cy="1111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7"/>
              </a:lnSpc>
              <a:spcBef>
                <a:spcPct val="0"/>
              </a:spcBef>
            </a:pPr>
            <a:r>
              <a:rPr lang="en-US" sz="6497" b="1" spc="-318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industriale, non artigianale</a:t>
            </a:r>
          </a:p>
        </p:txBody>
      </p:sp>
      <p:sp>
        <p:nvSpPr>
          <p:cNvPr id="12" name="Freeform 12"/>
          <p:cNvSpPr/>
          <p:nvPr/>
        </p:nvSpPr>
        <p:spPr>
          <a:xfrm>
            <a:off x="15765540" y="294725"/>
            <a:ext cx="2080170" cy="1739830"/>
          </a:xfrm>
          <a:custGeom>
            <a:avLst/>
            <a:gdLst/>
            <a:ahLst/>
            <a:cxnLst/>
            <a:rect l="l" t="t" r="r" b="b"/>
            <a:pathLst>
              <a:path w="2080170" h="1739830">
                <a:moveTo>
                  <a:pt x="0" y="0"/>
                </a:moveTo>
                <a:lnTo>
                  <a:pt x="2080169" y="0"/>
                </a:lnTo>
                <a:lnTo>
                  <a:pt x="2080169" y="1739830"/>
                </a:lnTo>
                <a:lnTo>
                  <a:pt x="0" y="17398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3" name="Freeform 13"/>
          <p:cNvSpPr/>
          <p:nvPr/>
        </p:nvSpPr>
        <p:spPr>
          <a:xfrm>
            <a:off x="612089" y="8596796"/>
            <a:ext cx="4983083" cy="1370348"/>
          </a:xfrm>
          <a:custGeom>
            <a:avLst/>
            <a:gdLst/>
            <a:ahLst/>
            <a:cxnLst/>
            <a:rect l="l" t="t" r="r" b="b"/>
            <a:pathLst>
              <a:path w="4983083" h="1370348">
                <a:moveTo>
                  <a:pt x="0" y="0"/>
                </a:moveTo>
                <a:lnTo>
                  <a:pt x="4983083" y="0"/>
                </a:lnTo>
                <a:lnTo>
                  <a:pt x="4983083" y="1370348"/>
                </a:lnTo>
                <a:lnTo>
                  <a:pt x="0" y="13703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4" name="Freeform 14"/>
          <p:cNvSpPr/>
          <p:nvPr/>
        </p:nvSpPr>
        <p:spPr>
          <a:xfrm>
            <a:off x="13071088" y="3755803"/>
            <a:ext cx="3835698" cy="1217128"/>
          </a:xfrm>
          <a:custGeom>
            <a:avLst/>
            <a:gdLst/>
            <a:ahLst/>
            <a:cxnLst/>
            <a:rect l="l" t="t" r="r" b="b"/>
            <a:pathLst>
              <a:path w="10844477" h="4080234">
                <a:moveTo>
                  <a:pt x="0" y="0"/>
                </a:moveTo>
                <a:lnTo>
                  <a:pt x="10844476" y="0"/>
                </a:lnTo>
                <a:lnTo>
                  <a:pt x="10844476" y="4080235"/>
                </a:lnTo>
                <a:lnTo>
                  <a:pt x="0" y="40802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CC11AA12-F206-76E8-EFB4-8A3522E163A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1697"/>
          <a:stretch>
            <a:fillRect/>
          </a:stretch>
        </p:blipFill>
        <p:spPr>
          <a:xfrm>
            <a:off x="5596512" y="3910468"/>
            <a:ext cx="6623405" cy="4114300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15451D36-447C-421C-D306-3161CE777E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2282" y="4675735"/>
            <a:ext cx="5152885" cy="25837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C2C2C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2089" y="8596796"/>
            <a:ext cx="4983083" cy="1370348"/>
          </a:xfrm>
          <a:custGeom>
            <a:avLst/>
            <a:gdLst/>
            <a:ahLst/>
            <a:cxnLst/>
            <a:rect l="l" t="t" r="r" b="b"/>
            <a:pathLst>
              <a:path w="4983083" h="1370348">
                <a:moveTo>
                  <a:pt x="0" y="0"/>
                </a:moveTo>
                <a:lnTo>
                  <a:pt x="4983083" y="0"/>
                </a:lnTo>
                <a:lnTo>
                  <a:pt x="4983083" y="1370348"/>
                </a:lnTo>
                <a:lnTo>
                  <a:pt x="0" y="13703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5765540" y="294725"/>
            <a:ext cx="2080170" cy="1739830"/>
          </a:xfrm>
          <a:custGeom>
            <a:avLst/>
            <a:gdLst/>
            <a:ahLst/>
            <a:cxnLst/>
            <a:rect l="l" t="t" r="r" b="b"/>
            <a:pathLst>
              <a:path w="2080170" h="1739830">
                <a:moveTo>
                  <a:pt x="0" y="0"/>
                </a:moveTo>
                <a:lnTo>
                  <a:pt x="2080169" y="0"/>
                </a:lnTo>
                <a:lnTo>
                  <a:pt x="2080169" y="1739830"/>
                </a:lnTo>
                <a:lnTo>
                  <a:pt x="0" y="17398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12089" y="170900"/>
            <a:ext cx="5360266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8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-294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uce Bold"/>
                <a:ea typeface="Open Sauce Bold"/>
                <a:cs typeface="Open Sauce Bold"/>
                <a:sym typeface="Open Sauce Bold"/>
              </a:rPr>
              <a:t>LAYOUT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12088" y="1054767"/>
            <a:ext cx="7693711" cy="9848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8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0" b="1" spc="-294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{{nome_impianto}}</a:t>
            </a:r>
            <a:endParaRPr kumimoji="0" lang="en-US" sz="6000" b="1" i="0" u="none" strike="noStrike" kern="1200" cap="none" spc="-294" normalizeH="0" baseline="0" noProof="0" dirty="0">
              <a:ln>
                <a:noFill/>
              </a:ln>
              <a:solidFill>
                <a:srgbClr val="79E920"/>
              </a:solidFill>
              <a:effectLst/>
              <a:uLnTx/>
              <a:uFillTx/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57200" y="2920071"/>
            <a:ext cx="7239000" cy="25232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0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87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{{#strutture}}N.</a:t>
            </a:r>
            <a:r>
              <a:rPr lang="en-US" sz="3587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{{quantita}}</a:t>
            </a:r>
            <a:r>
              <a:rPr kumimoji="0" lang="en-US" sz="3587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587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SOLAR MAX</a:t>
            </a:r>
            <a:r>
              <a:rPr kumimoji="0" lang="en-US" sz="3587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.{{moduli}} MODULI{{/strutture}}</a:t>
            </a:r>
          </a:p>
          <a:p>
            <a:pPr marL="0" marR="0" lvl="0" indent="0" algn="l" defTabSz="914400" rtl="0" eaLnBrk="1" fontAlgn="auto" latinLnBrk="0" hangingPunct="1">
              <a:lnSpc>
                <a:spcPts val="50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587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va Sans"/>
              <a:ea typeface="Canva Sans"/>
              <a:cs typeface="Canva Sans"/>
              <a:sym typeface="Canva Sans"/>
            </a:endParaRPr>
          </a:p>
          <a:p>
            <a:pPr marL="0" marR="0" lvl="0" indent="0" algn="l" defTabSz="914400" rtl="0" eaLnBrk="1" fontAlgn="auto" latinLnBrk="0" hangingPunct="1">
              <a:lnSpc>
                <a:spcPts val="50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87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Pannelli</a:t>
            </a:r>
            <a:r>
              <a:rPr kumimoji="0" lang="en-US" sz="3587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da </a:t>
            </a:r>
            <a:r>
              <a:rPr lang="en-US" sz="3587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{{potenza_modulo_w}}</a:t>
            </a:r>
            <a:r>
              <a:rPr kumimoji="0" lang="en-US" sz="3587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W Potenza </a:t>
            </a:r>
            <a:r>
              <a:rPr kumimoji="0" lang="en-US" sz="3587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totale</a:t>
            </a:r>
            <a:r>
              <a:rPr kumimoji="0" lang="en-US" sz="3587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b="1" spc="-176" dirty="0">
                <a:solidFill>
                  <a:srgbClr val="79E920"/>
                </a:solidFill>
                <a:latin typeface="Open Sauce Bold"/>
                <a:ea typeface="Canva Sans"/>
                <a:cs typeface="Canva Sans"/>
                <a:sym typeface="Open Sauce Bold"/>
              </a:rPr>
              <a:t>{{potenza_kwp}}</a:t>
            </a:r>
            <a:r>
              <a:rPr kumimoji="0" lang="en-US" sz="3200" b="1" i="0" u="none" strike="noStrike" kern="1200" cap="none" spc="-176" normalizeH="0" baseline="0" noProof="0" dirty="0">
                <a:ln>
                  <a:noFill/>
                </a:ln>
                <a:solidFill>
                  <a:srgbClr val="79E920"/>
                </a:solidFill>
                <a:effectLst/>
                <a:uLnTx/>
                <a:uFillTx/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kumimoji="0" lang="en-US" sz="3587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kWp.</a:t>
            </a:r>
          </a:p>
        </p:txBody>
      </p:sp>
      <p:pic>
        <p:nvPicPr>
          <p:cNvPr id="9" name="IMG_LAYOUT">
            <a:extLst>
              <a:ext uri="{FF2B5EF4-FFF2-40B4-BE49-F238E27FC236}">
                <a16:creationId xmlns:a16="http://schemas.microsoft.com/office/drawing/2014/main" id="{EF578305-2031-C780-FC29-ADE2BCA251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074" t="8634" r="2125" b="4061"/>
          <a:stretch>
            <a:fillRect/>
          </a:stretch>
        </p:blipFill>
        <p:spPr>
          <a:xfrm>
            <a:off x="8915399" y="442909"/>
            <a:ext cx="6240541" cy="4548191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BCAAFAB4-AAAD-7AFA-8E3D-A888593E7B0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744" t="3154" r="2139" b="3596"/>
          <a:stretch>
            <a:fillRect/>
          </a:stretch>
        </p:blipFill>
        <p:spPr>
          <a:xfrm>
            <a:off x="8915400" y="5600700"/>
            <a:ext cx="7924800" cy="4038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C2C2C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871824" y="5188953"/>
            <a:ext cx="1833074" cy="183307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9E92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857696" y="5070149"/>
            <a:ext cx="1833074" cy="183307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9E92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532358" y="5070149"/>
            <a:ext cx="1833074" cy="183307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9E92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5400000" flipH="1" flipV="1">
            <a:off x="-527525" y="706807"/>
            <a:ext cx="1309712" cy="1727438"/>
          </a:xfrm>
          <a:custGeom>
            <a:avLst/>
            <a:gdLst/>
            <a:ahLst/>
            <a:cxnLst/>
            <a:rect l="l" t="t" r="r" b="b"/>
            <a:pathLst>
              <a:path w="1309712" h="1727438">
                <a:moveTo>
                  <a:pt x="1309711" y="1727437"/>
                </a:moveTo>
                <a:lnTo>
                  <a:pt x="0" y="1727437"/>
                </a:lnTo>
                <a:lnTo>
                  <a:pt x="0" y="0"/>
                </a:lnTo>
                <a:lnTo>
                  <a:pt x="1309711" y="0"/>
                </a:lnTo>
                <a:lnTo>
                  <a:pt x="1309711" y="172743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2" name="Freeform 12"/>
          <p:cNvSpPr/>
          <p:nvPr/>
        </p:nvSpPr>
        <p:spPr>
          <a:xfrm>
            <a:off x="9191563" y="5480115"/>
            <a:ext cx="1193596" cy="1176097"/>
          </a:xfrm>
          <a:custGeom>
            <a:avLst/>
            <a:gdLst/>
            <a:ahLst/>
            <a:cxnLst/>
            <a:rect l="l" t="t" r="r" b="b"/>
            <a:pathLst>
              <a:path w="1193596" h="1176097">
                <a:moveTo>
                  <a:pt x="0" y="0"/>
                </a:moveTo>
                <a:lnTo>
                  <a:pt x="1193596" y="0"/>
                </a:lnTo>
                <a:lnTo>
                  <a:pt x="1193596" y="1176097"/>
                </a:lnTo>
                <a:lnTo>
                  <a:pt x="0" y="11760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3" name="Freeform 13"/>
          <p:cNvSpPr/>
          <p:nvPr/>
        </p:nvSpPr>
        <p:spPr>
          <a:xfrm>
            <a:off x="12291070" y="5361311"/>
            <a:ext cx="966326" cy="1213423"/>
          </a:xfrm>
          <a:custGeom>
            <a:avLst/>
            <a:gdLst/>
            <a:ahLst/>
            <a:cxnLst/>
            <a:rect l="l" t="t" r="r" b="b"/>
            <a:pathLst>
              <a:path w="966326" h="1213423">
                <a:moveTo>
                  <a:pt x="0" y="0"/>
                </a:moveTo>
                <a:lnTo>
                  <a:pt x="966326" y="0"/>
                </a:lnTo>
                <a:lnTo>
                  <a:pt x="966326" y="1213423"/>
                </a:lnTo>
                <a:lnTo>
                  <a:pt x="0" y="12134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4" name="Freeform 14"/>
          <p:cNvSpPr/>
          <p:nvPr/>
        </p:nvSpPr>
        <p:spPr>
          <a:xfrm>
            <a:off x="15765540" y="294725"/>
            <a:ext cx="2080170" cy="1739830"/>
          </a:xfrm>
          <a:custGeom>
            <a:avLst/>
            <a:gdLst/>
            <a:ahLst/>
            <a:cxnLst/>
            <a:rect l="l" t="t" r="r" b="b"/>
            <a:pathLst>
              <a:path w="2080170" h="1739830">
                <a:moveTo>
                  <a:pt x="0" y="0"/>
                </a:moveTo>
                <a:lnTo>
                  <a:pt x="2080169" y="0"/>
                </a:lnTo>
                <a:lnTo>
                  <a:pt x="2080169" y="1739830"/>
                </a:lnTo>
                <a:lnTo>
                  <a:pt x="0" y="17398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5" name="Freeform 15"/>
          <p:cNvSpPr/>
          <p:nvPr/>
        </p:nvSpPr>
        <p:spPr>
          <a:xfrm>
            <a:off x="612089" y="8596796"/>
            <a:ext cx="4983083" cy="1370348"/>
          </a:xfrm>
          <a:custGeom>
            <a:avLst/>
            <a:gdLst/>
            <a:ahLst/>
            <a:cxnLst/>
            <a:rect l="l" t="t" r="r" b="b"/>
            <a:pathLst>
              <a:path w="4983083" h="1370348">
                <a:moveTo>
                  <a:pt x="0" y="0"/>
                </a:moveTo>
                <a:lnTo>
                  <a:pt x="4983083" y="0"/>
                </a:lnTo>
                <a:lnTo>
                  <a:pt x="4983083" y="1370348"/>
                </a:lnTo>
                <a:lnTo>
                  <a:pt x="0" y="13703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6" name="Freeform 16"/>
          <p:cNvSpPr/>
          <p:nvPr/>
        </p:nvSpPr>
        <p:spPr>
          <a:xfrm>
            <a:off x="14793371" y="5361311"/>
            <a:ext cx="1311047" cy="1311047"/>
          </a:xfrm>
          <a:custGeom>
            <a:avLst/>
            <a:gdLst/>
            <a:ahLst/>
            <a:cxnLst/>
            <a:rect l="l" t="t" r="r" b="b"/>
            <a:pathLst>
              <a:path w="1311047" h="1311047">
                <a:moveTo>
                  <a:pt x="0" y="0"/>
                </a:moveTo>
                <a:lnTo>
                  <a:pt x="1311048" y="0"/>
                </a:lnTo>
                <a:lnTo>
                  <a:pt x="1311048" y="1311047"/>
                </a:lnTo>
                <a:lnTo>
                  <a:pt x="0" y="13110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7" name="TextBox 17"/>
          <p:cNvSpPr txBox="1"/>
          <p:nvPr/>
        </p:nvSpPr>
        <p:spPr>
          <a:xfrm>
            <a:off x="8629028" y="7624732"/>
            <a:ext cx="2557237" cy="373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7"/>
              </a:lnSpc>
              <a:spcBef>
                <a:spcPct val="0"/>
              </a:spcBef>
            </a:pPr>
            <a:r>
              <a:rPr lang="en-US" sz="2226" b="1" spc="-10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Tracciabilità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91049" y="2296034"/>
            <a:ext cx="12047523" cy="2956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13"/>
              </a:lnSpc>
            </a:pPr>
            <a:r>
              <a:rPr lang="en-US" sz="370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Strutture pensate per crescere nel tempo:</a:t>
            </a:r>
          </a:p>
          <a:p>
            <a:pPr marL="799456" lvl="1" indent="-399728" algn="just">
              <a:lnSpc>
                <a:spcPts val="4813"/>
              </a:lnSpc>
              <a:buFont typeface="Arial"/>
              <a:buChar char="•"/>
            </a:pPr>
            <a:r>
              <a:rPr lang="en-US" sz="370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ampliamenti successivi </a:t>
            </a:r>
          </a:p>
          <a:p>
            <a:pPr marL="799456" lvl="1" indent="-399728" algn="just">
              <a:lnSpc>
                <a:spcPts val="4813"/>
              </a:lnSpc>
              <a:buFont typeface="Arial"/>
              <a:buChar char="•"/>
            </a:pPr>
            <a:r>
              <a:rPr lang="en-US" sz="370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sviluppo per fasi </a:t>
            </a:r>
          </a:p>
          <a:p>
            <a:pPr marL="799456" lvl="1" indent="-399728" algn="just">
              <a:lnSpc>
                <a:spcPts val="4813"/>
              </a:lnSpc>
              <a:buFont typeface="Arial"/>
              <a:buChar char="•"/>
            </a:pPr>
            <a:r>
              <a:rPr lang="en-US" sz="370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modularità reale sul campo </a:t>
            </a:r>
          </a:p>
          <a:p>
            <a:pPr algn="just">
              <a:lnSpc>
                <a:spcPts val="4163"/>
              </a:lnSpc>
            </a:pPr>
            <a:endParaRPr lang="en-US" sz="3702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1611775" y="7477650"/>
            <a:ext cx="2557237" cy="76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7"/>
              </a:lnSpc>
              <a:spcBef>
                <a:spcPct val="0"/>
              </a:spcBef>
            </a:pPr>
            <a:r>
              <a:rPr lang="en-US" sz="2226" b="1" spc="-10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Configurazione struttura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764680" y="7477650"/>
            <a:ext cx="1600752" cy="76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7"/>
              </a:lnSpc>
              <a:spcBef>
                <a:spcPct val="0"/>
              </a:spcBef>
            </a:pPr>
            <a:r>
              <a:rPr lang="en-US" sz="2226" b="1" spc="-10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Produzione interna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-417659" y="116428"/>
            <a:ext cx="5731075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400"/>
              </a:lnSpc>
              <a:spcBef>
                <a:spcPct val="0"/>
              </a:spcBef>
            </a:pPr>
            <a:r>
              <a:rPr lang="en-US" sz="6000" b="1" spc="-29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QUALI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229299" y="782319"/>
            <a:ext cx="3605529" cy="111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  <a:spcBef>
                <a:spcPct val="0"/>
              </a:spcBef>
            </a:pPr>
            <a:r>
              <a:rPr lang="en-US" sz="6499" b="1" spc="-318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Benefici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70642" y="8549171"/>
            <a:ext cx="11256408" cy="1353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Non vendiamo semplici strutture fotovoltaiche.</a:t>
            </a:r>
          </a:p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Forniamo un sistema industriale completo che riduce tempi di cantiere, rischio di progetto e complessità EPC.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C2C2C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29959" y="248628"/>
            <a:ext cx="8263664" cy="8248639"/>
          </a:xfrm>
          <a:custGeom>
            <a:avLst/>
            <a:gdLst/>
            <a:ahLst/>
            <a:cxnLst/>
            <a:rect l="l" t="t" r="r" b="b"/>
            <a:pathLst>
              <a:path w="8263664" h="8248639">
                <a:moveTo>
                  <a:pt x="0" y="0"/>
                </a:moveTo>
                <a:lnTo>
                  <a:pt x="8263664" y="0"/>
                </a:lnTo>
                <a:lnTo>
                  <a:pt x="8263664" y="8248639"/>
                </a:lnTo>
                <a:lnTo>
                  <a:pt x="0" y="82486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5" name="Freeform 15"/>
          <p:cNvSpPr/>
          <p:nvPr/>
        </p:nvSpPr>
        <p:spPr>
          <a:xfrm>
            <a:off x="10753352" y="320566"/>
            <a:ext cx="4758522" cy="1308594"/>
          </a:xfrm>
          <a:custGeom>
            <a:avLst/>
            <a:gdLst/>
            <a:ahLst/>
            <a:cxnLst/>
            <a:rect l="l" t="t" r="r" b="b"/>
            <a:pathLst>
              <a:path w="4758522" h="1308594">
                <a:moveTo>
                  <a:pt x="0" y="0"/>
                </a:moveTo>
                <a:lnTo>
                  <a:pt x="4758523" y="0"/>
                </a:lnTo>
                <a:lnTo>
                  <a:pt x="4758523" y="1308593"/>
                </a:lnTo>
                <a:lnTo>
                  <a:pt x="0" y="13085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6" name="Freeform 16"/>
          <p:cNvSpPr/>
          <p:nvPr/>
        </p:nvSpPr>
        <p:spPr>
          <a:xfrm>
            <a:off x="16152395" y="294725"/>
            <a:ext cx="1693314" cy="1416268"/>
          </a:xfrm>
          <a:custGeom>
            <a:avLst/>
            <a:gdLst/>
            <a:ahLst/>
            <a:cxnLst/>
            <a:rect l="l" t="t" r="r" b="b"/>
            <a:pathLst>
              <a:path w="1693314" h="1416268">
                <a:moveTo>
                  <a:pt x="0" y="0"/>
                </a:moveTo>
                <a:lnTo>
                  <a:pt x="1693314" y="0"/>
                </a:lnTo>
                <a:lnTo>
                  <a:pt x="1693314" y="1416268"/>
                </a:lnTo>
                <a:lnTo>
                  <a:pt x="0" y="14162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7" name="TextBox 17"/>
          <p:cNvSpPr txBox="1"/>
          <p:nvPr/>
        </p:nvSpPr>
        <p:spPr>
          <a:xfrm>
            <a:off x="513621" y="2040015"/>
            <a:ext cx="8630379" cy="6424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dirty="0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La </a:t>
            </a:r>
            <a:r>
              <a:rPr lang="en-US" sz="2799" dirty="0" err="1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struttura</a:t>
            </a:r>
            <a:r>
              <a:rPr lang="en-US" sz="2799" dirty="0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 è </a:t>
            </a:r>
            <a:r>
              <a:rPr lang="en-US" sz="2799" dirty="0" err="1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realizzata</a:t>
            </a:r>
            <a:r>
              <a:rPr lang="en-US" sz="2799" dirty="0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99" dirty="0" err="1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mediante</a:t>
            </a:r>
            <a:r>
              <a:rPr lang="en-US" sz="2799" dirty="0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99" dirty="0" err="1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profilati</a:t>
            </a:r>
            <a:r>
              <a:rPr lang="en-US" sz="2799" dirty="0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 e </a:t>
            </a:r>
            <a:r>
              <a:rPr lang="en-US" sz="2799" dirty="0" err="1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lamiere</a:t>
            </a:r>
            <a:r>
              <a:rPr lang="en-US" sz="2799" dirty="0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99" dirty="0" err="1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piegate</a:t>
            </a:r>
            <a:r>
              <a:rPr lang="en-US" sz="2799" dirty="0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 ad </a:t>
            </a:r>
            <a:r>
              <a:rPr lang="en-US" sz="2799" dirty="0" err="1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alta</a:t>
            </a:r>
            <a:r>
              <a:rPr lang="en-US" sz="2799" dirty="0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99" dirty="0" err="1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efficienza</a:t>
            </a:r>
            <a:r>
              <a:rPr lang="en-US" sz="2799" dirty="0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99" dirty="0" err="1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strutturale</a:t>
            </a:r>
            <a:r>
              <a:rPr lang="en-US" sz="2799" dirty="0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99" dirty="0" err="1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che</a:t>
            </a:r>
            <a:r>
              <a:rPr lang="en-US" sz="2799" dirty="0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99" dirty="0" err="1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consentono</a:t>
            </a:r>
            <a:r>
              <a:rPr lang="en-US" sz="2799" dirty="0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 di </a:t>
            </a:r>
            <a:r>
              <a:rPr lang="en-US" sz="2799" dirty="0" err="1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ottenere</a:t>
            </a:r>
            <a:r>
              <a:rPr lang="en-US" sz="2799" dirty="0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99" dirty="0" err="1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elevata</a:t>
            </a:r>
            <a:r>
              <a:rPr lang="en-US" sz="2799" dirty="0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99" dirty="0" err="1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resistenza</a:t>
            </a:r>
            <a:r>
              <a:rPr lang="en-US" sz="2799" dirty="0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. 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 dirty="0">
              <a:solidFill>
                <a:srgbClr val="79E921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 u="sng" dirty="0">
                <a:solidFill>
                  <a:srgbClr val="79E92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STRUTTURA VERIFICATA PER CARICO NEVE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 u="sng" dirty="0">
                <a:solidFill>
                  <a:srgbClr val="79E92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{{verifica_carichi}}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 b="1" u="sng" dirty="0">
              <a:solidFill>
                <a:srgbClr val="79E921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dirty="0" err="1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Vantaggio</a:t>
            </a:r>
            <a:r>
              <a:rPr lang="en-US" sz="2799" dirty="0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 per il </a:t>
            </a:r>
            <a:r>
              <a:rPr lang="en-US" sz="2799" dirty="0" err="1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cliente</a:t>
            </a:r>
            <a:endParaRPr lang="en-US" sz="2799" dirty="0">
              <a:solidFill>
                <a:srgbClr val="79E921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04515" lvl="1" indent="-302257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dirty="0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Minori </a:t>
            </a:r>
            <a:r>
              <a:rPr lang="en-US" sz="2799" dirty="0" err="1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costi</a:t>
            </a:r>
            <a:r>
              <a:rPr lang="en-US" sz="2799" dirty="0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 di </a:t>
            </a:r>
            <a:r>
              <a:rPr lang="en-US" sz="2799" dirty="0" err="1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trasporto</a:t>
            </a:r>
            <a:r>
              <a:rPr lang="en-US" sz="2799" dirty="0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marL="604515" lvl="1" indent="-302257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dirty="0" err="1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Facilità</a:t>
            </a:r>
            <a:r>
              <a:rPr lang="en-US" sz="2799" dirty="0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 di </a:t>
            </a:r>
            <a:r>
              <a:rPr lang="en-US" sz="2799" dirty="0" err="1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movimentazione</a:t>
            </a:r>
            <a:r>
              <a:rPr lang="en-US" sz="2799" dirty="0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 in </a:t>
            </a:r>
            <a:r>
              <a:rPr lang="en-US" sz="2799" dirty="0" err="1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cantiere</a:t>
            </a:r>
            <a:r>
              <a:rPr lang="en-US" sz="2799" dirty="0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marL="604515" lvl="1" indent="-302257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dirty="0" err="1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Riduzione</a:t>
            </a:r>
            <a:r>
              <a:rPr lang="en-US" sz="2799" dirty="0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99" dirty="0" err="1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dei</a:t>
            </a:r>
            <a:r>
              <a:rPr lang="en-US" sz="2799" dirty="0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 tempi di </a:t>
            </a:r>
            <a:r>
              <a:rPr lang="en-US" sz="2799" dirty="0" err="1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installazione</a:t>
            </a:r>
            <a:r>
              <a:rPr lang="en-US" sz="2799" dirty="0">
                <a:solidFill>
                  <a:srgbClr val="79E921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 dirty="0">
              <a:solidFill>
                <a:srgbClr val="79E921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 dirty="0">
              <a:solidFill>
                <a:srgbClr val="79E921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813649" y="4120"/>
            <a:ext cx="5279145" cy="1024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397"/>
              </a:lnSpc>
              <a:spcBef>
                <a:spcPct val="0"/>
              </a:spcBef>
            </a:pPr>
            <a:r>
              <a:rPr lang="en-US" sz="5997" b="1" spc="-29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TOTALE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92105" y="914400"/>
            <a:ext cx="9776853" cy="9847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397"/>
              </a:lnSpc>
              <a:spcBef>
                <a:spcPct val="0"/>
              </a:spcBef>
            </a:pPr>
            <a:r>
              <a:rPr lang="en-US" sz="5997" b="1" spc="-293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Impianto {{potenza_kwp}} kWp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8708" y="7650851"/>
            <a:ext cx="17125670" cy="19925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3"/>
              </a:lnSpc>
            </a:pPr>
            <a:r>
              <a:rPr lang="en-US" sz="4000" b="1" dirty="0">
                <a:solidFill>
                  <a:srgbClr val="79E9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 {{materiale_struttura}}</a:t>
            </a:r>
          </a:p>
          <a:p>
            <a:pPr algn="l">
              <a:lnSpc>
                <a:spcPts val="4793"/>
              </a:lnSpc>
            </a:pPr>
            <a:r>
              <a:rPr lang="en-US" sz="4000" b="1" dirty="0">
                <a:solidFill>
                  <a:srgbClr val="79E9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 {{materiale_pali}}</a:t>
            </a:r>
          </a:p>
          <a:p>
            <a:pPr algn="r">
              <a:lnSpc>
                <a:spcPts val="6250"/>
              </a:lnSpc>
            </a:pPr>
            <a:r>
              <a:rPr lang="en-US" sz="4699" b="1" u="sng" dirty="0">
                <a:solidFill>
                  <a:schemeClr val="bg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TOT PESO {{peso_struttura_ton}} TON </a:t>
            </a:r>
          </a:p>
        </p:txBody>
      </p:sp>
      <p:sp>
        <p:nvSpPr>
          <p:cNvPr id="201" name="Passo riga 201" descr="{{#taglie}}"/>
          <p:cNvSpPr txBox="1"/>
          <p:nvPr/>
        </p:nvSpPr>
        <p:spPr>
          <a:xfrm>
            <a:off x="10241280" y="2331720"/>
            <a:ext cx="7680960" cy="160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it-IT"/>
          </a:p>
        </p:txBody>
      </p:sp>
      <p:sp>
        <p:nvSpPr>
          <p:cNvPr id="202" name="Potenza 202" descr="{{#taglie}}"/>
          <p:cNvSpPr/>
          <p:nvPr/>
        </p:nvSpPr>
        <p:spPr>
          <a:xfrm>
            <a:off x="13167360" y="2331720"/>
            <a:ext cx="4754880" cy="1280160"/>
          </a:xfrm>
          <a:prstGeom prst="roundRect">
            <a:avLst>
              <a:gd name="adj" fmla="val 50000"/>
            </a:avLst>
          </a:prstGeom>
          <a:solidFill>
            <a:srgbClr val="305810"/>
          </a:solidFill>
          <a:ln>
            <a:noFill/>
          </a:ln>
        </p:spPr>
        <p:txBody>
          <a:bodyPr wrap="square" lIns="1371600" tIns="91440" rIns="182880" bIns="9144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it-IT" sz="2400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{{potenza_riga}} kWp</a:t>
            </a:r>
          </a:p>
        </p:txBody>
      </p:sp>
      <p:sp>
        <p:nvSpPr>
          <p:cNvPr id="203" name="Taglia 203" descr="{{#taglie}}"/>
          <p:cNvSpPr/>
          <p:nvPr/>
        </p:nvSpPr>
        <p:spPr>
          <a:xfrm>
            <a:off x="10241280" y="2331720"/>
            <a:ext cx="4206240" cy="1280160"/>
          </a:xfrm>
          <a:prstGeom prst="roundRect">
            <a:avLst>
              <a:gd name="adj" fmla="val 50000"/>
            </a:avLst>
          </a:prstGeom>
          <a:solidFill>
            <a:srgbClr val="79E920"/>
          </a:solidFill>
          <a:ln>
            <a:noFill/>
          </a:ln>
        </p:spPr>
        <p:txBody>
          <a:bodyPr wrap="square" lIns="228600" tIns="114300" rIns="228600" bIns="11430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it-IT" sz="22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N.{{quantita}} STRUTTUR{{finale}} DA {{moduli}} MODULI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C2C2C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V="1">
            <a:off x="-1402481" y="-2172510"/>
            <a:ext cx="2709713" cy="4345021"/>
          </a:xfrm>
          <a:custGeom>
            <a:avLst/>
            <a:gdLst/>
            <a:ahLst/>
            <a:cxnLst/>
            <a:rect l="l" t="t" r="r" b="b"/>
            <a:pathLst>
              <a:path w="2709713" h="4345021">
                <a:moveTo>
                  <a:pt x="0" y="4345020"/>
                </a:moveTo>
                <a:lnTo>
                  <a:pt x="2709712" y="4345020"/>
                </a:lnTo>
                <a:lnTo>
                  <a:pt x="2709712" y="0"/>
                </a:lnTo>
                <a:lnTo>
                  <a:pt x="0" y="0"/>
                </a:lnTo>
                <a:lnTo>
                  <a:pt x="0" y="434502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 rot="5400000">
            <a:off x="16502346" y="8862019"/>
            <a:ext cx="988790" cy="1304159"/>
          </a:xfrm>
          <a:custGeom>
            <a:avLst/>
            <a:gdLst/>
            <a:ahLst/>
            <a:cxnLst/>
            <a:rect l="l" t="t" r="r" b="b"/>
            <a:pathLst>
              <a:path w="988790" h="1304159">
                <a:moveTo>
                  <a:pt x="0" y="0"/>
                </a:moveTo>
                <a:lnTo>
                  <a:pt x="988790" y="0"/>
                </a:lnTo>
                <a:lnTo>
                  <a:pt x="988790" y="1304159"/>
                </a:lnTo>
                <a:lnTo>
                  <a:pt x="0" y="13041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>
            <a:off x="9144000" y="9254266"/>
            <a:ext cx="1121840" cy="422199"/>
          </a:xfrm>
          <a:custGeom>
            <a:avLst/>
            <a:gdLst/>
            <a:ahLst/>
            <a:cxnLst/>
            <a:rect l="l" t="t" r="r" b="b"/>
            <a:pathLst>
              <a:path w="1121840" h="422199">
                <a:moveTo>
                  <a:pt x="0" y="0"/>
                </a:moveTo>
                <a:lnTo>
                  <a:pt x="1121840" y="0"/>
                </a:lnTo>
                <a:lnTo>
                  <a:pt x="1121840" y="422199"/>
                </a:lnTo>
                <a:lnTo>
                  <a:pt x="0" y="4221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60269" r="-7196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9" name="Freeform 9"/>
          <p:cNvSpPr/>
          <p:nvPr/>
        </p:nvSpPr>
        <p:spPr>
          <a:xfrm>
            <a:off x="15765540" y="294725"/>
            <a:ext cx="2080170" cy="1739830"/>
          </a:xfrm>
          <a:custGeom>
            <a:avLst/>
            <a:gdLst/>
            <a:ahLst/>
            <a:cxnLst/>
            <a:rect l="l" t="t" r="r" b="b"/>
            <a:pathLst>
              <a:path w="2080170" h="1739830">
                <a:moveTo>
                  <a:pt x="0" y="0"/>
                </a:moveTo>
                <a:lnTo>
                  <a:pt x="2080169" y="0"/>
                </a:lnTo>
                <a:lnTo>
                  <a:pt x="2080169" y="1739830"/>
                </a:lnTo>
                <a:lnTo>
                  <a:pt x="0" y="17398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0" name="Freeform 10"/>
          <p:cNvSpPr/>
          <p:nvPr/>
        </p:nvSpPr>
        <p:spPr>
          <a:xfrm>
            <a:off x="612089" y="8596796"/>
            <a:ext cx="4983083" cy="1370348"/>
          </a:xfrm>
          <a:custGeom>
            <a:avLst/>
            <a:gdLst/>
            <a:ahLst/>
            <a:cxnLst/>
            <a:rect l="l" t="t" r="r" b="b"/>
            <a:pathLst>
              <a:path w="4983083" h="1370348">
                <a:moveTo>
                  <a:pt x="0" y="0"/>
                </a:moveTo>
                <a:lnTo>
                  <a:pt x="4983083" y="0"/>
                </a:lnTo>
                <a:lnTo>
                  <a:pt x="4983083" y="1370348"/>
                </a:lnTo>
                <a:lnTo>
                  <a:pt x="0" y="13703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01" name="Testo 101"/>
          <p:cNvSpPr txBox="1"/>
          <p:nvPr/>
        </p:nvSpPr>
        <p:spPr>
          <a:xfrm>
            <a:off x="1463040" y="502920"/>
            <a:ext cx="132588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it-IT" sz="6000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OFFERTA TECNICO ECONOMICA</a:t>
            </a:r>
          </a:p>
        </p:txBody>
      </p:sp>
      <p:sp>
        <p:nvSpPr>
          <p:cNvPr id="102" name="Testo 102"/>
          <p:cNvSpPr txBox="1"/>
          <p:nvPr/>
        </p:nvSpPr>
        <p:spPr>
          <a:xfrm>
            <a:off x="1463040" y="1691640"/>
            <a:ext cx="1399032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it-IT" sz="70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{{nome_impianto}}</a:t>
            </a:r>
          </a:p>
        </p:txBody>
      </p:sp>
      <p:sp>
        <p:nvSpPr>
          <p:cNvPr id="103" name="Testo 103"/>
          <p:cNvSpPr txBox="1"/>
          <p:nvPr/>
        </p:nvSpPr>
        <p:spPr>
          <a:xfrm>
            <a:off x="1463040" y="4160520"/>
            <a:ext cx="139903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it-IT" sz="4000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{{potenza_kwp}} kWp · pannelli da {{potenza_modulo_w}} W</a:t>
            </a:r>
          </a:p>
        </p:txBody>
      </p:sp>
      <p:sp>
        <p:nvSpPr>
          <p:cNvPr id="104" name="Testo 104"/>
          <p:cNvSpPr txBox="1"/>
          <p:nvPr/>
        </p:nvSpPr>
        <p:spPr>
          <a:xfrm>
            <a:off x="1463040" y="5029200"/>
            <a:ext cx="139903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it-IT" sz="3200" b="1" dirty="0">
                <a:solidFill>
                  <a:srgbClr val="79E9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Strutture fotovoltaiche fisse SOLAR MAX</a:t>
            </a:r>
          </a:p>
        </p:txBody>
      </p:sp>
      <p:sp>
        <p:nvSpPr>
          <p:cNvPr id="105" name="Scheda 105"/>
          <p:cNvSpPr/>
          <p:nvPr/>
        </p:nvSpPr>
        <p:spPr>
          <a:xfrm>
            <a:off x="9509760" y="6172200"/>
            <a:ext cx="8138160" cy="224028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it-IT"/>
          </a:p>
        </p:txBody>
      </p:sp>
      <p:sp>
        <p:nvSpPr>
          <p:cNvPr id="106" name="Testo 106"/>
          <p:cNvSpPr txBox="1"/>
          <p:nvPr/>
        </p:nvSpPr>
        <p:spPr>
          <a:xfrm>
            <a:off x="9509760" y="6172200"/>
            <a:ext cx="8138160" cy="2240280"/>
          </a:xfrm>
          <a:prstGeom prst="rect">
            <a:avLst/>
          </a:prstGeom>
          <a:noFill/>
          <a:ln>
            <a:noFill/>
          </a:ln>
        </p:spPr>
        <p:txBody>
          <a:bodyPr wrap="square" lIns="411480" tIns="205740" rIns="411480" bIns="205740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it-IT" sz="26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Cliente </a:t>
            </a:r>
            <a:r>
              <a:rPr lang="it-IT" sz="26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{{cliente}}</a:t>
            </a:r>
          </a:p>
          <a:p>
            <a:pPr algn="l">
              <a:spcAft>
                <a:spcPts val="600"/>
              </a:spcAft>
            </a:pPr>
            <a:r>
              <a:rPr lang="it-IT" sz="26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Offerta n. </a:t>
            </a:r>
            <a:r>
              <a:rPr lang="it-IT" sz="26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{{numero_offerta}}</a:t>
            </a:r>
            <a:r>
              <a:rPr lang="it-IT" sz="26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  rev. </a:t>
            </a:r>
            <a:r>
              <a:rPr lang="it-IT" sz="26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{{revisione}}</a:t>
            </a:r>
          </a:p>
          <a:p>
            <a:pPr algn="l">
              <a:spcAft>
                <a:spcPts val="0"/>
              </a:spcAft>
            </a:pPr>
            <a:r>
              <a:rPr lang="it-IT" sz="26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Data </a:t>
            </a:r>
            <a:r>
              <a:rPr lang="it-IT" sz="26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{{data_offerta}}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C2C2C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V="1">
            <a:off x="-1402481" y="-2172510"/>
            <a:ext cx="2709713" cy="4345021"/>
          </a:xfrm>
          <a:custGeom>
            <a:avLst/>
            <a:gdLst/>
            <a:ahLst/>
            <a:cxnLst/>
            <a:rect l="l" t="t" r="r" b="b"/>
            <a:pathLst>
              <a:path w="2709713" h="4345021">
                <a:moveTo>
                  <a:pt x="0" y="4345020"/>
                </a:moveTo>
                <a:lnTo>
                  <a:pt x="2709712" y="4345020"/>
                </a:lnTo>
                <a:lnTo>
                  <a:pt x="2709712" y="0"/>
                </a:lnTo>
                <a:lnTo>
                  <a:pt x="0" y="0"/>
                </a:lnTo>
                <a:lnTo>
                  <a:pt x="0" y="434502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 rot="5400000">
            <a:off x="16502346" y="8862019"/>
            <a:ext cx="988790" cy="1304159"/>
          </a:xfrm>
          <a:custGeom>
            <a:avLst/>
            <a:gdLst/>
            <a:ahLst/>
            <a:cxnLst/>
            <a:rect l="l" t="t" r="r" b="b"/>
            <a:pathLst>
              <a:path w="988790" h="1304159">
                <a:moveTo>
                  <a:pt x="0" y="0"/>
                </a:moveTo>
                <a:lnTo>
                  <a:pt x="988790" y="0"/>
                </a:lnTo>
                <a:lnTo>
                  <a:pt x="988790" y="1304159"/>
                </a:lnTo>
                <a:lnTo>
                  <a:pt x="0" y="13041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>
            <a:off x="9144000" y="9254266"/>
            <a:ext cx="1121840" cy="422199"/>
          </a:xfrm>
          <a:custGeom>
            <a:avLst/>
            <a:gdLst/>
            <a:ahLst/>
            <a:cxnLst/>
            <a:rect l="l" t="t" r="r" b="b"/>
            <a:pathLst>
              <a:path w="1121840" h="422199">
                <a:moveTo>
                  <a:pt x="0" y="0"/>
                </a:moveTo>
                <a:lnTo>
                  <a:pt x="1121840" y="0"/>
                </a:lnTo>
                <a:lnTo>
                  <a:pt x="1121840" y="422199"/>
                </a:lnTo>
                <a:lnTo>
                  <a:pt x="0" y="4221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60269" r="-7196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9" name="Freeform 9"/>
          <p:cNvSpPr/>
          <p:nvPr/>
        </p:nvSpPr>
        <p:spPr>
          <a:xfrm>
            <a:off x="15765540" y="294725"/>
            <a:ext cx="2080170" cy="1739830"/>
          </a:xfrm>
          <a:custGeom>
            <a:avLst/>
            <a:gdLst/>
            <a:ahLst/>
            <a:cxnLst/>
            <a:rect l="l" t="t" r="r" b="b"/>
            <a:pathLst>
              <a:path w="2080170" h="1739830">
                <a:moveTo>
                  <a:pt x="0" y="0"/>
                </a:moveTo>
                <a:lnTo>
                  <a:pt x="2080169" y="0"/>
                </a:lnTo>
                <a:lnTo>
                  <a:pt x="2080169" y="1739830"/>
                </a:lnTo>
                <a:lnTo>
                  <a:pt x="0" y="17398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0" name="Freeform 10"/>
          <p:cNvSpPr/>
          <p:nvPr/>
        </p:nvSpPr>
        <p:spPr>
          <a:xfrm>
            <a:off x="612089" y="8596796"/>
            <a:ext cx="4983083" cy="1370348"/>
          </a:xfrm>
          <a:custGeom>
            <a:avLst/>
            <a:gdLst/>
            <a:ahLst/>
            <a:cxnLst/>
            <a:rect l="l" t="t" r="r" b="b"/>
            <a:pathLst>
              <a:path w="4983083" h="1370348">
                <a:moveTo>
                  <a:pt x="0" y="0"/>
                </a:moveTo>
                <a:lnTo>
                  <a:pt x="4983083" y="0"/>
                </a:lnTo>
                <a:lnTo>
                  <a:pt x="4983083" y="1370348"/>
                </a:lnTo>
                <a:lnTo>
                  <a:pt x="0" y="13703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01" name="Titolo 101"/>
          <p:cNvSpPr txBox="1"/>
          <p:nvPr/>
        </p:nvSpPr>
        <p:spPr>
          <a:xfrm>
            <a:off x="1463040" y="320040"/>
            <a:ext cx="123444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it-IT" sz="6000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INFORMAZIONI</a:t>
            </a:r>
          </a:p>
        </p:txBody>
      </p:sp>
      <p:sp>
        <p:nvSpPr>
          <p:cNvPr id="102" name="Titolo 102"/>
          <p:cNvSpPr txBox="1"/>
          <p:nvPr/>
        </p:nvSpPr>
        <p:spPr>
          <a:xfrm>
            <a:off x="3337560" y="914400"/>
            <a:ext cx="1188720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it-IT" sz="65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Generali</a:t>
            </a:r>
          </a:p>
        </p:txBody>
      </p:sp>
      <p:sp>
        <p:nvSpPr>
          <p:cNvPr id="103" name="Testo 103"/>
          <p:cNvSpPr txBox="1"/>
          <p:nvPr/>
        </p:nvSpPr>
        <p:spPr>
          <a:xfrm>
            <a:off x="1463040" y="2423160"/>
            <a:ext cx="8595360" cy="6035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900"/>
              </a:spcAft>
            </a:pPr>
            <a:r>
              <a:rPr lang="it-IT" sz="22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Riferimento offerta: </a:t>
            </a:r>
            <a:r>
              <a:rPr lang="it-IT" sz="22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{{numero_offerta}}</a:t>
            </a:r>
            <a:r>
              <a:rPr lang="it-IT" sz="22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  rev. </a:t>
            </a:r>
            <a:r>
              <a:rPr lang="it-IT" sz="22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{{revisione}}</a:t>
            </a:r>
          </a:p>
          <a:p>
            <a:pPr algn="l">
              <a:spcAft>
                <a:spcPts val="900"/>
              </a:spcAft>
            </a:pPr>
            <a:r>
              <a:rPr lang="it-IT" sz="22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Data offerta: </a:t>
            </a:r>
            <a:r>
              <a:rPr lang="it-IT" sz="22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{{data_offerta}}</a:t>
            </a:r>
          </a:p>
          <a:p>
            <a:pPr algn="l">
              <a:spcAft>
                <a:spcPts val="900"/>
              </a:spcAft>
            </a:pPr>
            <a:r>
              <a:rPr lang="it-IT" sz="22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Progetto: </a:t>
            </a:r>
            <a:r>
              <a:rPr lang="it-IT" sz="22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{{tipo_progetto}}</a:t>
            </a:r>
          </a:p>
          <a:p>
            <a:pPr algn="l">
              <a:spcAft>
                <a:spcPts val="900"/>
              </a:spcAft>
            </a:pPr>
            <a:r>
              <a:rPr lang="it-IT" sz="22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Cliente: </a:t>
            </a:r>
            <a:r>
              <a:rPr lang="it-IT" sz="22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{{cliente}}</a:t>
            </a:r>
          </a:p>
          <a:p>
            <a:pPr algn="l">
              <a:spcAft>
                <a:spcPts val="900"/>
              </a:spcAft>
            </a:pPr>
            <a:r>
              <a:rPr lang="it-IT" sz="22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Località: </a:t>
            </a:r>
            <a:r>
              <a:rPr lang="it-IT" sz="22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{{localita}}</a:t>
            </a:r>
          </a:p>
          <a:p>
            <a:pPr algn="l">
              <a:spcAft>
                <a:spcPts val="900"/>
              </a:spcAft>
            </a:pPr>
            <a:r>
              <a:rPr lang="it-IT" sz="22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Zona: </a:t>
            </a:r>
            <a:r>
              <a:rPr lang="it-IT" sz="22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{{zona}}</a:t>
            </a:r>
          </a:p>
          <a:p>
            <a:pPr algn="l">
              <a:spcAft>
                <a:spcPts val="900"/>
              </a:spcAft>
            </a:pPr>
            <a:r>
              <a:rPr lang="it-IT" sz="22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Coordinate: </a:t>
            </a:r>
            <a:r>
              <a:rPr lang="it-IT" sz="22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{{coordinate}}</a:t>
            </a:r>
          </a:p>
          <a:p>
            <a:pPr algn="l">
              <a:spcAft>
                <a:spcPts val="900"/>
              </a:spcAft>
            </a:pPr>
            <a:r>
              <a:rPr lang="it-IT" sz="22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Potenza richiesta: </a:t>
            </a:r>
            <a:r>
              <a:rPr lang="it-IT" sz="22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{{potenza_kwp}} kWp</a:t>
            </a:r>
          </a:p>
          <a:p>
            <a:pPr algn="l">
              <a:spcAft>
                <a:spcPts val="900"/>
              </a:spcAft>
            </a:pPr>
            <a:r>
              <a:rPr lang="it-IT" sz="22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Referente: </a:t>
            </a:r>
            <a:r>
              <a:rPr lang="it-IT" sz="22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{{referente}}</a:t>
            </a:r>
          </a:p>
          <a:p>
            <a:pPr algn="l">
              <a:spcAft>
                <a:spcPts val="0"/>
              </a:spcAft>
            </a:pPr>
            <a:r>
              <a:rPr lang="it-IT" sz="22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E-mail: </a:t>
            </a:r>
            <a:r>
              <a:rPr lang="it-IT" sz="22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{{email_referente}}</a:t>
            </a:r>
          </a:p>
        </p:txBody>
      </p:sp>
      <p:sp>
        <p:nvSpPr>
          <p:cNvPr id="104" name="Scheda 104"/>
          <p:cNvSpPr/>
          <p:nvPr/>
        </p:nvSpPr>
        <p:spPr>
          <a:xfrm>
            <a:off x="10424160" y="2331720"/>
            <a:ext cx="7223760" cy="603504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it-IT"/>
          </a:p>
        </p:txBody>
      </p:sp>
      <p:sp>
        <p:nvSpPr>
          <p:cNvPr id="105" name="Testo 105"/>
          <p:cNvSpPr txBox="1"/>
          <p:nvPr/>
        </p:nvSpPr>
        <p:spPr>
          <a:xfrm>
            <a:off x="10835640" y="2514600"/>
            <a:ext cx="64008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it-IT" sz="30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INDICE</a:t>
            </a:r>
          </a:p>
        </p:txBody>
      </p:sp>
      <p:sp>
        <p:nvSpPr>
          <p:cNvPr id="106" name="Numero 106"/>
          <p:cNvSpPr/>
          <p:nvPr/>
        </p:nvSpPr>
        <p:spPr>
          <a:xfrm>
            <a:off x="10835640" y="3200400"/>
            <a:ext cx="502920" cy="502920"/>
          </a:xfrm>
          <a:prstGeom prst="ellipse">
            <a:avLst/>
          </a:prstGeom>
          <a:solidFill>
            <a:srgbClr val="79E92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it-IT" sz="20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</p:txBody>
      </p:sp>
      <p:sp>
        <p:nvSpPr>
          <p:cNvPr id="107" name="Testo 107"/>
          <p:cNvSpPr txBox="1"/>
          <p:nvPr/>
        </p:nvSpPr>
        <p:spPr>
          <a:xfrm>
            <a:off x="11567160" y="3182112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it-IT" sz="21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 soluzione SOLAR MAX</a:t>
            </a:r>
          </a:p>
        </p:txBody>
      </p:sp>
      <p:sp>
        <p:nvSpPr>
          <p:cNvPr id="108" name="Testo 108"/>
          <p:cNvSpPr txBox="1"/>
          <p:nvPr/>
        </p:nvSpPr>
        <p:spPr>
          <a:xfrm>
            <a:off x="15956280" y="3182112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lang="it-IT" sz="1900" b="1" dirty="0">
                <a:solidFill>
                  <a:srgbClr val="79E9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pag. 3</a:t>
            </a:r>
          </a:p>
        </p:txBody>
      </p:sp>
      <p:sp>
        <p:nvSpPr>
          <p:cNvPr id="109" name="Numero 109"/>
          <p:cNvSpPr/>
          <p:nvPr/>
        </p:nvSpPr>
        <p:spPr>
          <a:xfrm>
            <a:off x="10835640" y="3749040"/>
            <a:ext cx="502920" cy="502920"/>
          </a:xfrm>
          <a:prstGeom prst="ellipse">
            <a:avLst/>
          </a:prstGeom>
          <a:solidFill>
            <a:srgbClr val="79E92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it-IT" sz="20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  <p:sp>
        <p:nvSpPr>
          <p:cNvPr id="110" name="Testo 110"/>
          <p:cNvSpPr txBox="1"/>
          <p:nvPr/>
        </p:nvSpPr>
        <p:spPr>
          <a:xfrm>
            <a:off x="11567160" y="3730752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it-IT" sz="21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Soluzione proposta</a:t>
            </a:r>
          </a:p>
        </p:txBody>
      </p:sp>
      <p:sp>
        <p:nvSpPr>
          <p:cNvPr id="111" name="Testo 111"/>
          <p:cNvSpPr txBox="1"/>
          <p:nvPr/>
        </p:nvSpPr>
        <p:spPr>
          <a:xfrm>
            <a:off x="15956280" y="3730752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lang="it-IT" sz="1900" b="1" dirty="0">
                <a:solidFill>
                  <a:srgbClr val="79E9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pag. 7</a:t>
            </a:r>
          </a:p>
        </p:txBody>
      </p:sp>
      <p:sp>
        <p:nvSpPr>
          <p:cNvPr id="112" name="Numero 112"/>
          <p:cNvSpPr/>
          <p:nvPr/>
        </p:nvSpPr>
        <p:spPr>
          <a:xfrm>
            <a:off x="10835640" y="4297680"/>
            <a:ext cx="502920" cy="502920"/>
          </a:xfrm>
          <a:prstGeom prst="ellipse">
            <a:avLst/>
          </a:prstGeom>
          <a:solidFill>
            <a:srgbClr val="79E92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it-IT" sz="20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</a:p>
        </p:txBody>
      </p:sp>
      <p:sp>
        <p:nvSpPr>
          <p:cNvPr id="113" name="Testo 113"/>
          <p:cNvSpPr txBox="1"/>
          <p:nvPr/>
        </p:nvSpPr>
        <p:spPr>
          <a:xfrm>
            <a:off x="11567160" y="4279392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it-IT" sz="21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Dati di progetto</a:t>
            </a:r>
          </a:p>
        </p:txBody>
      </p:sp>
      <p:sp>
        <p:nvSpPr>
          <p:cNvPr id="114" name="Testo 114"/>
          <p:cNvSpPr txBox="1"/>
          <p:nvPr/>
        </p:nvSpPr>
        <p:spPr>
          <a:xfrm>
            <a:off x="15956280" y="4279392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lang="it-IT" sz="1900" b="1" dirty="0">
                <a:solidFill>
                  <a:srgbClr val="79E9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pag. 8</a:t>
            </a:r>
          </a:p>
        </p:txBody>
      </p:sp>
      <p:sp>
        <p:nvSpPr>
          <p:cNvPr id="115" name="Numero 115"/>
          <p:cNvSpPr/>
          <p:nvPr/>
        </p:nvSpPr>
        <p:spPr>
          <a:xfrm>
            <a:off x="10835640" y="4846320"/>
            <a:ext cx="502920" cy="502920"/>
          </a:xfrm>
          <a:prstGeom prst="ellipse">
            <a:avLst/>
          </a:prstGeom>
          <a:solidFill>
            <a:srgbClr val="79E92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it-IT" sz="20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</a:t>
            </a:r>
          </a:p>
        </p:txBody>
      </p:sp>
      <p:sp>
        <p:nvSpPr>
          <p:cNvPr id="116" name="Testo 116"/>
          <p:cNvSpPr txBox="1"/>
          <p:nvPr/>
        </p:nvSpPr>
        <p:spPr>
          <a:xfrm>
            <a:off x="11567160" y="4828032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it-IT" sz="21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Calcolo strutturale</a:t>
            </a:r>
          </a:p>
        </p:txBody>
      </p:sp>
      <p:sp>
        <p:nvSpPr>
          <p:cNvPr id="117" name="Testo 117"/>
          <p:cNvSpPr txBox="1"/>
          <p:nvPr/>
        </p:nvSpPr>
        <p:spPr>
          <a:xfrm>
            <a:off x="15956280" y="4828032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lang="it-IT" sz="1900" b="1" dirty="0">
                <a:solidFill>
                  <a:srgbClr val="79E9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pag. 9</a:t>
            </a:r>
          </a:p>
        </p:txBody>
      </p:sp>
      <p:sp>
        <p:nvSpPr>
          <p:cNvPr id="118" name="Numero 118"/>
          <p:cNvSpPr/>
          <p:nvPr/>
        </p:nvSpPr>
        <p:spPr>
          <a:xfrm>
            <a:off x="10835640" y="5394960"/>
            <a:ext cx="502920" cy="502920"/>
          </a:xfrm>
          <a:prstGeom prst="ellipse">
            <a:avLst/>
          </a:prstGeom>
          <a:solidFill>
            <a:srgbClr val="79E92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it-IT" sz="20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5</a:t>
            </a:r>
          </a:p>
        </p:txBody>
      </p:sp>
      <p:sp>
        <p:nvSpPr>
          <p:cNvPr id="119" name="Testo 119"/>
          <p:cNvSpPr txBox="1"/>
          <p:nvPr/>
        </p:nvSpPr>
        <p:spPr>
          <a:xfrm>
            <a:off x="11567160" y="5376672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it-IT" sz="21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Layout dell'impianto</a:t>
            </a:r>
          </a:p>
        </p:txBody>
      </p:sp>
      <p:sp>
        <p:nvSpPr>
          <p:cNvPr id="120" name="Testo 120"/>
          <p:cNvSpPr txBox="1"/>
          <p:nvPr/>
        </p:nvSpPr>
        <p:spPr>
          <a:xfrm>
            <a:off x="15956280" y="5376672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lang="it-IT" sz="1900" b="1" dirty="0">
                <a:solidFill>
                  <a:srgbClr val="79E9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pag. 10</a:t>
            </a:r>
          </a:p>
        </p:txBody>
      </p:sp>
      <p:sp>
        <p:nvSpPr>
          <p:cNvPr id="121" name="Numero 121"/>
          <p:cNvSpPr/>
          <p:nvPr/>
        </p:nvSpPr>
        <p:spPr>
          <a:xfrm>
            <a:off x="10835640" y="5943600"/>
            <a:ext cx="502920" cy="502920"/>
          </a:xfrm>
          <a:prstGeom prst="ellipse">
            <a:avLst/>
          </a:prstGeom>
          <a:solidFill>
            <a:srgbClr val="79E92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it-IT" sz="20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6</a:t>
            </a:r>
          </a:p>
        </p:txBody>
      </p:sp>
      <p:sp>
        <p:nvSpPr>
          <p:cNvPr id="122" name="Testo 122"/>
          <p:cNvSpPr txBox="1"/>
          <p:nvPr/>
        </p:nvSpPr>
        <p:spPr>
          <a:xfrm>
            <a:off x="11567160" y="5925312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it-IT" sz="21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Offerta economica</a:t>
            </a:r>
          </a:p>
        </p:txBody>
      </p:sp>
      <p:sp>
        <p:nvSpPr>
          <p:cNvPr id="123" name="Testo 123"/>
          <p:cNvSpPr txBox="1"/>
          <p:nvPr/>
        </p:nvSpPr>
        <p:spPr>
          <a:xfrm>
            <a:off x="15956280" y="5925312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lang="it-IT" sz="1900" b="1" dirty="0">
                <a:solidFill>
                  <a:srgbClr val="79E9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pag. 12</a:t>
            </a:r>
          </a:p>
        </p:txBody>
      </p:sp>
      <p:sp>
        <p:nvSpPr>
          <p:cNvPr id="124" name="Numero 124"/>
          <p:cNvSpPr/>
          <p:nvPr/>
        </p:nvSpPr>
        <p:spPr>
          <a:xfrm>
            <a:off x="10835640" y="6492240"/>
            <a:ext cx="502920" cy="502920"/>
          </a:xfrm>
          <a:prstGeom prst="ellipse">
            <a:avLst/>
          </a:prstGeom>
          <a:solidFill>
            <a:srgbClr val="79E92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it-IT" sz="20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7</a:t>
            </a:r>
          </a:p>
        </p:txBody>
      </p:sp>
      <p:sp>
        <p:nvSpPr>
          <p:cNvPr id="125" name="Testo 125"/>
          <p:cNvSpPr txBox="1"/>
          <p:nvPr/>
        </p:nvSpPr>
        <p:spPr>
          <a:xfrm>
            <a:off x="11567160" y="6473952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it-IT" sz="21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Forniture e servizi opzionali</a:t>
            </a:r>
          </a:p>
        </p:txBody>
      </p:sp>
      <p:sp>
        <p:nvSpPr>
          <p:cNvPr id="126" name="Testo 126"/>
          <p:cNvSpPr txBox="1"/>
          <p:nvPr/>
        </p:nvSpPr>
        <p:spPr>
          <a:xfrm>
            <a:off x="15956280" y="6473952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lang="it-IT" sz="1900" b="1" dirty="0">
                <a:solidFill>
                  <a:srgbClr val="79E9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pag. 13</a:t>
            </a:r>
          </a:p>
        </p:txBody>
      </p:sp>
      <p:sp>
        <p:nvSpPr>
          <p:cNvPr id="127" name="Numero 127"/>
          <p:cNvSpPr/>
          <p:nvPr/>
        </p:nvSpPr>
        <p:spPr>
          <a:xfrm>
            <a:off x="10835640" y="7040880"/>
            <a:ext cx="502920" cy="502920"/>
          </a:xfrm>
          <a:prstGeom prst="ellipse">
            <a:avLst/>
          </a:prstGeom>
          <a:solidFill>
            <a:srgbClr val="79E92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it-IT" sz="20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8</a:t>
            </a:r>
          </a:p>
        </p:txBody>
      </p:sp>
      <p:sp>
        <p:nvSpPr>
          <p:cNvPr id="128" name="Testo 128"/>
          <p:cNvSpPr txBox="1"/>
          <p:nvPr/>
        </p:nvSpPr>
        <p:spPr>
          <a:xfrm>
            <a:off x="11567160" y="7022592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it-IT" sz="21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Condizioni commerciali</a:t>
            </a:r>
          </a:p>
        </p:txBody>
      </p:sp>
      <p:sp>
        <p:nvSpPr>
          <p:cNvPr id="129" name="Testo 129"/>
          <p:cNvSpPr txBox="1"/>
          <p:nvPr/>
        </p:nvSpPr>
        <p:spPr>
          <a:xfrm>
            <a:off x="15956280" y="7022592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lang="it-IT" sz="1900" b="1" dirty="0">
                <a:solidFill>
                  <a:srgbClr val="79E9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pag. 14</a:t>
            </a:r>
          </a:p>
        </p:txBody>
      </p:sp>
      <p:sp>
        <p:nvSpPr>
          <p:cNvPr id="130" name="Numero 130"/>
          <p:cNvSpPr/>
          <p:nvPr/>
        </p:nvSpPr>
        <p:spPr>
          <a:xfrm>
            <a:off x="10835640" y="7589520"/>
            <a:ext cx="502920" cy="502920"/>
          </a:xfrm>
          <a:prstGeom prst="ellipse">
            <a:avLst/>
          </a:prstGeom>
          <a:solidFill>
            <a:srgbClr val="79E92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it-IT" sz="20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9</a:t>
            </a:r>
          </a:p>
        </p:txBody>
      </p:sp>
      <p:sp>
        <p:nvSpPr>
          <p:cNvPr id="131" name="Testo 131"/>
          <p:cNvSpPr txBox="1"/>
          <p:nvPr/>
        </p:nvSpPr>
        <p:spPr>
          <a:xfrm>
            <a:off x="11567160" y="7571232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it-IT" sz="21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Garanzie e certificazioni</a:t>
            </a:r>
          </a:p>
        </p:txBody>
      </p:sp>
      <p:sp>
        <p:nvSpPr>
          <p:cNvPr id="132" name="Testo 132"/>
          <p:cNvSpPr txBox="1"/>
          <p:nvPr/>
        </p:nvSpPr>
        <p:spPr>
          <a:xfrm>
            <a:off x="15956280" y="7571232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lang="it-IT" sz="1900" b="1" dirty="0">
                <a:solidFill>
                  <a:srgbClr val="79E9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pag.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C2C2C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V="1">
            <a:off x="-1402481" y="-2172510"/>
            <a:ext cx="2709713" cy="4345021"/>
          </a:xfrm>
          <a:custGeom>
            <a:avLst/>
            <a:gdLst/>
            <a:ahLst/>
            <a:cxnLst/>
            <a:rect l="l" t="t" r="r" b="b"/>
            <a:pathLst>
              <a:path w="2709713" h="4345021">
                <a:moveTo>
                  <a:pt x="0" y="4345020"/>
                </a:moveTo>
                <a:lnTo>
                  <a:pt x="2709712" y="4345020"/>
                </a:lnTo>
                <a:lnTo>
                  <a:pt x="2709712" y="0"/>
                </a:lnTo>
                <a:lnTo>
                  <a:pt x="0" y="0"/>
                </a:lnTo>
                <a:lnTo>
                  <a:pt x="0" y="434502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 rot="5400000">
            <a:off x="16502346" y="8862019"/>
            <a:ext cx="988790" cy="1304159"/>
          </a:xfrm>
          <a:custGeom>
            <a:avLst/>
            <a:gdLst/>
            <a:ahLst/>
            <a:cxnLst/>
            <a:rect l="l" t="t" r="r" b="b"/>
            <a:pathLst>
              <a:path w="988790" h="1304159">
                <a:moveTo>
                  <a:pt x="0" y="0"/>
                </a:moveTo>
                <a:lnTo>
                  <a:pt x="988790" y="0"/>
                </a:lnTo>
                <a:lnTo>
                  <a:pt x="988790" y="1304159"/>
                </a:lnTo>
                <a:lnTo>
                  <a:pt x="0" y="13041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>
            <a:off x="9144000" y="9254266"/>
            <a:ext cx="1121840" cy="422199"/>
          </a:xfrm>
          <a:custGeom>
            <a:avLst/>
            <a:gdLst/>
            <a:ahLst/>
            <a:cxnLst/>
            <a:rect l="l" t="t" r="r" b="b"/>
            <a:pathLst>
              <a:path w="1121840" h="422199">
                <a:moveTo>
                  <a:pt x="0" y="0"/>
                </a:moveTo>
                <a:lnTo>
                  <a:pt x="1121840" y="0"/>
                </a:lnTo>
                <a:lnTo>
                  <a:pt x="1121840" y="422199"/>
                </a:lnTo>
                <a:lnTo>
                  <a:pt x="0" y="4221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60269" r="-7196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9" name="Freeform 9"/>
          <p:cNvSpPr/>
          <p:nvPr/>
        </p:nvSpPr>
        <p:spPr>
          <a:xfrm>
            <a:off x="15765540" y="294725"/>
            <a:ext cx="2080170" cy="1739830"/>
          </a:xfrm>
          <a:custGeom>
            <a:avLst/>
            <a:gdLst/>
            <a:ahLst/>
            <a:cxnLst/>
            <a:rect l="l" t="t" r="r" b="b"/>
            <a:pathLst>
              <a:path w="2080170" h="1739830">
                <a:moveTo>
                  <a:pt x="0" y="0"/>
                </a:moveTo>
                <a:lnTo>
                  <a:pt x="2080169" y="0"/>
                </a:lnTo>
                <a:lnTo>
                  <a:pt x="2080169" y="1739830"/>
                </a:lnTo>
                <a:lnTo>
                  <a:pt x="0" y="17398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0" name="Freeform 10"/>
          <p:cNvSpPr/>
          <p:nvPr/>
        </p:nvSpPr>
        <p:spPr>
          <a:xfrm>
            <a:off x="612089" y="8596796"/>
            <a:ext cx="4983083" cy="1370348"/>
          </a:xfrm>
          <a:custGeom>
            <a:avLst/>
            <a:gdLst/>
            <a:ahLst/>
            <a:cxnLst/>
            <a:rect l="l" t="t" r="r" b="b"/>
            <a:pathLst>
              <a:path w="4983083" h="1370348">
                <a:moveTo>
                  <a:pt x="0" y="0"/>
                </a:moveTo>
                <a:lnTo>
                  <a:pt x="4983083" y="0"/>
                </a:lnTo>
                <a:lnTo>
                  <a:pt x="4983083" y="1370348"/>
                </a:lnTo>
                <a:lnTo>
                  <a:pt x="0" y="13703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01" name="Titolo 101"/>
          <p:cNvSpPr txBox="1"/>
          <p:nvPr/>
        </p:nvSpPr>
        <p:spPr>
          <a:xfrm>
            <a:off x="1463040" y="320040"/>
            <a:ext cx="123444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it-IT" sz="6000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DATI DI</a:t>
            </a:r>
          </a:p>
        </p:txBody>
      </p:sp>
      <p:sp>
        <p:nvSpPr>
          <p:cNvPr id="102" name="Titolo 102"/>
          <p:cNvSpPr txBox="1"/>
          <p:nvPr/>
        </p:nvSpPr>
        <p:spPr>
          <a:xfrm>
            <a:off x="3337560" y="914400"/>
            <a:ext cx="1188720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it-IT" sz="65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Progetto</a:t>
            </a:r>
          </a:p>
        </p:txBody>
      </p:sp>
      <p:sp>
        <p:nvSpPr>
          <p:cNvPr id="103" name="Scheda 103"/>
          <p:cNvSpPr/>
          <p:nvPr/>
        </p:nvSpPr>
        <p:spPr>
          <a:xfrm>
            <a:off x="1463040" y="2240280"/>
            <a:ext cx="5029200" cy="420624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it-IT"/>
          </a:p>
        </p:txBody>
      </p:sp>
      <p:sp>
        <p:nvSpPr>
          <p:cNvPr id="104" name="Testo 104"/>
          <p:cNvSpPr txBox="1"/>
          <p:nvPr/>
        </p:nvSpPr>
        <p:spPr>
          <a:xfrm>
            <a:off x="1463040" y="2240280"/>
            <a:ext cx="5029200" cy="4206240"/>
          </a:xfrm>
          <a:prstGeom prst="rect">
            <a:avLst/>
          </a:prstGeom>
          <a:noFill/>
          <a:ln>
            <a:noFill/>
          </a:ln>
        </p:spPr>
        <p:txBody>
          <a:bodyPr wrap="square" lIns="274320" tIns="137160" rIns="274320" bIns="137160" rtlCol="0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lang="it-IT" sz="22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CLIENTE E SITO</a:t>
            </a:r>
          </a:p>
          <a:p>
            <a:pPr algn="l">
              <a:spcAft>
                <a:spcPts val="420"/>
              </a:spcAft>
            </a:pPr>
            <a:r>
              <a:rPr lang="it-IT" sz="19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Cliente: </a:t>
            </a:r>
            <a:r>
              <a:rPr lang="it-IT" sz="19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{{cliente}}</a:t>
            </a:r>
          </a:p>
          <a:p>
            <a:pPr algn="l">
              <a:spcAft>
                <a:spcPts val="420"/>
              </a:spcAft>
            </a:pPr>
            <a:r>
              <a:rPr lang="it-IT" sz="19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Referente: </a:t>
            </a:r>
            <a:r>
              <a:rPr lang="it-IT" sz="19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{{referente}}</a:t>
            </a:r>
          </a:p>
          <a:p>
            <a:pPr algn="l">
              <a:spcAft>
                <a:spcPts val="420"/>
              </a:spcAft>
            </a:pPr>
            <a:r>
              <a:rPr lang="it-IT" sz="19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Località: </a:t>
            </a:r>
            <a:r>
              <a:rPr lang="it-IT" sz="19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{{localita_zona}}</a:t>
            </a:r>
          </a:p>
          <a:p>
            <a:pPr algn="l">
              <a:spcAft>
                <a:spcPts val="420"/>
              </a:spcAft>
            </a:pPr>
            <a:r>
              <a:rPr lang="it-IT" sz="19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Coordinate: </a:t>
            </a:r>
            <a:r>
              <a:rPr lang="it-IT" sz="19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{{coordinate}}</a:t>
            </a:r>
          </a:p>
          <a:p>
            <a:pPr algn="l">
              <a:spcAft>
                <a:spcPts val="420"/>
              </a:spcAft>
            </a:pPr>
            <a:r>
              <a:rPr lang="it-IT" sz="19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Potenza: </a:t>
            </a:r>
            <a:r>
              <a:rPr lang="it-IT" sz="19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{{potenza_kwp}} kWp</a:t>
            </a:r>
          </a:p>
        </p:txBody>
      </p:sp>
      <p:sp>
        <p:nvSpPr>
          <p:cNvPr id="105" name="Scheda 105"/>
          <p:cNvSpPr/>
          <p:nvPr/>
        </p:nvSpPr>
        <p:spPr>
          <a:xfrm>
            <a:off x="6720840" y="2240280"/>
            <a:ext cx="5029200" cy="420624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it-IT"/>
          </a:p>
        </p:txBody>
      </p:sp>
      <p:sp>
        <p:nvSpPr>
          <p:cNvPr id="106" name="Testo 106"/>
          <p:cNvSpPr txBox="1"/>
          <p:nvPr/>
        </p:nvSpPr>
        <p:spPr>
          <a:xfrm>
            <a:off x="6720840" y="2240280"/>
            <a:ext cx="5029200" cy="4206240"/>
          </a:xfrm>
          <a:prstGeom prst="rect">
            <a:avLst/>
          </a:prstGeom>
          <a:noFill/>
          <a:ln>
            <a:noFill/>
          </a:ln>
        </p:spPr>
        <p:txBody>
          <a:bodyPr wrap="square" lIns="274320" tIns="137160" rIns="274320" bIns="137160" rtlCol="0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lang="it-IT" sz="22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MODULO FOTOVOLTAICO</a:t>
            </a:r>
          </a:p>
          <a:p>
            <a:pPr algn="l">
              <a:spcAft>
                <a:spcPts val="420"/>
              </a:spcAft>
            </a:pPr>
            <a:r>
              <a:rPr lang="it-IT" sz="19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Modello: </a:t>
            </a:r>
            <a:r>
              <a:rPr lang="it-IT" sz="19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{{modulo_modello}}</a:t>
            </a:r>
          </a:p>
          <a:p>
            <a:pPr algn="l">
              <a:spcAft>
                <a:spcPts val="420"/>
              </a:spcAft>
            </a:pPr>
            <a:r>
              <a:rPr lang="it-IT" sz="19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Tipo: </a:t>
            </a:r>
            <a:r>
              <a:rPr lang="it-IT" sz="19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{{modulo_tipo}}</a:t>
            </a:r>
          </a:p>
          <a:p>
            <a:pPr algn="l">
              <a:spcAft>
                <a:spcPts val="420"/>
              </a:spcAft>
            </a:pPr>
            <a:r>
              <a:rPr lang="it-IT" sz="19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Potenza: </a:t>
            </a:r>
            <a:r>
              <a:rPr lang="it-IT" sz="19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{{potenza_modulo_w}} Wp</a:t>
            </a:r>
          </a:p>
          <a:p>
            <a:pPr algn="l">
              <a:spcAft>
                <a:spcPts val="420"/>
              </a:spcAft>
            </a:pPr>
            <a:r>
              <a:rPr lang="it-IT" sz="19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Dimensioni: </a:t>
            </a:r>
            <a:r>
              <a:rPr lang="it-IT" sz="19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{{modulo_dimensioni}} mm</a:t>
            </a:r>
          </a:p>
          <a:p>
            <a:pPr algn="l">
              <a:spcAft>
                <a:spcPts val="420"/>
              </a:spcAft>
            </a:pPr>
            <a:r>
              <a:rPr lang="it-IT" sz="19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Peso: </a:t>
            </a:r>
            <a:r>
              <a:rPr lang="it-IT" sz="19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{{modulo_peso_kg}} kg</a:t>
            </a:r>
          </a:p>
          <a:p>
            <a:pPr algn="l">
              <a:spcAft>
                <a:spcPts val="420"/>
              </a:spcAft>
            </a:pPr>
            <a:r>
              <a:rPr lang="it-IT" sz="19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Quantità: </a:t>
            </a:r>
            <a:r>
              <a:rPr lang="it-IT" sz="19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{{moduli_totali}} pz</a:t>
            </a:r>
          </a:p>
        </p:txBody>
      </p:sp>
      <p:sp>
        <p:nvSpPr>
          <p:cNvPr id="107" name="Scheda 107"/>
          <p:cNvSpPr/>
          <p:nvPr/>
        </p:nvSpPr>
        <p:spPr>
          <a:xfrm>
            <a:off x="11978640" y="2240280"/>
            <a:ext cx="5669280" cy="420624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it-IT"/>
          </a:p>
        </p:txBody>
      </p:sp>
      <p:sp>
        <p:nvSpPr>
          <p:cNvPr id="108" name="Testo 108"/>
          <p:cNvSpPr txBox="1"/>
          <p:nvPr/>
        </p:nvSpPr>
        <p:spPr>
          <a:xfrm>
            <a:off x="11978640" y="2240280"/>
            <a:ext cx="5669280" cy="4206240"/>
          </a:xfrm>
          <a:prstGeom prst="rect">
            <a:avLst/>
          </a:prstGeom>
          <a:noFill/>
          <a:ln>
            <a:noFill/>
          </a:ln>
        </p:spPr>
        <p:txBody>
          <a:bodyPr wrap="square" lIns="274320" tIns="137160" rIns="274320" bIns="137160" rtlCol="0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lang="it-IT" sz="22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CONDIZIONI DI PROGETTO</a:t>
            </a:r>
          </a:p>
          <a:p>
            <a:pPr algn="l">
              <a:spcAft>
                <a:spcPts val="420"/>
              </a:spcAft>
            </a:pPr>
            <a:r>
              <a:rPr lang="it-IT" sz="19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Vento NTC 2018: </a:t>
            </a:r>
            <a:r>
              <a:rPr lang="it-IT" sz="19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{{vento_ms}} m/s</a:t>
            </a:r>
          </a:p>
          <a:p>
            <a:pPr algn="l">
              <a:spcAft>
                <a:spcPts val="420"/>
              </a:spcAft>
            </a:pPr>
            <a:r>
              <a:rPr lang="it-IT" sz="19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Zona vento: </a:t>
            </a:r>
            <a:r>
              <a:rPr lang="it-IT" sz="19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{{zona_vento}}</a:t>
            </a:r>
          </a:p>
          <a:p>
            <a:pPr algn="l">
              <a:spcAft>
                <a:spcPts val="420"/>
              </a:spcAft>
            </a:pPr>
            <a:r>
              <a:rPr lang="it-IT" sz="19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Terreno: </a:t>
            </a:r>
            <a:r>
              <a:rPr lang="it-IT" sz="19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cat. {{categoria_terreno}}</a:t>
            </a:r>
          </a:p>
          <a:p>
            <a:pPr algn="l">
              <a:spcAft>
                <a:spcPts val="420"/>
              </a:spcAft>
            </a:pPr>
            <a:r>
              <a:rPr lang="it-IT" sz="19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Altitudine: </a:t>
            </a:r>
            <a:r>
              <a:rPr lang="it-IT" sz="19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{{altitudine_m}} m s.l.m.</a:t>
            </a:r>
          </a:p>
          <a:p>
            <a:pPr algn="l">
              <a:spcAft>
                <a:spcPts val="420"/>
              </a:spcAft>
            </a:pPr>
            <a:r>
              <a:rPr lang="it-IT" sz="19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Corrosività: </a:t>
            </a:r>
            <a:r>
              <a:rPr lang="it-IT" sz="19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{{classe_corrosivita}}</a:t>
            </a:r>
          </a:p>
          <a:p>
            <a:pPr algn="l">
              <a:spcAft>
                <a:spcPts val="420"/>
              </a:spcAft>
            </a:pPr>
            <a:r>
              <a:rPr lang="it-IT" sz="19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Pendenza N-S: </a:t>
            </a:r>
            <a:r>
              <a:rPr lang="it-IT" sz="19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{{pendenza_ns}}</a:t>
            </a:r>
          </a:p>
          <a:p>
            <a:pPr algn="l">
              <a:spcAft>
                <a:spcPts val="420"/>
              </a:spcAft>
            </a:pPr>
            <a:r>
              <a:rPr lang="it-IT" sz="19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Inclinazione: </a:t>
            </a:r>
            <a:r>
              <a:rPr lang="it-IT" sz="19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{{inclinazione}}°</a:t>
            </a:r>
          </a:p>
          <a:p>
            <a:pPr algn="l">
              <a:spcAft>
                <a:spcPts val="420"/>
              </a:spcAft>
            </a:pPr>
            <a:r>
              <a:rPr lang="it-IT" sz="19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Altezza min. bordo: </a:t>
            </a:r>
            <a:r>
              <a:rPr lang="it-IT" sz="19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{{altezza_min_modulo_m}} m</a:t>
            </a:r>
          </a:p>
          <a:p>
            <a:pPr algn="l">
              <a:spcAft>
                <a:spcPts val="420"/>
              </a:spcAft>
            </a:pPr>
            <a:r>
              <a:rPr lang="it-IT" sz="19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Infissione ant. / post.: </a:t>
            </a:r>
            <a:r>
              <a:rPr lang="it-IT" sz="19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{{infissione_m}} m*</a:t>
            </a:r>
          </a:p>
        </p:txBody>
      </p:sp>
      <p:sp>
        <p:nvSpPr>
          <p:cNvPr id="109" name="Testo 109"/>
          <p:cNvSpPr txBox="1"/>
          <p:nvPr/>
        </p:nvSpPr>
        <p:spPr>
          <a:xfrm>
            <a:off x="1463040" y="66294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it-IT" sz="22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PESI DELLA FORNITURA</a:t>
            </a:r>
          </a:p>
        </p:txBody>
      </p:sp>
      <p:sp>
        <p:nvSpPr>
          <p:cNvPr id="110" name="Testo 110"/>
          <p:cNvSpPr/>
          <p:nvPr/>
        </p:nvSpPr>
        <p:spPr>
          <a:xfrm>
            <a:off x="1463040" y="7132320"/>
            <a:ext cx="3840480" cy="1051560"/>
          </a:xfrm>
          <a:prstGeom prst="roundRect">
            <a:avLst>
              <a:gd name="adj" fmla="val 50000"/>
            </a:avLst>
          </a:prstGeom>
          <a:solidFill>
            <a:srgbClr val="26262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it-IT" sz="1800" b="1" dirty="0">
                <a:solidFill>
                  <a:srgbClr val="79E9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Struttura</a:t>
            </a:r>
          </a:p>
          <a:p>
            <a:pPr algn="ctr">
              <a:spcAft>
                <a:spcPts val="0"/>
              </a:spcAft>
            </a:pPr>
            <a:r>
              <a:rPr lang="it-IT" sz="2800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{{peso_struttura}}</a:t>
            </a:r>
          </a:p>
        </p:txBody>
      </p:sp>
      <p:sp>
        <p:nvSpPr>
          <p:cNvPr id="111" name="Testo 111"/>
          <p:cNvSpPr/>
          <p:nvPr/>
        </p:nvSpPr>
        <p:spPr>
          <a:xfrm>
            <a:off x="5486400" y="7132320"/>
            <a:ext cx="3840480" cy="1051560"/>
          </a:xfrm>
          <a:prstGeom prst="roundRect">
            <a:avLst>
              <a:gd name="adj" fmla="val 50000"/>
            </a:avLst>
          </a:prstGeom>
          <a:solidFill>
            <a:srgbClr val="26262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it-IT" sz="1800" b="1" dirty="0">
                <a:solidFill>
                  <a:srgbClr val="79E9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Bulloneria</a:t>
            </a:r>
          </a:p>
          <a:p>
            <a:pPr algn="ctr">
              <a:spcAft>
                <a:spcPts val="0"/>
              </a:spcAft>
            </a:pPr>
            <a:r>
              <a:rPr lang="it-IT" sz="2800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{{peso_bulloneria}}</a:t>
            </a:r>
          </a:p>
        </p:txBody>
      </p:sp>
      <p:sp>
        <p:nvSpPr>
          <p:cNvPr id="112" name="Testo 112"/>
          <p:cNvSpPr/>
          <p:nvPr/>
        </p:nvSpPr>
        <p:spPr>
          <a:xfrm>
            <a:off x="9509760" y="7132320"/>
            <a:ext cx="3840480" cy="1051560"/>
          </a:xfrm>
          <a:prstGeom prst="roundRect">
            <a:avLst>
              <a:gd name="adj" fmla="val 50000"/>
            </a:avLst>
          </a:prstGeom>
          <a:solidFill>
            <a:srgbClr val="26262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it-IT" sz="1800" b="1" dirty="0">
                <a:solidFill>
                  <a:srgbClr val="79E9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Agganci in alluminio</a:t>
            </a:r>
          </a:p>
          <a:p>
            <a:pPr algn="ctr">
              <a:spcAft>
                <a:spcPts val="0"/>
              </a:spcAft>
            </a:pPr>
            <a:r>
              <a:rPr lang="it-IT" sz="2800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{{peso_alluminio}}</a:t>
            </a:r>
          </a:p>
        </p:txBody>
      </p:sp>
      <p:sp>
        <p:nvSpPr>
          <p:cNvPr id="113" name="Testo 113"/>
          <p:cNvSpPr/>
          <p:nvPr/>
        </p:nvSpPr>
        <p:spPr>
          <a:xfrm>
            <a:off x="13533120" y="7132320"/>
            <a:ext cx="3840480" cy="1051560"/>
          </a:xfrm>
          <a:prstGeom prst="roundRect">
            <a:avLst>
              <a:gd name="adj" fmla="val 50000"/>
            </a:avLst>
          </a:prstGeom>
          <a:solidFill>
            <a:srgbClr val="79E92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it-IT" sz="18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Totale</a:t>
            </a:r>
          </a:p>
          <a:p>
            <a:pPr algn="ctr">
              <a:spcAft>
                <a:spcPts val="0"/>
              </a:spcAft>
            </a:pPr>
            <a:r>
              <a:rPr lang="it-IT" sz="28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{{peso_totale}}</a:t>
            </a:r>
          </a:p>
        </p:txBody>
      </p:sp>
      <p:sp>
        <p:nvSpPr>
          <p:cNvPr id="114" name="Testo 114"/>
          <p:cNvSpPr txBox="1"/>
          <p:nvPr/>
        </p:nvSpPr>
        <p:spPr>
          <a:xfrm>
            <a:off x="6035040" y="8321040"/>
            <a:ext cx="1161288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it-IT" sz="15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* Profondità di infissione da validare con pull-out test o studio geotecnico. Moduli fotovoltaici non inclusi nella fornitura.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C2C2C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V="1">
            <a:off x="-1402481" y="-2172510"/>
            <a:ext cx="2709713" cy="4345021"/>
          </a:xfrm>
          <a:custGeom>
            <a:avLst/>
            <a:gdLst/>
            <a:ahLst/>
            <a:cxnLst/>
            <a:rect l="l" t="t" r="r" b="b"/>
            <a:pathLst>
              <a:path w="2709713" h="4345021">
                <a:moveTo>
                  <a:pt x="0" y="4345020"/>
                </a:moveTo>
                <a:lnTo>
                  <a:pt x="2709712" y="4345020"/>
                </a:lnTo>
                <a:lnTo>
                  <a:pt x="2709712" y="0"/>
                </a:lnTo>
                <a:lnTo>
                  <a:pt x="0" y="0"/>
                </a:lnTo>
                <a:lnTo>
                  <a:pt x="0" y="434502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 rot="5400000">
            <a:off x="16502346" y="8862019"/>
            <a:ext cx="988790" cy="1304159"/>
          </a:xfrm>
          <a:custGeom>
            <a:avLst/>
            <a:gdLst/>
            <a:ahLst/>
            <a:cxnLst/>
            <a:rect l="l" t="t" r="r" b="b"/>
            <a:pathLst>
              <a:path w="988790" h="1304159">
                <a:moveTo>
                  <a:pt x="0" y="0"/>
                </a:moveTo>
                <a:lnTo>
                  <a:pt x="988790" y="0"/>
                </a:lnTo>
                <a:lnTo>
                  <a:pt x="988790" y="1304159"/>
                </a:lnTo>
                <a:lnTo>
                  <a:pt x="0" y="13041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>
            <a:off x="9144000" y="9254266"/>
            <a:ext cx="1121840" cy="422199"/>
          </a:xfrm>
          <a:custGeom>
            <a:avLst/>
            <a:gdLst/>
            <a:ahLst/>
            <a:cxnLst/>
            <a:rect l="l" t="t" r="r" b="b"/>
            <a:pathLst>
              <a:path w="1121840" h="422199">
                <a:moveTo>
                  <a:pt x="0" y="0"/>
                </a:moveTo>
                <a:lnTo>
                  <a:pt x="1121840" y="0"/>
                </a:lnTo>
                <a:lnTo>
                  <a:pt x="1121840" y="422199"/>
                </a:lnTo>
                <a:lnTo>
                  <a:pt x="0" y="4221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60269" r="-7196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9" name="Freeform 9"/>
          <p:cNvSpPr/>
          <p:nvPr/>
        </p:nvSpPr>
        <p:spPr>
          <a:xfrm>
            <a:off x="15765540" y="294725"/>
            <a:ext cx="2080170" cy="1739830"/>
          </a:xfrm>
          <a:custGeom>
            <a:avLst/>
            <a:gdLst/>
            <a:ahLst/>
            <a:cxnLst/>
            <a:rect l="l" t="t" r="r" b="b"/>
            <a:pathLst>
              <a:path w="2080170" h="1739830">
                <a:moveTo>
                  <a:pt x="0" y="0"/>
                </a:moveTo>
                <a:lnTo>
                  <a:pt x="2080169" y="0"/>
                </a:lnTo>
                <a:lnTo>
                  <a:pt x="2080169" y="1739830"/>
                </a:lnTo>
                <a:lnTo>
                  <a:pt x="0" y="17398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0" name="Freeform 10"/>
          <p:cNvSpPr/>
          <p:nvPr/>
        </p:nvSpPr>
        <p:spPr>
          <a:xfrm>
            <a:off x="612089" y="8596796"/>
            <a:ext cx="4983083" cy="1370348"/>
          </a:xfrm>
          <a:custGeom>
            <a:avLst/>
            <a:gdLst/>
            <a:ahLst/>
            <a:cxnLst/>
            <a:rect l="l" t="t" r="r" b="b"/>
            <a:pathLst>
              <a:path w="4983083" h="1370348">
                <a:moveTo>
                  <a:pt x="0" y="0"/>
                </a:moveTo>
                <a:lnTo>
                  <a:pt x="4983083" y="0"/>
                </a:lnTo>
                <a:lnTo>
                  <a:pt x="4983083" y="1370348"/>
                </a:lnTo>
                <a:lnTo>
                  <a:pt x="0" y="13703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01" name="Titolo 101"/>
          <p:cNvSpPr txBox="1"/>
          <p:nvPr/>
        </p:nvSpPr>
        <p:spPr>
          <a:xfrm>
            <a:off x="1463040" y="320040"/>
            <a:ext cx="123444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it-IT" sz="6000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FORNITURE E SERVIZI</a:t>
            </a:r>
          </a:p>
        </p:txBody>
      </p:sp>
      <p:sp>
        <p:nvSpPr>
          <p:cNvPr id="102" name="Titolo 102"/>
          <p:cNvSpPr txBox="1"/>
          <p:nvPr/>
        </p:nvSpPr>
        <p:spPr>
          <a:xfrm>
            <a:off x="3337560" y="914400"/>
            <a:ext cx="1188720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it-IT" sz="65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Opzionali</a:t>
            </a:r>
          </a:p>
        </p:txBody>
      </p:sp>
      <p:sp>
        <p:nvSpPr>
          <p:cNvPr id="103" name="Intestazione 103"/>
          <p:cNvSpPr/>
          <p:nvPr/>
        </p:nvSpPr>
        <p:spPr>
          <a:xfrm>
            <a:off x="1463040" y="2331720"/>
            <a:ext cx="11338560" cy="640080"/>
          </a:xfrm>
          <a:prstGeom prst="rect">
            <a:avLst/>
          </a:prstGeom>
          <a:solidFill>
            <a:srgbClr val="79E920"/>
          </a:solidFill>
          <a:ln>
            <a:noFill/>
          </a:ln>
        </p:spPr>
        <p:txBody>
          <a:bodyPr wrap="square" lIns="182880" tIns="91440" rIns="182880" bIns="91440" rtlCol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it-IT" sz="18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Voce</a:t>
            </a:r>
          </a:p>
        </p:txBody>
      </p:sp>
      <p:sp>
        <p:nvSpPr>
          <p:cNvPr id="104" name="Intestazione 104"/>
          <p:cNvSpPr/>
          <p:nvPr/>
        </p:nvSpPr>
        <p:spPr>
          <a:xfrm>
            <a:off x="12801600" y="2331720"/>
            <a:ext cx="4846320" cy="640080"/>
          </a:xfrm>
          <a:prstGeom prst="rect">
            <a:avLst/>
          </a:prstGeom>
          <a:solidFill>
            <a:srgbClr val="79E920"/>
          </a:solidFill>
          <a:ln>
            <a:noFill/>
          </a:ln>
        </p:spPr>
        <p:txBody>
          <a:bodyPr wrap="square" lIns="182880" tIns="91440" rIns="182880" bIns="91440" rtlCol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it-IT" sz="18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Prezzo</a:t>
            </a:r>
          </a:p>
        </p:txBody>
      </p:sp>
      <p:sp>
        <p:nvSpPr>
          <p:cNvPr id="105" name="Fondo riga 105" descr="{{#servizi:alterna}}"/>
          <p:cNvSpPr/>
          <p:nvPr/>
        </p:nvSpPr>
        <p:spPr>
          <a:xfrm>
            <a:off x="1463040" y="2971800"/>
            <a:ext cx="16184880" cy="64008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it-IT"/>
          </a:p>
        </p:txBody>
      </p:sp>
      <p:sp>
        <p:nvSpPr>
          <p:cNvPr id="106" name="Servizio 106" descr="{{#servizi}}"/>
          <p:cNvSpPr txBox="1"/>
          <p:nvPr/>
        </p:nvSpPr>
        <p:spPr>
          <a:xfrm>
            <a:off x="1463040" y="2971800"/>
            <a:ext cx="1133856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0" tIns="91440" rIns="182880" bIns="91440" rtlCol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it-IT" sz="18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{{voce}}</a:t>
            </a:r>
          </a:p>
        </p:txBody>
      </p:sp>
      <p:sp>
        <p:nvSpPr>
          <p:cNvPr id="107" name="Prezzo 107" descr="{{#servizi}}"/>
          <p:cNvSpPr txBox="1"/>
          <p:nvPr/>
        </p:nvSpPr>
        <p:spPr>
          <a:xfrm>
            <a:off x="12801600" y="2971800"/>
            <a:ext cx="484632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0" tIns="91440" rIns="182880" bIns="91440" rtlCol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it-IT" sz="1800" b="1" dirty="0">
                <a:solidFill>
                  <a:srgbClr val="79E9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{{prezzo}}</a:t>
            </a:r>
          </a:p>
        </p:txBody>
      </p:sp>
      <p:sp>
        <p:nvSpPr>
          <p:cNvPr id="108" name="Nota 108" descr="{{segue:servizi}}"/>
          <p:cNvSpPr txBox="1"/>
          <p:nvPr/>
        </p:nvSpPr>
        <p:spPr>
          <a:xfrm>
            <a:off x="1463040" y="3794760"/>
            <a:ext cx="1618488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it-IT" sz="15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Prezzi IVA esclusa. Le voci «Su richiesta» vengono quotate su specifica esigenza del cliente e confermate in fase d'ordine.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C2C2C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V="1">
            <a:off x="-1402481" y="-2172510"/>
            <a:ext cx="2709713" cy="4345021"/>
          </a:xfrm>
          <a:custGeom>
            <a:avLst/>
            <a:gdLst/>
            <a:ahLst/>
            <a:cxnLst/>
            <a:rect l="l" t="t" r="r" b="b"/>
            <a:pathLst>
              <a:path w="2709713" h="4345021">
                <a:moveTo>
                  <a:pt x="0" y="4345020"/>
                </a:moveTo>
                <a:lnTo>
                  <a:pt x="2709712" y="4345020"/>
                </a:lnTo>
                <a:lnTo>
                  <a:pt x="2709712" y="0"/>
                </a:lnTo>
                <a:lnTo>
                  <a:pt x="0" y="0"/>
                </a:lnTo>
                <a:lnTo>
                  <a:pt x="0" y="434502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 rot="5400000">
            <a:off x="16502346" y="8862019"/>
            <a:ext cx="988790" cy="1304159"/>
          </a:xfrm>
          <a:custGeom>
            <a:avLst/>
            <a:gdLst/>
            <a:ahLst/>
            <a:cxnLst/>
            <a:rect l="l" t="t" r="r" b="b"/>
            <a:pathLst>
              <a:path w="988790" h="1304159">
                <a:moveTo>
                  <a:pt x="0" y="0"/>
                </a:moveTo>
                <a:lnTo>
                  <a:pt x="988790" y="0"/>
                </a:lnTo>
                <a:lnTo>
                  <a:pt x="988790" y="1304159"/>
                </a:lnTo>
                <a:lnTo>
                  <a:pt x="0" y="13041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>
            <a:off x="9144000" y="9254266"/>
            <a:ext cx="1121840" cy="422199"/>
          </a:xfrm>
          <a:custGeom>
            <a:avLst/>
            <a:gdLst/>
            <a:ahLst/>
            <a:cxnLst/>
            <a:rect l="l" t="t" r="r" b="b"/>
            <a:pathLst>
              <a:path w="1121840" h="422199">
                <a:moveTo>
                  <a:pt x="0" y="0"/>
                </a:moveTo>
                <a:lnTo>
                  <a:pt x="1121840" y="0"/>
                </a:lnTo>
                <a:lnTo>
                  <a:pt x="1121840" y="422199"/>
                </a:lnTo>
                <a:lnTo>
                  <a:pt x="0" y="4221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60269" r="-7196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9" name="Freeform 9"/>
          <p:cNvSpPr/>
          <p:nvPr/>
        </p:nvSpPr>
        <p:spPr>
          <a:xfrm>
            <a:off x="15765540" y="294725"/>
            <a:ext cx="2080170" cy="1739830"/>
          </a:xfrm>
          <a:custGeom>
            <a:avLst/>
            <a:gdLst/>
            <a:ahLst/>
            <a:cxnLst/>
            <a:rect l="l" t="t" r="r" b="b"/>
            <a:pathLst>
              <a:path w="2080170" h="1739830">
                <a:moveTo>
                  <a:pt x="0" y="0"/>
                </a:moveTo>
                <a:lnTo>
                  <a:pt x="2080169" y="0"/>
                </a:lnTo>
                <a:lnTo>
                  <a:pt x="2080169" y="1739830"/>
                </a:lnTo>
                <a:lnTo>
                  <a:pt x="0" y="17398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0" name="Freeform 10"/>
          <p:cNvSpPr/>
          <p:nvPr/>
        </p:nvSpPr>
        <p:spPr>
          <a:xfrm>
            <a:off x="612089" y="8596796"/>
            <a:ext cx="4983083" cy="1370348"/>
          </a:xfrm>
          <a:custGeom>
            <a:avLst/>
            <a:gdLst/>
            <a:ahLst/>
            <a:cxnLst/>
            <a:rect l="l" t="t" r="r" b="b"/>
            <a:pathLst>
              <a:path w="4983083" h="1370348">
                <a:moveTo>
                  <a:pt x="0" y="0"/>
                </a:moveTo>
                <a:lnTo>
                  <a:pt x="4983083" y="0"/>
                </a:lnTo>
                <a:lnTo>
                  <a:pt x="4983083" y="1370348"/>
                </a:lnTo>
                <a:lnTo>
                  <a:pt x="0" y="13703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01" name="Titolo 101"/>
          <p:cNvSpPr txBox="1"/>
          <p:nvPr/>
        </p:nvSpPr>
        <p:spPr>
          <a:xfrm>
            <a:off x="1463040" y="320040"/>
            <a:ext cx="123444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it-IT" sz="6000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CONDIZIONI</a:t>
            </a:r>
          </a:p>
        </p:txBody>
      </p:sp>
      <p:sp>
        <p:nvSpPr>
          <p:cNvPr id="102" name="Titolo 102"/>
          <p:cNvSpPr txBox="1"/>
          <p:nvPr/>
        </p:nvSpPr>
        <p:spPr>
          <a:xfrm>
            <a:off x="3337560" y="914400"/>
            <a:ext cx="1188720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it-IT" sz="65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Commerciali</a:t>
            </a:r>
          </a:p>
        </p:txBody>
      </p:sp>
      <p:graphicFrame>
        <p:nvGraphicFramePr>
          <p:cNvPr id="103" name="Tabella 103"/>
          <p:cNvGraphicFramePr>
            <a:graphicFrameLocks noGrp="1"/>
          </p:cNvGraphicFramePr>
          <p:nvPr/>
        </p:nvGraphicFramePr>
        <p:xfrm>
          <a:off x="1463040" y="2331720"/>
          <a:ext cx="9601200" cy="5440680"/>
        </p:xfrm>
        <a:graphic>
          <a:graphicData uri="http://schemas.openxmlformats.org/drawingml/2006/table">
            <a:tbl>
              <a:tblPr firstRow="1" bandRow="1"/>
              <a:tblGrid>
                <a:gridCol w="4206240"/>
                <a:gridCol w="5394960"/>
              </a:tblGrid>
              <a:tr h="7772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it-IT" sz="2000" b="1" dirty="0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Condizione</a:t>
                      </a:r>
                    </a:p>
                  </a:txBody>
                  <a:tcPr marL="182880" marR="182880" marT="54864" marB="54864" anchor="ctr">
                    <a:lnL w="12700">
                      <a:solidFill>
                        <a:srgbClr val="3A3A3A"/>
                      </a:solidFill>
                    </a:lnL>
                    <a:lnR w="12700">
                      <a:solidFill>
                        <a:srgbClr val="3A3A3A"/>
                      </a:solidFill>
                    </a:lnR>
                    <a:lnT w="12700">
                      <a:solidFill>
                        <a:srgbClr val="3A3A3A"/>
                      </a:solidFill>
                    </a:lnT>
                    <a:lnB w="12700">
                      <a:solidFill>
                        <a:srgbClr val="3A3A3A"/>
                      </a:solidFill>
                    </a:lnB>
                    <a:solidFill>
                      <a:srgbClr val="79E9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it-IT" sz="2000" b="1" dirty="0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Dettaglio</a:t>
                      </a:r>
                    </a:p>
                  </a:txBody>
                  <a:tcPr marL="182880" marR="182880" marT="54864" marB="54864" anchor="ctr">
                    <a:lnL w="12700">
                      <a:solidFill>
                        <a:srgbClr val="3A3A3A"/>
                      </a:solidFill>
                    </a:lnL>
                    <a:lnR w="12700">
                      <a:solidFill>
                        <a:srgbClr val="3A3A3A"/>
                      </a:solidFill>
                    </a:lnR>
                    <a:lnT w="12700">
                      <a:solidFill>
                        <a:srgbClr val="3A3A3A"/>
                      </a:solidFill>
                    </a:lnT>
                    <a:lnB w="12700">
                      <a:solidFill>
                        <a:srgbClr val="3A3A3A"/>
                      </a:solidFill>
                    </a:lnB>
                    <a:solidFill>
                      <a:srgbClr val="79E92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it-IT" sz="2000" b="1" dirty="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Resa (Incoterms 2020)</a:t>
                      </a:r>
                    </a:p>
                  </a:txBody>
                  <a:tcPr marL="182880" marR="182880" marT="54864" marB="54864" anchor="ctr">
                    <a:lnL w="12700">
                      <a:solidFill>
                        <a:srgbClr val="3A3A3A"/>
                      </a:solidFill>
                    </a:lnL>
                    <a:lnR w="12700">
                      <a:solidFill>
                        <a:srgbClr val="3A3A3A"/>
                      </a:solidFill>
                    </a:lnR>
                    <a:lnT w="12700">
                      <a:solidFill>
                        <a:srgbClr val="3A3A3A"/>
                      </a:solidFill>
                    </a:lnT>
                    <a:lnB w="12700">
                      <a:solidFill>
                        <a:srgbClr val="3A3A3A"/>
                      </a:solidFill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it-IT" sz="2000" b="1" dirty="0">
                          <a:solidFill>
                            <a:srgbClr val="79E92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{{resa}}</a:t>
                      </a:r>
                    </a:p>
                  </a:txBody>
                  <a:tcPr marL="182880" marR="182880" marT="54864" marB="54864" anchor="ctr">
                    <a:lnL w="12700">
                      <a:solidFill>
                        <a:srgbClr val="3A3A3A"/>
                      </a:solidFill>
                    </a:lnL>
                    <a:lnR w="12700">
                      <a:solidFill>
                        <a:srgbClr val="3A3A3A"/>
                      </a:solidFill>
                    </a:lnR>
                    <a:lnT w="12700">
                      <a:solidFill>
                        <a:srgbClr val="3A3A3A"/>
                      </a:solidFill>
                    </a:lnT>
                    <a:lnB w="12700">
                      <a:solidFill>
                        <a:srgbClr val="3A3A3A"/>
                      </a:solidFill>
                    </a:lnB>
                    <a:solidFill>
                      <a:srgbClr val="26262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it-IT" sz="2000" b="1" dirty="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Valuta</a:t>
                      </a:r>
                    </a:p>
                  </a:txBody>
                  <a:tcPr marL="182880" marR="182880" marT="54864" marB="54864" anchor="ctr">
                    <a:lnL w="12700">
                      <a:solidFill>
                        <a:srgbClr val="3A3A3A"/>
                      </a:solidFill>
                    </a:lnL>
                    <a:lnR w="12700">
                      <a:solidFill>
                        <a:srgbClr val="3A3A3A"/>
                      </a:solidFill>
                    </a:lnR>
                    <a:lnT w="12700">
                      <a:solidFill>
                        <a:srgbClr val="3A3A3A"/>
                      </a:solidFill>
                    </a:lnT>
                    <a:lnB w="12700">
                      <a:solidFill>
                        <a:srgbClr val="3A3A3A"/>
                      </a:solidFill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it-IT" sz="2000" b="1" dirty="0">
                          <a:solidFill>
                            <a:srgbClr val="79E92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EUR (€)</a:t>
                      </a:r>
                    </a:p>
                  </a:txBody>
                  <a:tcPr marL="182880" marR="182880" marT="54864" marB="54864" anchor="ctr">
                    <a:lnL w="12700">
                      <a:solidFill>
                        <a:srgbClr val="3A3A3A"/>
                      </a:solidFill>
                    </a:lnL>
                    <a:lnR w="12700">
                      <a:solidFill>
                        <a:srgbClr val="3A3A3A"/>
                      </a:solidFill>
                    </a:lnR>
                    <a:lnT w="12700">
                      <a:solidFill>
                        <a:srgbClr val="3A3A3A"/>
                      </a:solidFill>
                    </a:lnT>
                    <a:lnB w="12700">
                      <a:solidFill>
                        <a:srgbClr val="3A3A3A"/>
                      </a:solidFill>
                    </a:lnB>
                    <a:solidFill>
                      <a:srgbClr val="1C1C1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it-IT" sz="2000" b="1" dirty="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Prezzi</a:t>
                      </a:r>
                    </a:p>
                  </a:txBody>
                  <a:tcPr marL="182880" marR="182880" marT="54864" marB="54864" anchor="ctr">
                    <a:lnL w="12700">
                      <a:solidFill>
                        <a:srgbClr val="3A3A3A"/>
                      </a:solidFill>
                    </a:lnL>
                    <a:lnR w="12700">
                      <a:solidFill>
                        <a:srgbClr val="3A3A3A"/>
                      </a:solidFill>
                    </a:lnR>
                    <a:lnT w="12700">
                      <a:solidFill>
                        <a:srgbClr val="3A3A3A"/>
                      </a:solidFill>
                    </a:lnT>
                    <a:lnB w="12700">
                      <a:solidFill>
                        <a:srgbClr val="3A3A3A"/>
                      </a:solidFill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it-IT" sz="2000" b="1" dirty="0">
                          <a:solidFill>
                            <a:srgbClr val="79E92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IVA esclusa</a:t>
                      </a:r>
                    </a:p>
                  </a:txBody>
                  <a:tcPr marL="182880" marR="182880" marT="54864" marB="54864" anchor="ctr">
                    <a:lnL w="12700">
                      <a:solidFill>
                        <a:srgbClr val="3A3A3A"/>
                      </a:solidFill>
                    </a:lnL>
                    <a:lnR w="12700">
                      <a:solidFill>
                        <a:srgbClr val="3A3A3A"/>
                      </a:solidFill>
                    </a:lnR>
                    <a:lnT w="12700">
                      <a:solidFill>
                        <a:srgbClr val="3A3A3A"/>
                      </a:solidFill>
                    </a:lnT>
                    <a:lnB w="12700">
                      <a:solidFill>
                        <a:srgbClr val="3A3A3A"/>
                      </a:solidFill>
                    </a:lnB>
                    <a:solidFill>
                      <a:srgbClr val="26262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it-IT" sz="2000" b="1" dirty="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Condizioni di pagamento</a:t>
                      </a:r>
                    </a:p>
                  </a:txBody>
                  <a:tcPr marL="182880" marR="182880" marT="54864" marB="54864" anchor="ctr">
                    <a:lnL w="12700">
                      <a:solidFill>
                        <a:srgbClr val="3A3A3A"/>
                      </a:solidFill>
                    </a:lnL>
                    <a:lnR w="12700">
                      <a:solidFill>
                        <a:srgbClr val="3A3A3A"/>
                      </a:solidFill>
                    </a:lnR>
                    <a:lnT w="12700">
                      <a:solidFill>
                        <a:srgbClr val="3A3A3A"/>
                      </a:solidFill>
                    </a:lnT>
                    <a:lnB w="12700">
                      <a:solidFill>
                        <a:srgbClr val="3A3A3A"/>
                      </a:solidFill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it-IT" sz="2000" b="1" dirty="0">
                          <a:solidFill>
                            <a:srgbClr val="79E92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{{pagamento}}</a:t>
                      </a:r>
                    </a:p>
                  </a:txBody>
                  <a:tcPr marL="182880" marR="182880" marT="54864" marB="54864" anchor="ctr">
                    <a:lnL w="12700">
                      <a:solidFill>
                        <a:srgbClr val="3A3A3A"/>
                      </a:solidFill>
                    </a:lnL>
                    <a:lnR w="12700">
                      <a:solidFill>
                        <a:srgbClr val="3A3A3A"/>
                      </a:solidFill>
                    </a:lnR>
                    <a:lnT w="12700">
                      <a:solidFill>
                        <a:srgbClr val="3A3A3A"/>
                      </a:solidFill>
                    </a:lnT>
                    <a:lnB w="12700">
                      <a:solidFill>
                        <a:srgbClr val="3A3A3A"/>
                      </a:solidFill>
                    </a:lnB>
                    <a:solidFill>
                      <a:srgbClr val="1C1C1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it-IT" sz="2000" b="1" dirty="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Tempi di consegna</a:t>
                      </a:r>
                    </a:p>
                  </a:txBody>
                  <a:tcPr marL="182880" marR="182880" marT="54864" marB="54864" anchor="ctr">
                    <a:lnL w="12700">
                      <a:solidFill>
                        <a:srgbClr val="3A3A3A"/>
                      </a:solidFill>
                    </a:lnL>
                    <a:lnR w="12700">
                      <a:solidFill>
                        <a:srgbClr val="3A3A3A"/>
                      </a:solidFill>
                    </a:lnR>
                    <a:lnT w="12700">
                      <a:solidFill>
                        <a:srgbClr val="3A3A3A"/>
                      </a:solidFill>
                    </a:lnT>
                    <a:lnB w="12700">
                      <a:solidFill>
                        <a:srgbClr val="3A3A3A"/>
                      </a:solidFill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it-IT" sz="2000" b="1" dirty="0">
                          <a:solidFill>
                            <a:srgbClr val="79E92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{{consegna}}</a:t>
                      </a:r>
                    </a:p>
                  </a:txBody>
                  <a:tcPr marL="182880" marR="182880" marT="54864" marB="54864" anchor="ctr">
                    <a:lnL w="12700">
                      <a:solidFill>
                        <a:srgbClr val="3A3A3A"/>
                      </a:solidFill>
                    </a:lnL>
                    <a:lnR w="12700">
                      <a:solidFill>
                        <a:srgbClr val="3A3A3A"/>
                      </a:solidFill>
                    </a:lnR>
                    <a:lnT w="12700">
                      <a:solidFill>
                        <a:srgbClr val="3A3A3A"/>
                      </a:solidFill>
                    </a:lnT>
                    <a:lnB w="12700">
                      <a:solidFill>
                        <a:srgbClr val="3A3A3A"/>
                      </a:solidFill>
                    </a:lnB>
                    <a:solidFill>
                      <a:srgbClr val="26262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it-IT" sz="2000" b="1" dirty="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Validità dell'offerta</a:t>
                      </a:r>
                    </a:p>
                  </a:txBody>
                  <a:tcPr marL="182880" marR="182880" marT="54864" marB="54864" anchor="ctr">
                    <a:lnL w="12700">
                      <a:solidFill>
                        <a:srgbClr val="3A3A3A"/>
                      </a:solidFill>
                    </a:lnL>
                    <a:lnR w="12700">
                      <a:solidFill>
                        <a:srgbClr val="3A3A3A"/>
                      </a:solidFill>
                    </a:lnR>
                    <a:lnT w="12700">
                      <a:solidFill>
                        <a:srgbClr val="3A3A3A"/>
                      </a:solidFill>
                    </a:lnT>
                    <a:lnB w="12700">
                      <a:solidFill>
                        <a:srgbClr val="3A3A3A"/>
                      </a:solidFill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it-IT" sz="2000" b="1" dirty="0">
                          <a:solidFill>
                            <a:srgbClr val="79E92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{{validita}}</a:t>
                      </a:r>
                    </a:p>
                  </a:txBody>
                  <a:tcPr marL="182880" marR="182880" marT="54864" marB="54864" anchor="ctr">
                    <a:lnL w="12700">
                      <a:solidFill>
                        <a:srgbClr val="3A3A3A"/>
                      </a:solidFill>
                    </a:lnL>
                    <a:lnR w="12700">
                      <a:solidFill>
                        <a:srgbClr val="3A3A3A"/>
                      </a:solidFill>
                    </a:lnR>
                    <a:lnT w="12700">
                      <a:solidFill>
                        <a:srgbClr val="3A3A3A"/>
                      </a:solidFill>
                    </a:lnT>
                    <a:lnB w="12700">
                      <a:solidFill>
                        <a:srgbClr val="3A3A3A"/>
                      </a:solidFill>
                    </a:lnB>
                    <a:solidFill>
                      <a:srgbClr val="1C1C1C"/>
                    </a:solidFill>
                  </a:tcPr>
                </a:tc>
              </a:tr>
            </a:tbl>
          </a:graphicData>
        </a:graphic>
      </p:graphicFrame>
      <p:sp>
        <p:nvSpPr>
          <p:cNvPr id="104" name="Scheda 104"/>
          <p:cNvSpPr/>
          <p:nvPr/>
        </p:nvSpPr>
        <p:spPr>
          <a:xfrm>
            <a:off x="11521440" y="2331720"/>
            <a:ext cx="6126480" cy="544068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it-IT"/>
          </a:p>
        </p:txBody>
      </p:sp>
      <p:sp>
        <p:nvSpPr>
          <p:cNvPr id="105" name="Testo 105"/>
          <p:cNvSpPr txBox="1"/>
          <p:nvPr/>
        </p:nvSpPr>
        <p:spPr>
          <a:xfrm>
            <a:off x="11521440" y="2331720"/>
            <a:ext cx="6126480" cy="5440680"/>
          </a:xfrm>
          <a:prstGeom prst="rect">
            <a:avLst/>
          </a:prstGeom>
          <a:noFill/>
          <a:ln>
            <a:noFill/>
          </a:ln>
        </p:spPr>
        <p:txBody>
          <a:bodyPr wrap="square" lIns="320040" tIns="160020" rIns="320040" bIns="160020" rtlCol="0" anchor="t">
            <a:noAutofit/>
          </a:bodyPr>
          <a:lstStyle/>
          <a:p>
            <a:pPr algn="l">
              <a:spcAft>
                <a:spcPts val="1200"/>
              </a:spcAft>
            </a:pPr>
            <a:r>
              <a:rPr lang="it-IT" sz="22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DOCUMENTAZIONE INCLUSA</a:t>
            </a:r>
          </a:p>
          <a:p>
            <a:pPr algn="l" marL="342900" indent="-342900">
              <a:spcAft>
                <a:spcPts val="900"/>
              </a:spcAft>
              <a:buClr>
                <a:srgbClr val="79E920"/>
              </a:buClr>
              <a:buFont typeface="Arial"/>
              <a:buChar char="•"/>
            </a:pPr>
            <a:r>
              <a:rPr lang="it-IT" sz="2000" b="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Calcolo strutturale con verifica al vento NTC 2018</a:t>
            </a:r>
          </a:p>
          <a:p>
            <a:pPr algn="l" marL="342900" indent="-342900">
              <a:spcAft>
                <a:spcPts val="900"/>
              </a:spcAft>
              <a:buClr>
                <a:srgbClr val="79E920"/>
              </a:buClr>
              <a:buFont typeface="Arial"/>
              <a:buChar char="•"/>
            </a:pPr>
            <a:r>
              <a:rPr lang="it-IT" sz="2000" b="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Certificazione CE EN 1090</a:t>
            </a:r>
          </a:p>
          <a:p>
            <a:pPr algn="l" marL="342900" indent="-342900">
              <a:spcAft>
                <a:spcPts val="900"/>
              </a:spcAft>
              <a:buClr>
                <a:srgbClr val="79E920"/>
              </a:buClr>
              <a:buFont typeface="Arial"/>
              <a:buChar char="•"/>
            </a:pPr>
            <a:r>
              <a:rPr lang="it-IT" sz="2000" b="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Esecutivi della struttura</a:t>
            </a:r>
          </a:p>
          <a:p>
            <a:pPr algn="l" marL="342900" indent="-342900">
              <a:spcAft>
                <a:spcPts val="900"/>
              </a:spcAft>
              <a:buClr>
                <a:srgbClr val="79E920"/>
              </a:buClr>
              <a:buFont typeface="Arial"/>
              <a:buChar char="•"/>
            </a:pPr>
            <a:r>
              <a:rPr lang="it-IT" sz="2000" b="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Layout esecutivo dell'impianto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C2C2C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V="1">
            <a:off x="-1402481" y="-2172510"/>
            <a:ext cx="2709713" cy="4345021"/>
          </a:xfrm>
          <a:custGeom>
            <a:avLst/>
            <a:gdLst/>
            <a:ahLst/>
            <a:cxnLst/>
            <a:rect l="l" t="t" r="r" b="b"/>
            <a:pathLst>
              <a:path w="2709713" h="4345021">
                <a:moveTo>
                  <a:pt x="0" y="4345020"/>
                </a:moveTo>
                <a:lnTo>
                  <a:pt x="2709712" y="4345020"/>
                </a:lnTo>
                <a:lnTo>
                  <a:pt x="2709712" y="0"/>
                </a:lnTo>
                <a:lnTo>
                  <a:pt x="0" y="0"/>
                </a:lnTo>
                <a:lnTo>
                  <a:pt x="0" y="434502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 rot="5400000">
            <a:off x="16502346" y="8862019"/>
            <a:ext cx="988790" cy="1304159"/>
          </a:xfrm>
          <a:custGeom>
            <a:avLst/>
            <a:gdLst/>
            <a:ahLst/>
            <a:cxnLst/>
            <a:rect l="l" t="t" r="r" b="b"/>
            <a:pathLst>
              <a:path w="988790" h="1304159">
                <a:moveTo>
                  <a:pt x="0" y="0"/>
                </a:moveTo>
                <a:lnTo>
                  <a:pt x="988790" y="0"/>
                </a:lnTo>
                <a:lnTo>
                  <a:pt x="988790" y="1304159"/>
                </a:lnTo>
                <a:lnTo>
                  <a:pt x="0" y="13041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>
            <a:off x="9144000" y="9254266"/>
            <a:ext cx="1121840" cy="422199"/>
          </a:xfrm>
          <a:custGeom>
            <a:avLst/>
            <a:gdLst/>
            <a:ahLst/>
            <a:cxnLst/>
            <a:rect l="l" t="t" r="r" b="b"/>
            <a:pathLst>
              <a:path w="1121840" h="422199">
                <a:moveTo>
                  <a:pt x="0" y="0"/>
                </a:moveTo>
                <a:lnTo>
                  <a:pt x="1121840" y="0"/>
                </a:lnTo>
                <a:lnTo>
                  <a:pt x="1121840" y="422199"/>
                </a:lnTo>
                <a:lnTo>
                  <a:pt x="0" y="4221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60269" r="-7196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9" name="Freeform 9"/>
          <p:cNvSpPr/>
          <p:nvPr/>
        </p:nvSpPr>
        <p:spPr>
          <a:xfrm>
            <a:off x="15765540" y="294725"/>
            <a:ext cx="2080170" cy="1739830"/>
          </a:xfrm>
          <a:custGeom>
            <a:avLst/>
            <a:gdLst/>
            <a:ahLst/>
            <a:cxnLst/>
            <a:rect l="l" t="t" r="r" b="b"/>
            <a:pathLst>
              <a:path w="2080170" h="1739830">
                <a:moveTo>
                  <a:pt x="0" y="0"/>
                </a:moveTo>
                <a:lnTo>
                  <a:pt x="2080169" y="0"/>
                </a:lnTo>
                <a:lnTo>
                  <a:pt x="2080169" y="1739830"/>
                </a:lnTo>
                <a:lnTo>
                  <a:pt x="0" y="17398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0" name="Freeform 10"/>
          <p:cNvSpPr/>
          <p:nvPr/>
        </p:nvSpPr>
        <p:spPr>
          <a:xfrm>
            <a:off x="612089" y="8596796"/>
            <a:ext cx="4983083" cy="1370348"/>
          </a:xfrm>
          <a:custGeom>
            <a:avLst/>
            <a:gdLst/>
            <a:ahLst/>
            <a:cxnLst/>
            <a:rect l="l" t="t" r="r" b="b"/>
            <a:pathLst>
              <a:path w="4983083" h="1370348">
                <a:moveTo>
                  <a:pt x="0" y="0"/>
                </a:moveTo>
                <a:lnTo>
                  <a:pt x="4983083" y="0"/>
                </a:lnTo>
                <a:lnTo>
                  <a:pt x="4983083" y="1370348"/>
                </a:lnTo>
                <a:lnTo>
                  <a:pt x="0" y="13703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01" name="Titolo 101"/>
          <p:cNvSpPr txBox="1"/>
          <p:nvPr/>
        </p:nvSpPr>
        <p:spPr>
          <a:xfrm>
            <a:off x="1463040" y="320040"/>
            <a:ext cx="123444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it-IT" sz="6000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GARANZIE</a:t>
            </a:r>
          </a:p>
        </p:txBody>
      </p:sp>
      <p:sp>
        <p:nvSpPr>
          <p:cNvPr id="102" name="Titolo 102"/>
          <p:cNvSpPr txBox="1"/>
          <p:nvPr/>
        </p:nvSpPr>
        <p:spPr>
          <a:xfrm>
            <a:off x="3337560" y="914400"/>
            <a:ext cx="1188720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it-IT" sz="65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 certificazioni</a:t>
            </a:r>
          </a:p>
        </p:txBody>
      </p:sp>
      <p:sp>
        <p:nvSpPr>
          <p:cNvPr id="103" name="Scheda 103"/>
          <p:cNvSpPr/>
          <p:nvPr/>
        </p:nvSpPr>
        <p:spPr>
          <a:xfrm>
            <a:off x="1463040" y="2377440"/>
            <a:ext cx="5166360" cy="384048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it-IT"/>
          </a:p>
        </p:txBody>
      </p:sp>
      <p:sp>
        <p:nvSpPr>
          <p:cNvPr id="104" name="Testo 104"/>
          <p:cNvSpPr txBox="1"/>
          <p:nvPr/>
        </p:nvSpPr>
        <p:spPr>
          <a:xfrm>
            <a:off x="1463040" y="2377440"/>
            <a:ext cx="5166360" cy="3840480"/>
          </a:xfrm>
          <a:prstGeom prst="rect">
            <a:avLst/>
          </a:prstGeom>
          <a:noFill/>
          <a:ln>
            <a:noFill/>
          </a:ln>
        </p:spPr>
        <p:txBody>
          <a:bodyPr wrap="square" lIns="320040" tIns="160020" rIns="320040" bIns="16002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it-IT" sz="96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{{anni_garanzia_struttura}}</a:t>
            </a:r>
          </a:p>
          <a:p>
            <a:pPr algn="ctr">
              <a:spcAft>
                <a:spcPts val="900"/>
              </a:spcAft>
            </a:pPr>
            <a:r>
              <a:rPr lang="it-IT" sz="3200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ANNI</a:t>
            </a:r>
          </a:p>
          <a:p>
            <a:pPr algn="ctr">
              <a:spcAft>
                <a:spcPts val="0"/>
              </a:spcAft>
            </a:pPr>
            <a:r>
              <a:rPr lang="it-IT" sz="2000" b="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 garanzia su struttura e componenti forniti da Terranova</a:t>
            </a:r>
          </a:p>
        </p:txBody>
      </p:sp>
      <p:sp>
        <p:nvSpPr>
          <p:cNvPr id="105" name="Scheda 105"/>
          <p:cNvSpPr/>
          <p:nvPr/>
        </p:nvSpPr>
        <p:spPr>
          <a:xfrm>
            <a:off x="6903720" y="2377440"/>
            <a:ext cx="5166360" cy="384048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it-IT"/>
          </a:p>
        </p:txBody>
      </p:sp>
      <p:sp>
        <p:nvSpPr>
          <p:cNvPr id="106" name="Testo 106"/>
          <p:cNvSpPr txBox="1"/>
          <p:nvPr/>
        </p:nvSpPr>
        <p:spPr>
          <a:xfrm>
            <a:off x="6903720" y="2377440"/>
            <a:ext cx="5166360" cy="3840480"/>
          </a:xfrm>
          <a:prstGeom prst="rect">
            <a:avLst/>
          </a:prstGeom>
          <a:noFill/>
          <a:ln>
            <a:noFill/>
          </a:ln>
        </p:spPr>
        <p:txBody>
          <a:bodyPr wrap="square" lIns="320040" tIns="160020" rIns="320040" bIns="16002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it-IT" sz="96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{{anni_garanzia_commerciali}}</a:t>
            </a:r>
          </a:p>
          <a:p>
            <a:pPr algn="ctr">
              <a:spcAft>
                <a:spcPts val="900"/>
              </a:spcAft>
            </a:pPr>
            <a:r>
              <a:rPr lang="it-IT" sz="3200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ANNI</a:t>
            </a:r>
          </a:p>
          <a:p>
            <a:pPr algn="ctr">
              <a:spcAft>
                <a:spcPts val="0"/>
              </a:spcAft>
            </a:pPr>
            <a:r>
              <a:rPr lang="it-IT" sz="2000" b="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 garanzia sui componenti commerciali</a:t>
            </a:r>
          </a:p>
        </p:txBody>
      </p:sp>
      <p:sp>
        <p:nvSpPr>
          <p:cNvPr id="107" name="Scheda 107"/>
          <p:cNvSpPr/>
          <p:nvPr/>
        </p:nvSpPr>
        <p:spPr>
          <a:xfrm>
            <a:off x="12344400" y="2377440"/>
            <a:ext cx="5166360" cy="384048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it-IT"/>
          </a:p>
        </p:txBody>
      </p:sp>
      <p:sp>
        <p:nvSpPr>
          <p:cNvPr id="108" name="Testo 108"/>
          <p:cNvSpPr txBox="1"/>
          <p:nvPr/>
        </p:nvSpPr>
        <p:spPr>
          <a:xfrm>
            <a:off x="12344400" y="2377440"/>
            <a:ext cx="5166360" cy="3840480"/>
          </a:xfrm>
          <a:prstGeom prst="rect">
            <a:avLst/>
          </a:prstGeom>
          <a:noFill/>
          <a:ln>
            <a:noFill/>
          </a:ln>
        </p:spPr>
        <p:txBody>
          <a:bodyPr wrap="square" lIns="320040" tIns="160020" rIns="320040" bIns="16002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it-IT" sz="96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{{anni_assistenza_gratuita}}</a:t>
            </a:r>
          </a:p>
          <a:p>
            <a:pPr algn="ctr">
              <a:spcAft>
                <a:spcPts val="900"/>
              </a:spcAft>
            </a:pPr>
            <a:r>
              <a:rPr lang="it-IT" sz="3200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ANNI</a:t>
            </a:r>
          </a:p>
          <a:p>
            <a:pPr algn="ctr">
              <a:spcAft>
                <a:spcPts val="0"/>
              </a:spcAft>
            </a:pPr>
            <a:r>
              <a:rPr lang="it-IT" sz="2000" b="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 assistenza tecnica gratuita</a:t>
            </a:r>
          </a:p>
        </p:txBody>
      </p:sp>
      <p:sp>
        <p:nvSpPr>
          <p:cNvPr id="109" name="Testo 109"/>
          <p:cNvSpPr/>
          <p:nvPr/>
        </p:nvSpPr>
        <p:spPr>
          <a:xfrm>
            <a:off x="6035040" y="6675120"/>
            <a:ext cx="11612880" cy="1463040"/>
          </a:xfrm>
          <a:prstGeom prst="roundRect">
            <a:avLst>
              <a:gd name="adj" fmla="val 50000"/>
            </a:avLst>
          </a:prstGeom>
          <a:solidFill>
            <a:srgbClr val="79E92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lang="it-IT" sz="20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CERTIFICAZIONI</a:t>
            </a:r>
          </a:p>
          <a:p>
            <a:pPr algn="ctr">
              <a:spcAft>
                <a:spcPts val="0"/>
              </a:spcAft>
            </a:pPr>
            <a:r>
              <a:rPr lang="it-IT" sz="26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CE EN 1090 · calcolo strutturale secondo NTC 2018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C2C2C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V="1">
            <a:off x="-1402481" y="-2172510"/>
            <a:ext cx="2709713" cy="4345021"/>
          </a:xfrm>
          <a:custGeom>
            <a:avLst/>
            <a:gdLst/>
            <a:ahLst/>
            <a:cxnLst/>
            <a:rect l="l" t="t" r="r" b="b"/>
            <a:pathLst>
              <a:path w="2709713" h="4345021">
                <a:moveTo>
                  <a:pt x="0" y="4345020"/>
                </a:moveTo>
                <a:lnTo>
                  <a:pt x="2709712" y="4345020"/>
                </a:lnTo>
                <a:lnTo>
                  <a:pt x="2709712" y="0"/>
                </a:lnTo>
                <a:lnTo>
                  <a:pt x="0" y="0"/>
                </a:lnTo>
                <a:lnTo>
                  <a:pt x="0" y="434502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 rot="5400000">
            <a:off x="16502346" y="8862019"/>
            <a:ext cx="988790" cy="1304159"/>
          </a:xfrm>
          <a:custGeom>
            <a:avLst/>
            <a:gdLst/>
            <a:ahLst/>
            <a:cxnLst/>
            <a:rect l="l" t="t" r="r" b="b"/>
            <a:pathLst>
              <a:path w="988790" h="1304159">
                <a:moveTo>
                  <a:pt x="0" y="0"/>
                </a:moveTo>
                <a:lnTo>
                  <a:pt x="988790" y="0"/>
                </a:lnTo>
                <a:lnTo>
                  <a:pt x="988790" y="1304159"/>
                </a:lnTo>
                <a:lnTo>
                  <a:pt x="0" y="13041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>
            <a:off x="9144000" y="9254266"/>
            <a:ext cx="1121840" cy="422199"/>
          </a:xfrm>
          <a:custGeom>
            <a:avLst/>
            <a:gdLst/>
            <a:ahLst/>
            <a:cxnLst/>
            <a:rect l="l" t="t" r="r" b="b"/>
            <a:pathLst>
              <a:path w="1121840" h="422199">
                <a:moveTo>
                  <a:pt x="0" y="0"/>
                </a:moveTo>
                <a:lnTo>
                  <a:pt x="1121840" y="0"/>
                </a:lnTo>
                <a:lnTo>
                  <a:pt x="1121840" y="422199"/>
                </a:lnTo>
                <a:lnTo>
                  <a:pt x="0" y="4221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60269" r="-7196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9" name="Freeform 9"/>
          <p:cNvSpPr/>
          <p:nvPr/>
        </p:nvSpPr>
        <p:spPr>
          <a:xfrm>
            <a:off x="15765540" y="294725"/>
            <a:ext cx="2080170" cy="1739830"/>
          </a:xfrm>
          <a:custGeom>
            <a:avLst/>
            <a:gdLst/>
            <a:ahLst/>
            <a:cxnLst/>
            <a:rect l="l" t="t" r="r" b="b"/>
            <a:pathLst>
              <a:path w="2080170" h="1739830">
                <a:moveTo>
                  <a:pt x="0" y="0"/>
                </a:moveTo>
                <a:lnTo>
                  <a:pt x="2080169" y="0"/>
                </a:lnTo>
                <a:lnTo>
                  <a:pt x="2080169" y="1739830"/>
                </a:lnTo>
                <a:lnTo>
                  <a:pt x="0" y="17398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0" name="Freeform 10"/>
          <p:cNvSpPr/>
          <p:nvPr/>
        </p:nvSpPr>
        <p:spPr>
          <a:xfrm>
            <a:off x="612089" y="8596796"/>
            <a:ext cx="4983083" cy="1370348"/>
          </a:xfrm>
          <a:custGeom>
            <a:avLst/>
            <a:gdLst/>
            <a:ahLst/>
            <a:cxnLst/>
            <a:rect l="l" t="t" r="r" b="b"/>
            <a:pathLst>
              <a:path w="4983083" h="1370348">
                <a:moveTo>
                  <a:pt x="0" y="0"/>
                </a:moveTo>
                <a:lnTo>
                  <a:pt x="4983083" y="0"/>
                </a:lnTo>
                <a:lnTo>
                  <a:pt x="4983083" y="1370348"/>
                </a:lnTo>
                <a:lnTo>
                  <a:pt x="0" y="13703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01" name="Titolo 101"/>
          <p:cNvSpPr txBox="1"/>
          <p:nvPr/>
        </p:nvSpPr>
        <p:spPr>
          <a:xfrm>
            <a:off x="1463040" y="320040"/>
            <a:ext cx="123444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it-IT" sz="6000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SOLUZIONE</a:t>
            </a:r>
          </a:p>
        </p:txBody>
      </p:sp>
      <p:sp>
        <p:nvSpPr>
          <p:cNvPr id="102" name="Titolo 102"/>
          <p:cNvSpPr txBox="1"/>
          <p:nvPr/>
        </p:nvSpPr>
        <p:spPr>
          <a:xfrm>
            <a:off x="3337560" y="914400"/>
            <a:ext cx="1188720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it-IT" sz="65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Proposta</a:t>
            </a:r>
          </a:p>
        </p:txBody>
      </p:sp>
      <p:sp>
        <p:nvSpPr>
          <p:cNvPr id="103" name="Scheda 103"/>
          <p:cNvSpPr/>
          <p:nvPr/>
        </p:nvSpPr>
        <p:spPr>
          <a:xfrm>
            <a:off x="1463040" y="2240280"/>
            <a:ext cx="3886200" cy="16002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it-IT"/>
          </a:p>
        </p:txBody>
      </p:sp>
      <p:sp>
        <p:nvSpPr>
          <p:cNvPr id="104" name="Testo 104"/>
          <p:cNvSpPr txBox="1"/>
          <p:nvPr/>
        </p:nvSpPr>
        <p:spPr>
          <a:xfrm>
            <a:off x="1463040" y="2240280"/>
            <a:ext cx="3886200" cy="16002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91440" rIns="182880" bIns="9144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it-IT" sz="44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{{n_strutture}}</a:t>
            </a:r>
          </a:p>
          <a:p>
            <a:pPr algn="ctr">
              <a:spcAft>
                <a:spcPts val="0"/>
              </a:spcAft>
            </a:pPr>
            <a:r>
              <a:rPr lang="it-IT" sz="18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Strutture totali</a:t>
            </a:r>
          </a:p>
        </p:txBody>
      </p:sp>
      <p:sp>
        <p:nvSpPr>
          <p:cNvPr id="105" name="Scheda 105"/>
          <p:cNvSpPr/>
          <p:nvPr/>
        </p:nvSpPr>
        <p:spPr>
          <a:xfrm>
            <a:off x="5532120" y="2240280"/>
            <a:ext cx="3886200" cy="16002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it-IT"/>
          </a:p>
        </p:txBody>
      </p:sp>
      <p:sp>
        <p:nvSpPr>
          <p:cNvPr id="106" name="Testo 106"/>
          <p:cNvSpPr txBox="1"/>
          <p:nvPr/>
        </p:nvSpPr>
        <p:spPr>
          <a:xfrm>
            <a:off x="5532120" y="2240280"/>
            <a:ext cx="3886200" cy="16002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91440" rIns="182880" bIns="9144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it-IT" sz="44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{{moduli_totali}}</a:t>
            </a:r>
          </a:p>
          <a:p>
            <a:pPr algn="ctr">
              <a:spcAft>
                <a:spcPts val="0"/>
              </a:spcAft>
            </a:pPr>
            <a:r>
              <a:rPr lang="it-IT" sz="18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Moduli fotovoltaici</a:t>
            </a:r>
          </a:p>
        </p:txBody>
      </p:sp>
      <p:sp>
        <p:nvSpPr>
          <p:cNvPr id="107" name="Scheda 107"/>
          <p:cNvSpPr/>
          <p:nvPr/>
        </p:nvSpPr>
        <p:spPr>
          <a:xfrm>
            <a:off x="9601200" y="2240280"/>
            <a:ext cx="3886200" cy="16002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it-IT"/>
          </a:p>
        </p:txBody>
      </p:sp>
      <p:sp>
        <p:nvSpPr>
          <p:cNvPr id="108" name="Testo 108"/>
          <p:cNvSpPr txBox="1"/>
          <p:nvPr/>
        </p:nvSpPr>
        <p:spPr>
          <a:xfrm>
            <a:off x="9601200" y="2240280"/>
            <a:ext cx="3886200" cy="16002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91440" rIns="182880" bIns="9144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it-IT" sz="44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{{potenza_kwp}}</a:t>
            </a:r>
          </a:p>
          <a:p>
            <a:pPr algn="ctr">
              <a:spcAft>
                <a:spcPts val="0"/>
              </a:spcAft>
            </a:pPr>
            <a:r>
              <a:rPr lang="it-IT" sz="18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kWp potenza complessiva</a:t>
            </a:r>
          </a:p>
        </p:txBody>
      </p:sp>
      <p:sp>
        <p:nvSpPr>
          <p:cNvPr id="109" name="Scheda 109"/>
          <p:cNvSpPr/>
          <p:nvPr/>
        </p:nvSpPr>
        <p:spPr>
          <a:xfrm>
            <a:off x="13670280" y="2240280"/>
            <a:ext cx="3886200" cy="16002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it-IT"/>
          </a:p>
        </p:txBody>
      </p:sp>
      <p:sp>
        <p:nvSpPr>
          <p:cNvPr id="110" name="Testo 110"/>
          <p:cNvSpPr txBox="1"/>
          <p:nvPr/>
        </p:nvSpPr>
        <p:spPr>
          <a:xfrm>
            <a:off x="13670280" y="2240280"/>
            <a:ext cx="3886200" cy="16002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91440" rIns="182880" bIns="9144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it-IT" sz="44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{{potenza_modulo_w}} Wp</a:t>
            </a:r>
          </a:p>
          <a:p>
            <a:pPr algn="ctr">
              <a:spcAft>
                <a:spcPts val="0"/>
              </a:spcAft>
            </a:pPr>
            <a:r>
              <a:rPr lang="it-IT" sz="18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Potenza modulo</a:t>
            </a:r>
          </a:p>
        </p:txBody>
      </p:sp>
      <p:sp>
        <p:nvSpPr>
          <p:cNvPr id="111" name="Testo 111"/>
          <p:cNvSpPr txBox="1"/>
          <p:nvPr/>
        </p:nvSpPr>
        <p:spPr>
          <a:xfrm>
            <a:off x="1463040" y="4023360"/>
            <a:ext cx="161848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it-IT" sz="20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Tipo di struttura: </a:t>
            </a:r>
            <a:r>
              <a:rPr lang="it-IT" sz="20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{{tipo_struttura}}</a:t>
            </a:r>
            <a:r>
              <a:rPr lang="it-IT" sz="20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   ·   Inclinazione: </a:t>
            </a:r>
            <a:r>
              <a:rPr lang="it-IT" sz="20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{{inclinazione}}°</a:t>
            </a:r>
            <a:r>
              <a:rPr lang="it-IT" sz="20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   ·   File di moduli: </a:t>
            </a:r>
            <a:r>
              <a:rPr lang="it-IT" sz="20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{{file_verticali}} in verticale</a:t>
            </a:r>
          </a:p>
        </p:txBody>
      </p:sp>
      <p:sp>
        <p:nvSpPr>
          <p:cNvPr id="112" name="Intestazione 112"/>
          <p:cNvSpPr/>
          <p:nvPr/>
        </p:nvSpPr>
        <p:spPr>
          <a:xfrm>
            <a:off x="1463040" y="4709160"/>
            <a:ext cx="3566160" cy="548640"/>
          </a:xfrm>
          <a:prstGeom prst="rect">
            <a:avLst/>
          </a:prstGeom>
          <a:solidFill>
            <a:srgbClr val="79E920"/>
          </a:solidFill>
          <a:ln>
            <a:noFill/>
          </a:ln>
        </p:spPr>
        <p:txBody>
          <a:bodyPr wrap="square" lIns="137160" tIns="68580" rIns="137160" bIns="68580" rtlCol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it-IT" sz="17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Configurazione</a:t>
            </a:r>
          </a:p>
        </p:txBody>
      </p:sp>
      <p:sp>
        <p:nvSpPr>
          <p:cNvPr id="113" name="Intestazione 113"/>
          <p:cNvSpPr/>
          <p:nvPr/>
        </p:nvSpPr>
        <p:spPr>
          <a:xfrm>
            <a:off x="5029200" y="4709160"/>
            <a:ext cx="2377440" cy="548640"/>
          </a:xfrm>
          <a:prstGeom prst="rect">
            <a:avLst/>
          </a:prstGeom>
          <a:solidFill>
            <a:srgbClr val="79E920"/>
          </a:solidFill>
          <a:ln>
            <a:noFill/>
          </a:ln>
        </p:spPr>
        <p:txBody>
          <a:bodyPr wrap="square" lIns="137160" tIns="68580" rIns="137160" bIns="6858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it-IT" sz="17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Moduli/struttura</a:t>
            </a:r>
          </a:p>
        </p:txBody>
      </p:sp>
      <p:sp>
        <p:nvSpPr>
          <p:cNvPr id="114" name="Intestazione 114"/>
          <p:cNvSpPr/>
          <p:nvPr/>
        </p:nvSpPr>
        <p:spPr>
          <a:xfrm>
            <a:off x="7406640" y="4709160"/>
            <a:ext cx="2651760" cy="548640"/>
          </a:xfrm>
          <a:prstGeom prst="rect">
            <a:avLst/>
          </a:prstGeom>
          <a:solidFill>
            <a:srgbClr val="79E920"/>
          </a:solidFill>
          <a:ln>
            <a:noFill/>
          </a:ln>
        </p:spPr>
        <p:txBody>
          <a:bodyPr wrap="square" lIns="137160" tIns="68580" rIns="137160" bIns="6858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it-IT" sz="17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Potenza/struttura</a:t>
            </a:r>
          </a:p>
        </p:txBody>
      </p:sp>
      <p:sp>
        <p:nvSpPr>
          <p:cNvPr id="115" name="Intestazione 115"/>
          <p:cNvSpPr/>
          <p:nvPr/>
        </p:nvSpPr>
        <p:spPr>
          <a:xfrm>
            <a:off x="10058400" y="4709160"/>
            <a:ext cx="2651760" cy="548640"/>
          </a:xfrm>
          <a:prstGeom prst="rect">
            <a:avLst/>
          </a:prstGeom>
          <a:solidFill>
            <a:srgbClr val="79E920"/>
          </a:solidFill>
          <a:ln>
            <a:noFill/>
          </a:ln>
        </p:spPr>
        <p:txBody>
          <a:bodyPr wrap="square" lIns="137160" tIns="68580" rIns="137160" bIns="6858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it-IT" sz="17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Campate · telai</a:t>
            </a:r>
          </a:p>
        </p:txBody>
      </p:sp>
      <p:sp>
        <p:nvSpPr>
          <p:cNvPr id="116" name="Intestazione 116"/>
          <p:cNvSpPr/>
          <p:nvPr/>
        </p:nvSpPr>
        <p:spPr>
          <a:xfrm>
            <a:off x="12710160" y="4709160"/>
            <a:ext cx="2194560" cy="548640"/>
          </a:xfrm>
          <a:prstGeom prst="rect">
            <a:avLst/>
          </a:prstGeom>
          <a:solidFill>
            <a:srgbClr val="79E920"/>
          </a:solidFill>
          <a:ln>
            <a:noFill/>
          </a:ln>
        </p:spPr>
        <p:txBody>
          <a:bodyPr wrap="square" lIns="137160" tIns="68580" rIns="137160" bIns="6858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it-IT" sz="17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N. strutture</a:t>
            </a:r>
          </a:p>
        </p:txBody>
      </p:sp>
      <p:sp>
        <p:nvSpPr>
          <p:cNvPr id="117" name="Intestazione 117"/>
          <p:cNvSpPr/>
          <p:nvPr/>
        </p:nvSpPr>
        <p:spPr>
          <a:xfrm>
            <a:off x="14904720" y="4709160"/>
            <a:ext cx="2743200" cy="548640"/>
          </a:xfrm>
          <a:prstGeom prst="rect">
            <a:avLst/>
          </a:prstGeom>
          <a:solidFill>
            <a:srgbClr val="79E920"/>
          </a:solidFill>
          <a:ln>
            <a:noFill/>
          </a:ln>
        </p:spPr>
        <p:txBody>
          <a:bodyPr wrap="square" lIns="137160" tIns="68580" rIns="137160" bIns="6858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it-IT" sz="17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Potenza totale</a:t>
            </a:r>
          </a:p>
        </p:txBody>
      </p:sp>
      <p:sp>
        <p:nvSpPr>
          <p:cNvPr id="118" name="Fondo riga 118" descr="{{#configurazione:alterna}}"/>
          <p:cNvSpPr/>
          <p:nvPr/>
        </p:nvSpPr>
        <p:spPr>
          <a:xfrm>
            <a:off x="1463040" y="5257800"/>
            <a:ext cx="16184880" cy="5486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it-IT"/>
          </a:p>
        </p:txBody>
      </p:sp>
      <p:sp>
        <p:nvSpPr>
          <p:cNvPr id="119" name="Passo riga 119" descr="{{#configurazione}}"/>
          <p:cNvSpPr txBox="1"/>
          <p:nvPr/>
        </p:nvSpPr>
        <p:spPr>
          <a:xfrm>
            <a:off x="1463040" y="5257800"/>
            <a:ext cx="161848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it-IT"/>
          </a:p>
        </p:txBody>
      </p:sp>
      <p:sp>
        <p:nvSpPr>
          <p:cNvPr id="120" name="Cella 120" descr="{{#configurazione}}"/>
          <p:cNvSpPr txBox="1"/>
          <p:nvPr/>
        </p:nvSpPr>
        <p:spPr>
          <a:xfrm>
            <a:off x="1463040" y="5257800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68580" rIns="137160" bIns="68580" rtlCol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it-IT" sz="18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SOLAR MAX.{{moduli}}</a:t>
            </a:r>
          </a:p>
        </p:txBody>
      </p:sp>
      <p:sp>
        <p:nvSpPr>
          <p:cNvPr id="121" name="Cella 121" descr="{{#configurazione}}"/>
          <p:cNvSpPr txBox="1"/>
          <p:nvPr/>
        </p:nvSpPr>
        <p:spPr>
          <a:xfrm>
            <a:off x="5029200" y="525780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68580" rIns="137160" bIns="6858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it-IT" sz="1800" b="1" dirty="0">
                <a:solidFill>
                  <a:srgbClr val="79E9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{{moduli}}</a:t>
            </a:r>
          </a:p>
        </p:txBody>
      </p:sp>
      <p:sp>
        <p:nvSpPr>
          <p:cNvPr id="122" name="Cella 122" descr="{{#configurazione}}"/>
          <p:cNvSpPr txBox="1"/>
          <p:nvPr/>
        </p:nvSpPr>
        <p:spPr>
          <a:xfrm>
            <a:off x="7406640" y="5257800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68580" rIns="137160" bIns="6858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it-IT" sz="1800" b="1" dirty="0">
                <a:solidFill>
                  <a:srgbClr val="79E9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{{potenza_struttura}} kWp</a:t>
            </a:r>
          </a:p>
        </p:txBody>
      </p:sp>
      <p:sp>
        <p:nvSpPr>
          <p:cNvPr id="123" name="Cella 123" descr="{{#configurazione}}"/>
          <p:cNvSpPr txBox="1"/>
          <p:nvPr/>
        </p:nvSpPr>
        <p:spPr>
          <a:xfrm>
            <a:off x="10058400" y="5257800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68580" rIns="137160" bIns="6858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it-IT" sz="1800" b="1" dirty="0">
                <a:solidFill>
                  <a:srgbClr val="79E9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{{campate}} · {{telai}}</a:t>
            </a:r>
          </a:p>
        </p:txBody>
      </p:sp>
      <p:sp>
        <p:nvSpPr>
          <p:cNvPr id="124" name="Cella 124" descr="{{#configurazione}}"/>
          <p:cNvSpPr txBox="1"/>
          <p:nvPr/>
        </p:nvSpPr>
        <p:spPr>
          <a:xfrm>
            <a:off x="12710160" y="525780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68580" rIns="137160" bIns="6858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it-IT" sz="1800" b="1" dirty="0">
                <a:solidFill>
                  <a:srgbClr val="79E9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{{quantita}}</a:t>
            </a:r>
          </a:p>
        </p:txBody>
      </p:sp>
      <p:sp>
        <p:nvSpPr>
          <p:cNvPr id="125" name="Cella 125" descr="{{#configurazione}}"/>
          <p:cNvSpPr txBox="1"/>
          <p:nvPr/>
        </p:nvSpPr>
        <p:spPr>
          <a:xfrm>
            <a:off x="14904720" y="525780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68580" rIns="137160" bIns="6858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it-IT" sz="1800" b="1" dirty="0">
                <a:solidFill>
                  <a:srgbClr val="79E9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{{potenza_riga}} kWp</a:t>
            </a:r>
          </a:p>
        </p:txBody>
      </p:sp>
      <p:sp>
        <p:nvSpPr>
          <p:cNvPr id="126" name="Totale 126" descr="{{segue:configurazione}}"/>
          <p:cNvSpPr/>
          <p:nvPr/>
        </p:nvSpPr>
        <p:spPr>
          <a:xfrm>
            <a:off x="1463040" y="5806440"/>
            <a:ext cx="3566160" cy="548640"/>
          </a:xfrm>
          <a:prstGeom prst="rect">
            <a:avLst/>
          </a:prstGeom>
          <a:solidFill>
            <a:srgbClr val="79E920"/>
          </a:solidFill>
          <a:ln>
            <a:noFill/>
          </a:ln>
        </p:spPr>
        <p:txBody>
          <a:bodyPr wrap="square" lIns="137160" tIns="68580" rIns="137160" bIns="68580" rtlCol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it-IT" sz="18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Totale impianto</a:t>
            </a:r>
          </a:p>
        </p:txBody>
      </p:sp>
      <p:sp>
        <p:nvSpPr>
          <p:cNvPr id="127" name="Totale 127" descr="{{segue:configurazione}}"/>
          <p:cNvSpPr/>
          <p:nvPr/>
        </p:nvSpPr>
        <p:spPr>
          <a:xfrm>
            <a:off x="5029200" y="5806440"/>
            <a:ext cx="2377440" cy="548640"/>
          </a:xfrm>
          <a:prstGeom prst="rect">
            <a:avLst/>
          </a:prstGeom>
          <a:solidFill>
            <a:srgbClr val="79E920"/>
          </a:solidFill>
          <a:ln>
            <a:noFill/>
          </a:ln>
        </p:spPr>
        <p:txBody>
          <a:bodyPr wrap="square" lIns="137160" tIns="68580" rIns="137160" bIns="6858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it-IT" sz="18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/>
            </a:r>
          </a:p>
        </p:txBody>
      </p:sp>
      <p:sp>
        <p:nvSpPr>
          <p:cNvPr id="128" name="Totale 128" descr="{{segue:configurazione}}"/>
          <p:cNvSpPr/>
          <p:nvPr/>
        </p:nvSpPr>
        <p:spPr>
          <a:xfrm>
            <a:off x="7406640" y="5806440"/>
            <a:ext cx="2651760" cy="548640"/>
          </a:xfrm>
          <a:prstGeom prst="rect">
            <a:avLst/>
          </a:prstGeom>
          <a:solidFill>
            <a:srgbClr val="79E920"/>
          </a:solidFill>
          <a:ln>
            <a:noFill/>
          </a:ln>
        </p:spPr>
        <p:txBody>
          <a:bodyPr wrap="square" lIns="137160" tIns="68580" rIns="137160" bIns="6858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it-IT" sz="18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/>
            </a:r>
          </a:p>
        </p:txBody>
      </p:sp>
      <p:sp>
        <p:nvSpPr>
          <p:cNvPr id="129" name="Totale 129" descr="{{segue:configurazione}}"/>
          <p:cNvSpPr/>
          <p:nvPr/>
        </p:nvSpPr>
        <p:spPr>
          <a:xfrm>
            <a:off x="10058400" y="5806440"/>
            <a:ext cx="2651760" cy="548640"/>
          </a:xfrm>
          <a:prstGeom prst="rect">
            <a:avLst/>
          </a:prstGeom>
          <a:solidFill>
            <a:srgbClr val="79E920"/>
          </a:solidFill>
          <a:ln>
            <a:noFill/>
          </a:ln>
        </p:spPr>
        <p:txBody>
          <a:bodyPr wrap="square" lIns="137160" tIns="68580" rIns="137160" bIns="6858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it-IT" sz="18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/>
            </a:r>
          </a:p>
        </p:txBody>
      </p:sp>
      <p:sp>
        <p:nvSpPr>
          <p:cNvPr id="130" name="Totale 130" descr="{{segue:configurazione}}"/>
          <p:cNvSpPr/>
          <p:nvPr/>
        </p:nvSpPr>
        <p:spPr>
          <a:xfrm>
            <a:off x="12710160" y="5806440"/>
            <a:ext cx="2194560" cy="548640"/>
          </a:xfrm>
          <a:prstGeom prst="rect">
            <a:avLst/>
          </a:prstGeom>
          <a:solidFill>
            <a:srgbClr val="79E920"/>
          </a:solidFill>
          <a:ln>
            <a:noFill/>
          </a:ln>
        </p:spPr>
        <p:txBody>
          <a:bodyPr wrap="square" lIns="137160" tIns="68580" rIns="137160" bIns="6858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it-IT" sz="18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{{n_strutture}}</a:t>
            </a:r>
          </a:p>
        </p:txBody>
      </p:sp>
      <p:sp>
        <p:nvSpPr>
          <p:cNvPr id="131" name="Totale 131" descr="{{segue:configurazione}}"/>
          <p:cNvSpPr/>
          <p:nvPr/>
        </p:nvSpPr>
        <p:spPr>
          <a:xfrm>
            <a:off x="14904720" y="5806440"/>
            <a:ext cx="2743200" cy="548640"/>
          </a:xfrm>
          <a:prstGeom prst="rect">
            <a:avLst/>
          </a:prstGeom>
          <a:solidFill>
            <a:srgbClr val="79E920"/>
          </a:solidFill>
          <a:ln>
            <a:noFill/>
          </a:ln>
        </p:spPr>
        <p:txBody>
          <a:bodyPr wrap="square" lIns="137160" tIns="68580" rIns="137160" bIns="6858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it-IT" sz="18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{{potenza_kwp}} kWp</a:t>
            </a:r>
          </a:p>
        </p:txBody>
      </p:sp>
      <p:sp>
        <p:nvSpPr>
          <p:cNvPr id="132" name="Nota 132" descr="{{segue:configurazione}}"/>
          <p:cNvSpPr txBox="1"/>
          <p:nvPr/>
        </p:nvSpPr>
        <p:spPr>
          <a:xfrm>
            <a:off x="1463040" y="6464808"/>
            <a:ext cx="161848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it-IT" sz="15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Moduli fotovoltaici non inclusi nella fornitura.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C2C2C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V="1">
            <a:off x="-1402481" y="-2172510"/>
            <a:ext cx="2709713" cy="4345021"/>
          </a:xfrm>
          <a:custGeom>
            <a:avLst/>
            <a:gdLst/>
            <a:ahLst/>
            <a:cxnLst/>
            <a:rect l="l" t="t" r="r" b="b"/>
            <a:pathLst>
              <a:path w="2709713" h="4345021">
                <a:moveTo>
                  <a:pt x="0" y="4345020"/>
                </a:moveTo>
                <a:lnTo>
                  <a:pt x="2709712" y="4345020"/>
                </a:lnTo>
                <a:lnTo>
                  <a:pt x="2709712" y="0"/>
                </a:lnTo>
                <a:lnTo>
                  <a:pt x="0" y="0"/>
                </a:lnTo>
                <a:lnTo>
                  <a:pt x="0" y="434502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 rot="5400000">
            <a:off x="16502346" y="8862019"/>
            <a:ext cx="988790" cy="1304159"/>
          </a:xfrm>
          <a:custGeom>
            <a:avLst/>
            <a:gdLst/>
            <a:ahLst/>
            <a:cxnLst/>
            <a:rect l="l" t="t" r="r" b="b"/>
            <a:pathLst>
              <a:path w="988790" h="1304159">
                <a:moveTo>
                  <a:pt x="0" y="0"/>
                </a:moveTo>
                <a:lnTo>
                  <a:pt x="988790" y="0"/>
                </a:lnTo>
                <a:lnTo>
                  <a:pt x="988790" y="1304159"/>
                </a:lnTo>
                <a:lnTo>
                  <a:pt x="0" y="13041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>
            <a:off x="9144000" y="9254266"/>
            <a:ext cx="1121840" cy="422199"/>
          </a:xfrm>
          <a:custGeom>
            <a:avLst/>
            <a:gdLst/>
            <a:ahLst/>
            <a:cxnLst/>
            <a:rect l="l" t="t" r="r" b="b"/>
            <a:pathLst>
              <a:path w="1121840" h="422199">
                <a:moveTo>
                  <a:pt x="0" y="0"/>
                </a:moveTo>
                <a:lnTo>
                  <a:pt x="1121840" y="0"/>
                </a:lnTo>
                <a:lnTo>
                  <a:pt x="1121840" y="422199"/>
                </a:lnTo>
                <a:lnTo>
                  <a:pt x="0" y="4221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60269" r="-7196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9" name="Freeform 9"/>
          <p:cNvSpPr/>
          <p:nvPr/>
        </p:nvSpPr>
        <p:spPr>
          <a:xfrm>
            <a:off x="15765540" y="294725"/>
            <a:ext cx="2080170" cy="1739830"/>
          </a:xfrm>
          <a:custGeom>
            <a:avLst/>
            <a:gdLst/>
            <a:ahLst/>
            <a:cxnLst/>
            <a:rect l="l" t="t" r="r" b="b"/>
            <a:pathLst>
              <a:path w="2080170" h="1739830">
                <a:moveTo>
                  <a:pt x="0" y="0"/>
                </a:moveTo>
                <a:lnTo>
                  <a:pt x="2080169" y="0"/>
                </a:lnTo>
                <a:lnTo>
                  <a:pt x="2080169" y="1739830"/>
                </a:lnTo>
                <a:lnTo>
                  <a:pt x="0" y="17398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0" name="Freeform 10"/>
          <p:cNvSpPr/>
          <p:nvPr/>
        </p:nvSpPr>
        <p:spPr>
          <a:xfrm>
            <a:off x="612089" y="8596796"/>
            <a:ext cx="4983083" cy="1370348"/>
          </a:xfrm>
          <a:custGeom>
            <a:avLst/>
            <a:gdLst/>
            <a:ahLst/>
            <a:cxnLst/>
            <a:rect l="l" t="t" r="r" b="b"/>
            <a:pathLst>
              <a:path w="4983083" h="1370348">
                <a:moveTo>
                  <a:pt x="0" y="0"/>
                </a:moveTo>
                <a:lnTo>
                  <a:pt x="4983083" y="0"/>
                </a:lnTo>
                <a:lnTo>
                  <a:pt x="4983083" y="1370348"/>
                </a:lnTo>
                <a:lnTo>
                  <a:pt x="0" y="13703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01" name="Titolo 101"/>
          <p:cNvSpPr txBox="1"/>
          <p:nvPr/>
        </p:nvSpPr>
        <p:spPr>
          <a:xfrm>
            <a:off x="1463040" y="320040"/>
            <a:ext cx="123444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it-IT" sz="6000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CALCOLO</a:t>
            </a:r>
          </a:p>
        </p:txBody>
      </p:sp>
      <p:sp>
        <p:nvSpPr>
          <p:cNvPr id="102" name="Titolo 102"/>
          <p:cNvSpPr txBox="1"/>
          <p:nvPr/>
        </p:nvSpPr>
        <p:spPr>
          <a:xfrm>
            <a:off x="3337560" y="914400"/>
            <a:ext cx="1188720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it-IT" sz="65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Strutturale</a:t>
            </a:r>
          </a:p>
        </p:txBody>
      </p:sp>
      <p:sp>
        <p:nvSpPr>
          <p:cNvPr id="103" name="Scheda 103"/>
          <p:cNvSpPr/>
          <p:nvPr/>
        </p:nvSpPr>
        <p:spPr>
          <a:xfrm>
            <a:off x="1463040" y="2194560"/>
            <a:ext cx="5212080" cy="379476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it-IT"/>
          </a:p>
        </p:txBody>
      </p:sp>
      <p:sp>
        <p:nvSpPr>
          <p:cNvPr id="104" name="Testo 104"/>
          <p:cNvSpPr txBox="1"/>
          <p:nvPr/>
        </p:nvSpPr>
        <p:spPr>
          <a:xfrm>
            <a:off x="1463040" y="2194560"/>
            <a:ext cx="5212080" cy="3794760"/>
          </a:xfrm>
          <a:prstGeom prst="rect">
            <a:avLst/>
          </a:prstGeom>
          <a:noFill/>
          <a:ln>
            <a:noFill/>
          </a:ln>
        </p:spPr>
        <p:txBody>
          <a:bodyPr wrap="square" lIns="228600" tIns="114300" rIns="228600" bIns="114300" rtlCol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lang="it-IT" sz="20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VENTO · NTC 2018 § 3.3</a:t>
            </a:r>
          </a:p>
          <a:p>
            <a:pPr algn="l">
              <a:spcAft>
                <a:spcPts val="180"/>
              </a:spcAft>
            </a:pPr>
            <a:r>
              <a:rPr lang="it-IT" sz="15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Zona vento: </a:t>
            </a:r>
            <a:r>
              <a:rPr lang="it-IT" sz="15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{{zona_vento}} · {{altitudine_m}} m s.l.m.</a:t>
            </a:r>
          </a:p>
          <a:p>
            <a:pPr algn="l">
              <a:spcAft>
                <a:spcPts val="180"/>
              </a:spcAft>
            </a:pPr>
            <a:r>
              <a:rPr lang="it-IT" sz="15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vb0 · a0 · ks: </a:t>
            </a:r>
            <a:r>
              <a:rPr lang="it-IT" sz="15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{{vb0}} m/s · {{a0}} m · {{ks}}</a:t>
            </a:r>
          </a:p>
          <a:p>
            <a:pPr algn="l">
              <a:spcAft>
                <a:spcPts val="180"/>
              </a:spcAft>
            </a:pPr>
            <a:r>
              <a:rPr lang="it-IT" sz="15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Coeff. di altitudine ca: </a:t>
            </a:r>
            <a:r>
              <a:rPr lang="it-IT" sz="15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{{ca}}</a:t>
            </a:r>
          </a:p>
          <a:p>
            <a:pPr algn="l">
              <a:spcAft>
                <a:spcPts val="180"/>
              </a:spcAft>
            </a:pPr>
            <a:r>
              <a:rPr lang="it-IT" sz="15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Velocità base vb: </a:t>
            </a:r>
            <a:r>
              <a:rPr lang="it-IT" sz="15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{{vb}} m/s</a:t>
            </a:r>
          </a:p>
          <a:p>
            <a:pPr algn="l">
              <a:spcAft>
                <a:spcPts val="180"/>
              </a:spcAft>
            </a:pPr>
            <a:r>
              <a:rPr lang="it-IT" sz="15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Ritorno TR: </a:t>
            </a:r>
            <a:r>
              <a:rPr lang="it-IT" sz="15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{{tr}} anni · cr {{cr}}</a:t>
            </a:r>
          </a:p>
          <a:p>
            <a:pPr algn="l">
              <a:spcAft>
                <a:spcPts val="180"/>
              </a:spcAft>
            </a:pPr>
            <a:r>
              <a:rPr lang="it-IT" sz="15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Velocità di riferimento vr: </a:t>
            </a:r>
            <a:r>
              <a:rPr lang="it-IT" sz="15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{{vento_ms}} m/s</a:t>
            </a:r>
          </a:p>
          <a:p>
            <a:pPr algn="l">
              <a:spcAft>
                <a:spcPts val="180"/>
              </a:spcAft>
            </a:pPr>
            <a:r>
              <a:rPr lang="it-IT" sz="15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Pressione cinetica qr: </a:t>
            </a:r>
            <a:r>
              <a:rPr lang="it-IT" sz="15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{{qr}} kN/m²</a:t>
            </a:r>
          </a:p>
          <a:p>
            <a:pPr algn="l">
              <a:spcAft>
                <a:spcPts val="180"/>
              </a:spcAft>
            </a:pPr>
            <a:r>
              <a:rPr lang="it-IT" sz="15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Esposizione: </a:t>
            </a:r>
            <a:r>
              <a:rPr lang="it-IT" sz="15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cat. {{categoria_terreno}} · z {{z_vento}} m</a:t>
            </a:r>
          </a:p>
          <a:p>
            <a:pPr algn="l">
              <a:spcAft>
                <a:spcPts val="180"/>
              </a:spcAft>
            </a:pPr>
            <a:r>
              <a:rPr lang="it-IT" sz="15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Coeff. di esposizione ce: </a:t>
            </a:r>
            <a:r>
              <a:rPr lang="it-IT" sz="15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{{ce}}</a:t>
            </a:r>
          </a:p>
          <a:p>
            <a:pPr algn="l">
              <a:spcAft>
                <a:spcPts val="180"/>
              </a:spcAft>
            </a:pPr>
            <a:r>
              <a:rPr lang="it-IT" sz="15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Pressione di picco qp: </a:t>
            </a:r>
            <a:r>
              <a:rPr lang="it-IT" sz="15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{{pressione_picco}} kN/m²</a:t>
            </a:r>
          </a:p>
        </p:txBody>
      </p:sp>
      <p:sp>
        <p:nvSpPr>
          <p:cNvPr id="105" name="Scheda 105"/>
          <p:cNvSpPr/>
          <p:nvPr/>
        </p:nvSpPr>
        <p:spPr>
          <a:xfrm>
            <a:off x="6858000" y="2194560"/>
            <a:ext cx="5120640" cy="379476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it-IT"/>
          </a:p>
        </p:txBody>
      </p:sp>
      <p:sp>
        <p:nvSpPr>
          <p:cNvPr id="106" name="Testo 106"/>
          <p:cNvSpPr txBox="1"/>
          <p:nvPr/>
        </p:nvSpPr>
        <p:spPr>
          <a:xfrm>
            <a:off x="6858000" y="2194560"/>
            <a:ext cx="5120640" cy="3794760"/>
          </a:xfrm>
          <a:prstGeom prst="rect">
            <a:avLst/>
          </a:prstGeom>
          <a:noFill/>
          <a:ln>
            <a:noFill/>
          </a:ln>
        </p:spPr>
        <p:txBody>
          <a:bodyPr wrap="square" lIns="228600" tIns="114300" rIns="228600" bIns="114300" rtlCol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lang="it-IT" sz="20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AZIONI SUI MODULI</a:t>
            </a:r>
          </a:p>
          <a:p>
            <a:pPr algn="l">
              <a:spcAft>
                <a:spcPts val="180"/>
              </a:spcAft>
            </a:pPr>
            <a:r>
              <a:rPr lang="it-IT" sz="15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cp verso il basso: </a:t>
            </a:r>
            <a:r>
              <a:rPr lang="it-IT" sz="15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{{cp_giu}}</a:t>
            </a:r>
          </a:p>
          <a:p>
            <a:pPr algn="l">
              <a:spcAft>
                <a:spcPts val="180"/>
              </a:spcAft>
            </a:pPr>
            <a:r>
              <a:rPr lang="it-IT" sz="15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cp in sollevamento: </a:t>
            </a:r>
            <a:r>
              <a:rPr lang="it-IT" sz="15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{{cp_su}}</a:t>
            </a:r>
          </a:p>
          <a:p>
            <a:pPr algn="l">
              <a:spcAft>
                <a:spcPts val="180"/>
              </a:spcAft>
            </a:pPr>
            <a:r>
              <a:rPr lang="it-IT" sz="15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Coeff. dinamico cd: </a:t>
            </a:r>
            <a:r>
              <a:rPr lang="it-IT" sz="15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{{cd}}</a:t>
            </a:r>
          </a:p>
          <a:p>
            <a:pPr algn="l">
              <a:spcAft>
                <a:spcPts val="180"/>
              </a:spcAft>
            </a:pPr>
            <a:r>
              <a:rPr lang="it-IT" sz="15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Pressione verso il basso: </a:t>
            </a:r>
            <a:r>
              <a:rPr lang="it-IT" sz="15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{{p_giu}} kN/m²</a:t>
            </a:r>
          </a:p>
          <a:p>
            <a:pPr algn="l">
              <a:spcAft>
                <a:spcPts val="180"/>
              </a:spcAft>
            </a:pPr>
            <a:r>
              <a:rPr lang="it-IT" sz="15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  per modulo: </a:t>
            </a:r>
            <a:r>
              <a:rPr lang="it-IT" sz="15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{{p_giu_modulo}} kN</a:t>
            </a:r>
          </a:p>
          <a:p>
            <a:pPr algn="l">
              <a:spcAft>
                <a:spcPts val="180"/>
              </a:spcAft>
            </a:pPr>
            <a:r>
              <a:rPr lang="it-IT" sz="15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Pressione in sollevamento: </a:t>
            </a:r>
            <a:r>
              <a:rPr lang="it-IT" sz="15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{{p_su}} kN/m²</a:t>
            </a:r>
          </a:p>
          <a:p>
            <a:pPr algn="l">
              <a:spcAft>
                <a:spcPts val="180"/>
              </a:spcAft>
            </a:pPr>
            <a:r>
              <a:rPr lang="it-IT" sz="15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  per modulo: </a:t>
            </a:r>
            <a:r>
              <a:rPr lang="it-IT" sz="15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{{p_su_modulo}} kN</a:t>
            </a:r>
          </a:p>
          <a:p>
            <a:pPr algn="l">
              <a:spcAft>
                <a:spcPts val="180"/>
              </a:spcAft>
            </a:pPr>
            <a:r>
              <a:rPr lang="it-IT" sz="15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Superficie del modulo: </a:t>
            </a:r>
            <a:r>
              <a:rPr lang="it-IT" sz="15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{{area_modulo}} m²</a:t>
            </a:r>
          </a:p>
          <a:p>
            <a:pPr algn="l">
              <a:spcAft>
                <a:spcPts val="180"/>
              </a:spcAft>
            </a:pPr>
            <a:r>
              <a:rPr lang="it-IT" sz="15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Carico neve verificato: </a:t>
            </a:r>
            <a:r>
              <a:rPr lang="it-IT" sz="15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{{neve}}</a:t>
            </a:r>
          </a:p>
        </p:txBody>
      </p:sp>
      <p:sp>
        <p:nvSpPr>
          <p:cNvPr id="107" name="Scheda 107"/>
          <p:cNvSpPr/>
          <p:nvPr/>
        </p:nvSpPr>
        <p:spPr>
          <a:xfrm>
            <a:off x="12161520" y="2194560"/>
            <a:ext cx="5486400" cy="379476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it-IT"/>
          </a:p>
        </p:txBody>
      </p:sp>
      <p:sp>
        <p:nvSpPr>
          <p:cNvPr id="108" name="Testo 108"/>
          <p:cNvSpPr txBox="1"/>
          <p:nvPr/>
        </p:nvSpPr>
        <p:spPr>
          <a:xfrm>
            <a:off x="12161520" y="2194560"/>
            <a:ext cx="5486400" cy="3794760"/>
          </a:xfrm>
          <a:prstGeom prst="rect">
            <a:avLst/>
          </a:prstGeom>
          <a:noFill/>
          <a:ln>
            <a:noFill/>
          </a:ln>
        </p:spPr>
        <p:txBody>
          <a:bodyPr wrap="square" lIns="228600" tIns="114300" rIns="228600" bIns="114300" rtlCol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lang="it-IT" sz="20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STRUTTURA</a:t>
            </a:r>
          </a:p>
          <a:p>
            <a:pPr algn="l">
              <a:spcAft>
                <a:spcPts val="180"/>
              </a:spcAft>
            </a:pPr>
            <a:r>
              <a:rPr lang="it-IT" sz="15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Inclinazione: </a:t>
            </a:r>
            <a:r>
              <a:rPr lang="it-IT" sz="15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{{inclinazione}}°</a:t>
            </a:r>
          </a:p>
          <a:p>
            <a:pPr algn="l">
              <a:spcAft>
                <a:spcPts val="180"/>
              </a:spcAft>
            </a:pPr>
            <a:r>
              <a:rPr lang="it-IT" sz="15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File di moduli: </a:t>
            </a:r>
            <a:r>
              <a:rPr lang="it-IT" sz="15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{{file_verticali}} in verticale</a:t>
            </a:r>
          </a:p>
          <a:p>
            <a:pPr algn="l">
              <a:spcAft>
                <a:spcPts val="180"/>
              </a:spcAft>
            </a:pPr>
            <a:r>
              <a:rPr lang="it-IT" sz="15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Bordo basso / alto: </a:t>
            </a:r>
            <a:r>
              <a:rPr lang="it-IT" sz="15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{{altezza_min_modulo_m}} / {{altezza_max_modulo_m}} m</a:t>
            </a:r>
          </a:p>
          <a:p>
            <a:pPr algn="l">
              <a:spcAft>
                <a:spcPts val="180"/>
              </a:spcAft>
            </a:pPr>
            <a:r>
              <a:rPr lang="it-IT" sz="15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Infissione ant. / post.: </a:t>
            </a:r>
            <a:r>
              <a:rPr lang="it-IT" sz="15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{{infissione_m}} m</a:t>
            </a:r>
          </a:p>
          <a:p>
            <a:pPr algn="l">
              <a:spcAft>
                <a:spcPts val="180"/>
              </a:spcAft>
            </a:pPr>
            <a:r>
              <a:rPr lang="it-IT" sz="15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Distanza pali ant. / post.: </a:t>
            </a:r>
            <a:r>
              <a:rPr lang="it-IT" sz="15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{{distanza_pali_m}} m</a:t>
            </a:r>
          </a:p>
          <a:p>
            <a:pPr algn="l">
              <a:spcAft>
                <a:spcPts val="180"/>
              </a:spcAft>
            </a:pPr>
            <a:r>
              <a:rPr lang="it-IT" sz="15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Fuga tra i moduli: </a:t>
            </a:r>
            <a:r>
              <a:rPr lang="it-IT" sz="15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{{fuga_mm}} mm</a:t>
            </a:r>
          </a:p>
          <a:p>
            <a:pPr algn="l">
              <a:spcAft>
                <a:spcPts val="180"/>
              </a:spcAft>
            </a:pPr>
            <a:r>
              <a:rPr lang="it-IT" sz="15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Massa delle strutture: </a:t>
            </a:r>
            <a:r>
              <a:rPr lang="it-IT" sz="15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{{peso_totale}}</a:t>
            </a:r>
          </a:p>
        </p:txBody>
      </p:sp>
      <p:sp>
        <p:nvSpPr>
          <p:cNvPr id="109" name="Intestazione 109"/>
          <p:cNvSpPr/>
          <p:nvPr/>
        </p:nvSpPr>
        <p:spPr>
          <a:xfrm>
            <a:off x="1463040" y="6172200"/>
            <a:ext cx="2743200" cy="475488"/>
          </a:xfrm>
          <a:prstGeom prst="rect">
            <a:avLst/>
          </a:prstGeom>
          <a:solidFill>
            <a:srgbClr val="79E920"/>
          </a:solidFill>
          <a:ln>
            <a:noFill/>
          </a:ln>
        </p:spPr>
        <p:txBody>
          <a:bodyPr wrap="square" lIns="137160" tIns="68580" rIns="137160" bIns="68580" rtlCol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it-IT" sz="15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Taglia</a:t>
            </a:r>
          </a:p>
        </p:txBody>
      </p:sp>
      <p:sp>
        <p:nvSpPr>
          <p:cNvPr id="110" name="Intestazione 110"/>
          <p:cNvSpPr/>
          <p:nvPr/>
        </p:nvSpPr>
        <p:spPr>
          <a:xfrm>
            <a:off x="4206240" y="6172200"/>
            <a:ext cx="2011680" cy="475488"/>
          </a:xfrm>
          <a:prstGeom prst="rect">
            <a:avLst/>
          </a:prstGeom>
          <a:solidFill>
            <a:srgbClr val="79E920"/>
          </a:solidFill>
          <a:ln>
            <a:noFill/>
          </a:ln>
        </p:spPr>
        <p:txBody>
          <a:bodyPr wrap="square" lIns="137160" tIns="68580" rIns="137160" bIns="6858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it-IT" sz="15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Campate</a:t>
            </a:r>
          </a:p>
        </p:txBody>
      </p:sp>
      <p:sp>
        <p:nvSpPr>
          <p:cNvPr id="111" name="Intestazione 111"/>
          <p:cNvSpPr/>
          <p:nvPr/>
        </p:nvSpPr>
        <p:spPr>
          <a:xfrm>
            <a:off x="6217920" y="6172200"/>
            <a:ext cx="1828800" cy="475488"/>
          </a:xfrm>
          <a:prstGeom prst="rect">
            <a:avLst/>
          </a:prstGeom>
          <a:solidFill>
            <a:srgbClr val="79E920"/>
          </a:solidFill>
          <a:ln>
            <a:noFill/>
          </a:ln>
        </p:spPr>
        <p:txBody>
          <a:bodyPr wrap="square" lIns="137160" tIns="68580" rIns="137160" bIns="6858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it-IT" sz="15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Telai</a:t>
            </a:r>
          </a:p>
        </p:txBody>
      </p:sp>
      <p:sp>
        <p:nvSpPr>
          <p:cNvPr id="112" name="Intestazione 112"/>
          <p:cNvSpPr/>
          <p:nvPr/>
        </p:nvSpPr>
        <p:spPr>
          <a:xfrm>
            <a:off x="8046720" y="6172200"/>
            <a:ext cx="2377440" cy="475488"/>
          </a:xfrm>
          <a:prstGeom prst="rect">
            <a:avLst/>
          </a:prstGeom>
          <a:solidFill>
            <a:srgbClr val="79E920"/>
          </a:solidFill>
          <a:ln>
            <a:noFill/>
          </a:ln>
        </p:spPr>
        <p:txBody>
          <a:bodyPr wrap="square" lIns="137160" tIns="68580" rIns="137160" bIns="6858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it-IT" sz="15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Lunghezza</a:t>
            </a:r>
          </a:p>
        </p:txBody>
      </p:sp>
      <p:sp>
        <p:nvSpPr>
          <p:cNvPr id="113" name="Intestazione 113"/>
          <p:cNvSpPr/>
          <p:nvPr/>
        </p:nvSpPr>
        <p:spPr>
          <a:xfrm>
            <a:off x="10424160" y="6172200"/>
            <a:ext cx="2743200" cy="475488"/>
          </a:xfrm>
          <a:prstGeom prst="rect">
            <a:avLst/>
          </a:prstGeom>
          <a:solidFill>
            <a:srgbClr val="79E920"/>
          </a:solidFill>
          <a:ln>
            <a:noFill/>
          </a:ln>
        </p:spPr>
        <p:txBody>
          <a:bodyPr wrap="square" lIns="137160" tIns="68580" rIns="137160" bIns="6858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it-IT" sz="15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1° – ultimo telaio</a:t>
            </a:r>
          </a:p>
        </p:txBody>
      </p:sp>
      <p:sp>
        <p:nvSpPr>
          <p:cNvPr id="114" name="Intestazione 114"/>
          <p:cNvSpPr/>
          <p:nvPr/>
        </p:nvSpPr>
        <p:spPr>
          <a:xfrm>
            <a:off x="13167360" y="6172200"/>
            <a:ext cx="2194560" cy="475488"/>
          </a:xfrm>
          <a:prstGeom prst="rect">
            <a:avLst/>
          </a:prstGeom>
          <a:solidFill>
            <a:srgbClr val="79E920"/>
          </a:solidFill>
          <a:ln>
            <a:noFill/>
          </a:ln>
        </p:spPr>
        <p:txBody>
          <a:bodyPr wrap="square" lIns="137160" tIns="68580" rIns="137160" bIns="6858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it-IT" sz="15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Controventi</a:t>
            </a:r>
          </a:p>
        </p:txBody>
      </p:sp>
      <p:sp>
        <p:nvSpPr>
          <p:cNvPr id="115" name="Intestazione 115"/>
          <p:cNvSpPr/>
          <p:nvPr/>
        </p:nvSpPr>
        <p:spPr>
          <a:xfrm>
            <a:off x="15361920" y="6172200"/>
            <a:ext cx="2286000" cy="475488"/>
          </a:xfrm>
          <a:prstGeom prst="rect">
            <a:avLst/>
          </a:prstGeom>
          <a:solidFill>
            <a:srgbClr val="79E920"/>
          </a:solidFill>
          <a:ln>
            <a:noFill/>
          </a:ln>
        </p:spPr>
        <p:txBody>
          <a:bodyPr wrap="square" lIns="137160" tIns="68580" rIns="137160" bIns="6858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it-IT" sz="15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Massa / str.</a:t>
            </a:r>
          </a:p>
        </p:txBody>
      </p:sp>
      <p:sp>
        <p:nvSpPr>
          <p:cNvPr id="116" name="Fondo riga 116" descr="{{#geometria:alterna}}"/>
          <p:cNvSpPr/>
          <p:nvPr/>
        </p:nvSpPr>
        <p:spPr>
          <a:xfrm>
            <a:off x="1463040" y="6647688"/>
            <a:ext cx="16184880" cy="47548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it-IT"/>
          </a:p>
        </p:txBody>
      </p:sp>
      <p:sp>
        <p:nvSpPr>
          <p:cNvPr id="117" name="Passo riga 117" descr="{{#geometria}}"/>
          <p:cNvSpPr txBox="1"/>
          <p:nvPr/>
        </p:nvSpPr>
        <p:spPr>
          <a:xfrm>
            <a:off x="1463040" y="6647688"/>
            <a:ext cx="1618488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it-IT"/>
          </a:p>
        </p:txBody>
      </p:sp>
      <p:sp>
        <p:nvSpPr>
          <p:cNvPr id="118" name="Cella 118" descr="{{#geometria}}"/>
          <p:cNvSpPr txBox="1"/>
          <p:nvPr/>
        </p:nvSpPr>
        <p:spPr>
          <a:xfrm>
            <a:off x="1463040" y="6647688"/>
            <a:ext cx="2743200" cy="475488"/>
          </a:xfrm>
          <a:prstGeom prst="rect">
            <a:avLst/>
          </a:prstGeom>
          <a:noFill/>
          <a:ln>
            <a:noFill/>
          </a:ln>
        </p:spPr>
        <p:txBody>
          <a:bodyPr wrap="square" lIns="137160" tIns="68580" rIns="137160" bIns="68580" rtlCol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it-IT" sz="16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{{moduli}} moduli × {{quantita}}</a:t>
            </a:r>
          </a:p>
        </p:txBody>
      </p:sp>
      <p:sp>
        <p:nvSpPr>
          <p:cNvPr id="119" name="Cella 119" descr="{{#geometria}}"/>
          <p:cNvSpPr txBox="1"/>
          <p:nvPr/>
        </p:nvSpPr>
        <p:spPr>
          <a:xfrm>
            <a:off x="4206240" y="6647688"/>
            <a:ext cx="2011680" cy="475488"/>
          </a:xfrm>
          <a:prstGeom prst="rect">
            <a:avLst/>
          </a:prstGeom>
          <a:noFill/>
          <a:ln>
            <a:noFill/>
          </a:ln>
        </p:spPr>
        <p:txBody>
          <a:bodyPr wrap="square" lIns="137160" tIns="68580" rIns="137160" bIns="6858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it-IT" sz="1600" b="1" dirty="0">
                <a:solidFill>
                  <a:srgbClr val="79E9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{{campate}}</a:t>
            </a:r>
          </a:p>
        </p:txBody>
      </p:sp>
      <p:sp>
        <p:nvSpPr>
          <p:cNvPr id="120" name="Cella 120" descr="{{#geometria}}"/>
          <p:cNvSpPr txBox="1"/>
          <p:nvPr/>
        </p:nvSpPr>
        <p:spPr>
          <a:xfrm>
            <a:off x="6217920" y="6647688"/>
            <a:ext cx="1828800" cy="475488"/>
          </a:xfrm>
          <a:prstGeom prst="rect">
            <a:avLst/>
          </a:prstGeom>
          <a:noFill/>
          <a:ln>
            <a:noFill/>
          </a:ln>
        </p:spPr>
        <p:txBody>
          <a:bodyPr wrap="square" lIns="137160" tIns="68580" rIns="137160" bIns="6858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it-IT" sz="1600" b="1" dirty="0">
                <a:solidFill>
                  <a:srgbClr val="79E9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{{telai}}</a:t>
            </a:r>
          </a:p>
        </p:txBody>
      </p:sp>
      <p:sp>
        <p:nvSpPr>
          <p:cNvPr id="121" name="Cella 121" descr="{{#geometria}}"/>
          <p:cNvSpPr txBox="1"/>
          <p:nvPr/>
        </p:nvSpPr>
        <p:spPr>
          <a:xfrm>
            <a:off x="8046720" y="6647688"/>
            <a:ext cx="2377440" cy="475488"/>
          </a:xfrm>
          <a:prstGeom prst="rect">
            <a:avLst/>
          </a:prstGeom>
          <a:noFill/>
          <a:ln>
            <a:noFill/>
          </a:ln>
        </p:spPr>
        <p:txBody>
          <a:bodyPr wrap="square" lIns="137160" tIns="68580" rIns="137160" bIns="6858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it-IT" sz="1600" b="1" dirty="0">
                <a:solidFill>
                  <a:srgbClr val="79E9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{{lunghezza}} m</a:t>
            </a:r>
          </a:p>
        </p:txBody>
      </p:sp>
      <p:sp>
        <p:nvSpPr>
          <p:cNvPr id="122" name="Cella 122" descr="{{#geometria}}"/>
          <p:cNvSpPr txBox="1"/>
          <p:nvPr/>
        </p:nvSpPr>
        <p:spPr>
          <a:xfrm>
            <a:off x="10424160" y="6647688"/>
            <a:ext cx="2743200" cy="475488"/>
          </a:xfrm>
          <a:prstGeom prst="rect">
            <a:avLst/>
          </a:prstGeom>
          <a:noFill/>
          <a:ln>
            <a:noFill/>
          </a:ln>
        </p:spPr>
        <p:txBody>
          <a:bodyPr wrap="square" lIns="137160" tIns="68580" rIns="137160" bIns="6858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it-IT" sz="1600" b="1" dirty="0">
                <a:solidFill>
                  <a:srgbClr val="79E9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{{interasse}} m</a:t>
            </a:r>
          </a:p>
        </p:txBody>
      </p:sp>
      <p:sp>
        <p:nvSpPr>
          <p:cNvPr id="123" name="Cella 123" descr="{{#geometria}}"/>
          <p:cNvSpPr txBox="1"/>
          <p:nvPr/>
        </p:nvSpPr>
        <p:spPr>
          <a:xfrm>
            <a:off x="13167360" y="6647688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wrap="square" lIns="137160" tIns="68580" rIns="137160" bIns="6858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it-IT" sz="1600" b="1" dirty="0">
                <a:solidFill>
                  <a:srgbClr val="79E9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{{controventi}}</a:t>
            </a:r>
          </a:p>
        </p:txBody>
      </p:sp>
      <p:sp>
        <p:nvSpPr>
          <p:cNvPr id="124" name="Cella 124" descr="{{#geometria}}"/>
          <p:cNvSpPr txBox="1"/>
          <p:nvPr/>
        </p:nvSpPr>
        <p:spPr>
          <a:xfrm>
            <a:off x="15361920" y="6647688"/>
            <a:ext cx="2286000" cy="475488"/>
          </a:xfrm>
          <a:prstGeom prst="rect">
            <a:avLst/>
          </a:prstGeom>
          <a:noFill/>
          <a:ln>
            <a:noFill/>
          </a:ln>
        </p:spPr>
        <p:txBody>
          <a:bodyPr wrap="square" lIns="137160" tIns="68580" rIns="137160" bIns="6858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it-IT" sz="1600" b="1" dirty="0">
                <a:solidFill>
                  <a:srgbClr val="79E9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{{massa}} kg</a:t>
            </a:r>
          </a:p>
        </p:txBody>
      </p:sp>
      <p:sp>
        <p:nvSpPr>
          <p:cNvPr id="125" name="Nota 125" descr="{{segue:geometria}}"/>
          <p:cNvSpPr txBox="1"/>
          <p:nvPr/>
        </p:nvSpPr>
        <p:spPr>
          <a:xfrm>
            <a:off x="1463040" y="7232904"/>
            <a:ext cx="161848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it-IT" sz="15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Calcolo del vento secondo NTC 2018 § 3.3 con terreno pianeggiante (ct = 1); cp netti della falda dati dal progettista. Da far verificare al progettista.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C2C2C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V="1">
            <a:off x="-1402481" y="-2172510"/>
            <a:ext cx="2709713" cy="4345021"/>
          </a:xfrm>
          <a:custGeom>
            <a:avLst/>
            <a:gdLst/>
            <a:ahLst/>
            <a:cxnLst/>
            <a:rect l="l" t="t" r="r" b="b"/>
            <a:pathLst>
              <a:path w="2709713" h="4345021">
                <a:moveTo>
                  <a:pt x="0" y="4345020"/>
                </a:moveTo>
                <a:lnTo>
                  <a:pt x="2709712" y="4345020"/>
                </a:lnTo>
                <a:lnTo>
                  <a:pt x="2709712" y="0"/>
                </a:lnTo>
                <a:lnTo>
                  <a:pt x="0" y="0"/>
                </a:lnTo>
                <a:lnTo>
                  <a:pt x="0" y="434502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 rot="5400000">
            <a:off x="16502346" y="8862019"/>
            <a:ext cx="988790" cy="1304159"/>
          </a:xfrm>
          <a:custGeom>
            <a:avLst/>
            <a:gdLst/>
            <a:ahLst/>
            <a:cxnLst/>
            <a:rect l="l" t="t" r="r" b="b"/>
            <a:pathLst>
              <a:path w="988790" h="1304159">
                <a:moveTo>
                  <a:pt x="0" y="0"/>
                </a:moveTo>
                <a:lnTo>
                  <a:pt x="988790" y="0"/>
                </a:lnTo>
                <a:lnTo>
                  <a:pt x="988790" y="1304159"/>
                </a:lnTo>
                <a:lnTo>
                  <a:pt x="0" y="13041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>
            <a:off x="9144000" y="9254266"/>
            <a:ext cx="1121840" cy="422199"/>
          </a:xfrm>
          <a:custGeom>
            <a:avLst/>
            <a:gdLst/>
            <a:ahLst/>
            <a:cxnLst/>
            <a:rect l="l" t="t" r="r" b="b"/>
            <a:pathLst>
              <a:path w="1121840" h="422199">
                <a:moveTo>
                  <a:pt x="0" y="0"/>
                </a:moveTo>
                <a:lnTo>
                  <a:pt x="1121840" y="0"/>
                </a:lnTo>
                <a:lnTo>
                  <a:pt x="1121840" y="422199"/>
                </a:lnTo>
                <a:lnTo>
                  <a:pt x="0" y="4221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60269" r="-7196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9" name="Freeform 9"/>
          <p:cNvSpPr/>
          <p:nvPr/>
        </p:nvSpPr>
        <p:spPr>
          <a:xfrm>
            <a:off x="15765540" y="294725"/>
            <a:ext cx="2080170" cy="1739830"/>
          </a:xfrm>
          <a:custGeom>
            <a:avLst/>
            <a:gdLst/>
            <a:ahLst/>
            <a:cxnLst/>
            <a:rect l="l" t="t" r="r" b="b"/>
            <a:pathLst>
              <a:path w="2080170" h="1739830">
                <a:moveTo>
                  <a:pt x="0" y="0"/>
                </a:moveTo>
                <a:lnTo>
                  <a:pt x="2080169" y="0"/>
                </a:lnTo>
                <a:lnTo>
                  <a:pt x="2080169" y="1739830"/>
                </a:lnTo>
                <a:lnTo>
                  <a:pt x="0" y="17398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0" name="Freeform 10"/>
          <p:cNvSpPr/>
          <p:nvPr/>
        </p:nvSpPr>
        <p:spPr>
          <a:xfrm>
            <a:off x="612089" y="8596796"/>
            <a:ext cx="4983083" cy="1370348"/>
          </a:xfrm>
          <a:custGeom>
            <a:avLst/>
            <a:gdLst/>
            <a:ahLst/>
            <a:cxnLst/>
            <a:rect l="l" t="t" r="r" b="b"/>
            <a:pathLst>
              <a:path w="4983083" h="1370348">
                <a:moveTo>
                  <a:pt x="0" y="0"/>
                </a:moveTo>
                <a:lnTo>
                  <a:pt x="4983083" y="0"/>
                </a:lnTo>
                <a:lnTo>
                  <a:pt x="4983083" y="1370348"/>
                </a:lnTo>
                <a:lnTo>
                  <a:pt x="0" y="13703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01" name="Titolo 101"/>
          <p:cNvSpPr txBox="1"/>
          <p:nvPr/>
        </p:nvSpPr>
        <p:spPr>
          <a:xfrm>
            <a:off x="1463040" y="320040"/>
            <a:ext cx="123444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it-IT" sz="6000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TOTALE</a:t>
            </a:r>
          </a:p>
        </p:txBody>
      </p:sp>
      <p:sp>
        <p:nvSpPr>
          <p:cNvPr id="102" name="Titolo 102"/>
          <p:cNvSpPr txBox="1"/>
          <p:nvPr/>
        </p:nvSpPr>
        <p:spPr>
          <a:xfrm>
            <a:off x="3337560" y="914400"/>
            <a:ext cx="1188720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it-IT" sz="65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Investimento</a:t>
            </a:r>
          </a:p>
        </p:txBody>
      </p:sp>
      <p:sp>
        <p:nvSpPr>
          <p:cNvPr id="103" name="Scheda 103"/>
          <p:cNvSpPr/>
          <p:nvPr/>
        </p:nvSpPr>
        <p:spPr>
          <a:xfrm>
            <a:off x="1463040" y="2331720"/>
            <a:ext cx="6675120" cy="598932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it-IT"/>
          </a:p>
        </p:txBody>
      </p:sp>
      <p:sp>
        <p:nvSpPr>
          <p:cNvPr id="104" name="Testo 104"/>
          <p:cNvSpPr txBox="1"/>
          <p:nvPr/>
        </p:nvSpPr>
        <p:spPr>
          <a:xfrm>
            <a:off x="1463040" y="2331720"/>
            <a:ext cx="6675120" cy="5989320"/>
          </a:xfrm>
          <a:prstGeom prst="rect">
            <a:avLst/>
          </a:prstGeom>
          <a:noFill/>
          <a:ln>
            <a:noFill/>
          </a:ln>
        </p:spPr>
        <p:txBody>
          <a:bodyPr wrap="square" lIns="320040" tIns="160020" rIns="320040" bIns="160020" rtlCol="0" anchor="t">
            <a:noAutofit/>
          </a:bodyPr>
          <a:lstStyle/>
          <a:p>
            <a:pPr algn="l">
              <a:spcAft>
                <a:spcPts val="1100"/>
              </a:spcAft>
            </a:pPr>
            <a:r>
              <a:rPr lang="it-IT" sz="2200" b="1" dirty="0">
                <a:solidFill>
                  <a:srgbClr val="79E9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INCLUSO NEL PREZZO</a:t>
            </a:r>
          </a:p>
          <a:p>
            <a:pPr algn="l" marL="342900" indent="-342900">
              <a:spcAft>
                <a:spcPts val="600"/>
              </a:spcAft>
              <a:buClr>
                <a:srgbClr val="79E920"/>
              </a:buClr>
              <a:buFont typeface="Arial"/>
              <a:buChar char="•"/>
            </a:pPr>
            <a:r>
              <a:rPr lang="it-IT" sz="1800" b="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{{#inclusi}}{{voce}}{{/inclusi}}</a:t>
            </a:r>
          </a:p>
        </p:txBody>
      </p:sp>
      <p:sp>
        <p:nvSpPr>
          <p:cNvPr id="105" name="Prezzo pieno 105"/>
          <p:cNvSpPr txBox="1"/>
          <p:nvPr/>
        </p:nvSpPr>
        <p:spPr>
          <a:xfrm>
            <a:off x="11521440" y="1874520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ctr">
              <a:spcAft>
                <a:spcPts val="0"/>
              </a:spcAft>
            </a:pPr>
            <a:r>
              <a:rPr lang="it-IT" sz="1900" b="1" strike="sngStrike" dirty="0">
                <a:solidFill>
                  <a:srgbClr val="B5B5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€ {{prezzo_listino}} + IVA</a:t>
            </a:r>
          </a:p>
        </p:txBody>
      </p:sp>
      <p:sp>
        <p:nvSpPr>
          <p:cNvPr id="106" name="Passo riga 106" descr="{{#voci}}"/>
          <p:cNvSpPr txBox="1"/>
          <p:nvPr/>
        </p:nvSpPr>
        <p:spPr>
          <a:xfrm>
            <a:off x="8503920" y="2377440"/>
            <a:ext cx="914400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it-IT"/>
          </a:p>
        </p:txBody>
      </p:sp>
      <p:sp>
        <p:nvSpPr>
          <p:cNvPr id="107" name="Prezzo 107" descr="{{#voci}}"/>
          <p:cNvSpPr/>
          <p:nvPr/>
        </p:nvSpPr>
        <p:spPr>
          <a:xfrm>
            <a:off x="11521440" y="2377440"/>
            <a:ext cx="6126480" cy="1005840"/>
          </a:xfrm>
          <a:prstGeom prst="roundRect">
            <a:avLst>
              <a:gd name="adj" fmla="val 50000"/>
            </a:avLst>
          </a:prstGeom>
          <a:solidFill>
            <a:srgbClr val="305810"/>
          </a:solidFill>
          <a:ln>
            <a:noFill/>
          </a:ln>
        </p:spPr>
        <p:txBody>
          <a:bodyPr wrap="square" lIns="1371600" tIns="91440" rIns="182880" bIns="9144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it-IT" sz="2200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{{prezzo}}</a:t>
            </a:r>
          </a:p>
        </p:txBody>
      </p:sp>
      <p:sp>
        <p:nvSpPr>
          <p:cNvPr id="108" name="Voce 108" descr="{{#voci}}"/>
          <p:cNvSpPr/>
          <p:nvPr/>
        </p:nvSpPr>
        <p:spPr>
          <a:xfrm>
            <a:off x="8503920" y="2377440"/>
            <a:ext cx="4389120" cy="1005840"/>
          </a:xfrm>
          <a:prstGeom prst="roundRect">
            <a:avLst>
              <a:gd name="adj" fmla="val 50000"/>
            </a:avLst>
          </a:prstGeom>
          <a:solidFill>
            <a:srgbClr val="79E920"/>
          </a:solidFill>
          <a:ln>
            <a:noFill/>
          </a:ln>
        </p:spPr>
        <p:txBody>
          <a:bodyPr wrap="square" lIns="228600" tIns="114300" rIns="228600" bIns="11430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it-IT" sz="19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{{voce}}</a:t>
            </a:r>
          </a:p>
        </p:txBody>
      </p:sp>
      <p:sp>
        <p:nvSpPr>
          <p:cNvPr id="109" name="Note 109" descr="{{segue:voci}}"/>
          <p:cNvSpPr txBox="1"/>
          <p:nvPr/>
        </p:nvSpPr>
        <p:spPr>
          <a:xfrm>
            <a:off x="8503920" y="3520440"/>
            <a:ext cx="914400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lang="it-IT" sz="20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Prezzo per kWp: </a:t>
            </a:r>
            <a:r>
              <a:rPr lang="it-IT" sz="20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{{prezzo_kwp}} €/kWp</a:t>
            </a:r>
          </a:p>
          <a:p>
            <a:pPr algn="r">
              <a:spcAft>
                <a:spcPts val="300"/>
              </a:spcAft>
            </a:pPr>
            <a:r>
              <a:rPr lang="it-IT" sz="18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Peso struttura ~</a:t>
            </a:r>
            <a:r>
              <a:rPr lang="it-IT" sz="18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{{peso_struttura_ton}} t</a:t>
            </a:r>
          </a:p>
          <a:p>
            <a:pPr algn="r">
              <a:spcAft>
                <a:spcPts val="0"/>
              </a:spcAft>
            </a:pPr>
            <a:r>
              <a:rPr lang="it-IT" sz="1500" b="0" dirty="0">
                <a:solidFill>
                  <a:srgbClr val="B5B5B5"/>
                </a:solidFill>
                <a:latin typeface="Canva Sans"/>
                <a:ea typeface="Canva Sans"/>
                <a:cs typeface="Canva Sans"/>
                <a:sym typeface="Canva Sans"/>
              </a:rPr>
              <a:t>Prezzi IVA esclusa. €/kWp calcolato sulle strutture; trasporto, posa e le altre voci sono a parte.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</Words>
  <Application>Microsoft Office PowerPoint</Application>
  <PresentationFormat>Personalizzato</PresentationFormat>
  <Paragraphs>62</Paragraphs>
  <Slides>15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4" baseType="lpstr">
      <vt:lpstr>Open Sauce Bold</vt:lpstr>
      <vt:lpstr>Canva Sans</vt:lpstr>
      <vt:lpstr>Canva Sans Bold</vt:lpstr>
      <vt:lpstr>Open Sauce</vt:lpstr>
      <vt:lpstr>Calibri</vt:lpstr>
      <vt:lpstr>Arial</vt:lpstr>
      <vt:lpstr>Aptos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Strutture fotovoltaiche fisse Soluzione industriale integrata Produzione interamente in-house, basata su una consolidata esperienza nella carpenteria metallica per vigneti, serre, capannoni e strutture custom. Vantaggi • Produzione rapida • Installazione</dc:title>
  <cp:lastModifiedBy>stella  terranova</cp:lastModifiedBy>
  <cp:revision>7</cp:revision>
  <cp:lastPrinted>2026-09-25T14:17:26Z</cp:lastPrinted>
  <dcterms:created xsi:type="dcterms:W3CDTF">2006-08-16T00:00:00Z</dcterms:created>
  <dcterms:modified xsi:type="dcterms:W3CDTF">2026-09-25T15:31:29Z</dcterms:modified>
  <dc:identifier>DAHM6MIMC84</dc:identifier>
</cp:coreProperties>
</file>