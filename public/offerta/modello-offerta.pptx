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70" r:id="rId4"/>
    <p:sldId id="271" r:id="rId5"/>
    <p:sldId id="269" r:id="rId6"/>
    <p:sldId id="262" r:id="rId7"/>
    <p:sldId id="265" r:id="rId8"/>
    <p:sldId id="266" r:id="rId9"/>
    <p:sldId id="272" r:id="rId10"/>
    <p:sldId id="273" r:id="rId11"/>
    <p:sldId id="268" r:id="rId12"/>
  </p:sldIdLst>
  <p:sldSz cx="18288000" cy="10287000"/>
  <p:notesSz cx="6858000" cy="9144000"/>
  <p:embeddedFontLst>
    <p:embeddedFont>
      <p:font typeface="Canva Sans" panose="020B0604020202020204" charset="0"/>
      <p:regular r:id="rId14"/>
    </p:embeddedFont>
    <p:embeddedFont>
      <p:font typeface="Canva Sans Bold" panose="020B0604020202020204" charset="0"/>
      <p:regular r:id="rId15"/>
    </p:embeddedFont>
    <p:embeddedFont>
      <p:font typeface="Open Sauce" panose="020B0604020202020204" charset="0"/>
      <p:regular r:id="rId16"/>
    </p:embeddedFont>
    <p:embeddedFont>
      <p:font typeface="Open Sauce Bold" panose="020B0604020202020204" charset="0"/>
      <p:regular r:id="rId17"/>
    </p:embeddedFont>
    <p:embeddedFont>
      <p:font typeface="Public Sans" panose="020B0604020202020204" charset="0"/>
      <p:regular r:id="rId18"/>
    </p:embeddedFont>
    <p:embeddedFont>
      <p:font typeface="Public Sans Bold" panose="020B0604020202020204" charset="0"/>
      <p:regular r:id="rId1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52" d="100"/>
          <a:sy n="52" d="100"/>
        </p:scale>
        <p:origin x="850" y="6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font" Target="fonts/font5.fntdata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4.fntdata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6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6F36930-BCAF-481F-81C0-FA8E7A71E5C9}" type="datetimeFigureOut">
              <a:rPr lang="it-IT" smtClean="0"/>
              <a:t>23/10/2026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B7CB805-766D-4E39-93D5-D0ECFD709C4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9403968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7CB805-766D-4E39-93D5-D0ECFD709C44}" type="slidenum">
              <a:rPr lang="it-IT" smtClean="0"/>
              <a:t>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92563098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7CB805-766D-4E39-93D5-D0ECFD709C44}" type="slidenum">
              <a:rPr lang="it-IT" smtClean="0"/>
              <a:t>6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1302114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svg"/><Relationship Id="rId3" Type="http://schemas.openxmlformats.org/officeDocument/2006/relationships/image" Target="../media/image7.jpeg"/><Relationship Id="rId7" Type="http://schemas.openxmlformats.org/officeDocument/2006/relationships/image" Target="../media/image3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svg"/><Relationship Id="rId5" Type="http://schemas.openxmlformats.org/officeDocument/2006/relationships/image" Target="../media/image9.jpeg"/><Relationship Id="rId10" Type="http://schemas.openxmlformats.org/officeDocument/2006/relationships/image" Target="../media/image5.png"/><Relationship Id="rId4" Type="http://schemas.openxmlformats.org/officeDocument/2006/relationships/image" Target="../media/image8.svg"/><Relationship Id="rId9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.png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6.png"/><Relationship Id="rId7" Type="http://schemas.openxmlformats.org/officeDocument/2006/relationships/image" Target="../media/image15.png"/><Relationship Id="rId2" Type="http://schemas.openxmlformats.org/officeDocument/2006/relationships/image" Target="../media/image12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18.jpeg"/><Relationship Id="rId7" Type="http://schemas.openxmlformats.org/officeDocument/2006/relationships/image" Target="../media/image3.svg"/><Relationship Id="rId2" Type="http://schemas.openxmlformats.org/officeDocument/2006/relationships/image" Target="../media/image12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9.jpeg"/><Relationship Id="rId5" Type="http://schemas.openxmlformats.org/officeDocument/2006/relationships/image" Target="../media/image1.png"/><Relationship Id="rId4" Type="http://schemas.openxmlformats.org/officeDocument/2006/relationships/image" Target="../media/image8.svg"/><Relationship Id="rId9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2C2C2C">
                <a:alpha val="100000"/>
              </a:srgbClr>
            </a:gs>
            <a:gs pos="100000">
              <a:srgbClr val="000000">
                <a:alpha val="100000"/>
              </a:srgbClr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3"/>
          <p:cNvSpPr/>
          <p:nvPr/>
        </p:nvSpPr>
        <p:spPr>
          <a:xfrm>
            <a:off x="10683955" y="1676063"/>
            <a:ext cx="7982383" cy="7967870"/>
          </a:xfrm>
          <a:custGeom>
            <a:avLst/>
            <a:gdLst/>
            <a:ahLst/>
            <a:cxnLst/>
            <a:rect l="l" t="t" r="r" b="b"/>
            <a:pathLst>
              <a:path w="7982383" h="7967870">
                <a:moveTo>
                  <a:pt x="0" y="0"/>
                </a:moveTo>
                <a:lnTo>
                  <a:pt x="7982383" y="0"/>
                </a:lnTo>
                <a:lnTo>
                  <a:pt x="7982383" y="7967869"/>
                </a:lnTo>
                <a:lnTo>
                  <a:pt x="0" y="796786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it-IT" dirty="0"/>
          </a:p>
        </p:txBody>
      </p:sp>
      <p:grpSp>
        <p:nvGrpSpPr>
          <p:cNvPr id="4" name="Group 4"/>
          <p:cNvGrpSpPr/>
          <p:nvPr/>
        </p:nvGrpSpPr>
        <p:grpSpPr>
          <a:xfrm>
            <a:off x="11395576" y="2393800"/>
            <a:ext cx="6532395" cy="6532395"/>
            <a:chOff x="0" y="0"/>
            <a:chExt cx="812800" cy="8128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79E920">
                    <a:alpha val="100000"/>
                  </a:srgbClr>
                </a:gs>
                <a:gs pos="100000">
                  <a:srgbClr val="233D0F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it-IT" dirty="0"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 dirty="0"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1879495" y="2877719"/>
            <a:ext cx="5564557" cy="5564557"/>
            <a:chOff x="0" y="0"/>
            <a:chExt cx="812800" cy="8128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3"/>
              <a:stretch>
                <a:fillRect l="-33495"/>
              </a:stretch>
            </a:blipFill>
          </p:spPr>
          <p:txBody>
            <a:bodyPr/>
            <a:lstStyle/>
            <a:p>
              <a:endParaRPr lang="it-IT" dirty="0"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986032" y="4276898"/>
            <a:ext cx="4671500" cy="919051"/>
            <a:chOff x="0" y="0"/>
            <a:chExt cx="2065716" cy="4064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2065716" cy="406400"/>
            </a:xfrm>
            <a:custGeom>
              <a:avLst/>
              <a:gdLst/>
              <a:ahLst/>
              <a:cxnLst/>
              <a:rect l="l" t="t" r="r" b="b"/>
              <a:pathLst>
                <a:path w="2065716" h="406400">
                  <a:moveTo>
                    <a:pt x="1862516" y="0"/>
                  </a:moveTo>
                  <a:cubicBezTo>
                    <a:pt x="1974740" y="0"/>
                    <a:pt x="2065716" y="90976"/>
                    <a:pt x="2065716" y="203200"/>
                  </a:cubicBezTo>
                  <a:cubicBezTo>
                    <a:pt x="2065716" y="315424"/>
                    <a:pt x="1974740" y="406400"/>
                    <a:pt x="1862516" y="406400"/>
                  </a:cubicBezTo>
                  <a:lnTo>
                    <a:pt x="203200" y="406400"/>
                  </a:lnTo>
                  <a:cubicBezTo>
                    <a:pt x="90976" y="406400"/>
                    <a:pt x="0" y="315424"/>
                    <a:pt x="0" y="203200"/>
                  </a:cubicBez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79E920"/>
            </a:solidFill>
          </p:spPr>
          <p:txBody>
            <a:bodyPr/>
            <a:lstStyle/>
            <a:p>
              <a:endParaRPr lang="it-IT" dirty="0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2065716" cy="444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 dirty="0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986032" y="5555906"/>
            <a:ext cx="4671500" cy="919051"/>
            <a:chOff x="0" y="0"/>
            <a:chExt cx="2065716" cy="4064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2065716" cy="406400"/>
            </a:xfrm>
            <a:custGeom>
              <a:avLst/>
              <a:gdLst/>
              <a:ahLst/>
              <a:cxnLst/>
              <a:rect l="l" t="t" r="r" b="b"/>
              <a:pathLst>
                <a:path w="2065716" h="406400">
                  <a:moveTo>
                    <a:pt x="1862516" y="0"/>
                  </a:moveTo>
                  <a:cubicBezTo>
                    <a:pt x="1974740" y="0"/>
                    <a:pt x="2065716" y="90976"/>
                    <a:pt x="2065716" y="203200"/>
                  </a:cubicBezTo>
                  <a:cubicBezTo>
                    <a:pt x="2065716" y="315424"/>
                    <a:pt x="1974740" y="406400"/>
                    <a:pt x="1862516" y="406400"/>
                  </a:cubicBezTo>
                  <a:lnTo>
                    <a:pt x="203200" y="406400"/>
                  </a:lnTo>
                  <a:cubicBezTo>
                    <a:pt x="90976" y="406400"/>
                    <a:pt x="0" y="315424"/>
                    <a:pt x="0" y="203200"/>
                  </a:cubicBez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79E920"/>
            </a:solidFill>
          </p:spPr>
          <p:txBody>
            <a:bodyPr/>
            <a:lstStyle/>
            <a:p>
              <a:endParaRPr lang="it-IT" dirty="0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2065716" cy="444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 dirty="0"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5969787" y="4276898"/>
            <a:ext cx="4671500" cy="919051"/>
            <a:chOff x="0" y="0"/>
            <a:chExt cx="2065716" cy="40640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2065716" cy="406400"/>
            </a:xfrm>
            <a:custGeom>
              <a:avLst/>
              <a:gdLst/>
              <a:ahLst/>
              <a:cxnLst/>
              <a:rect l="l" t="t" r="r" b="b"/>
              <a:pathLst>
                <a:path w="2065716" h="406400">
                  <a:moveTo>
                    <a:pt x="1862516" y="0"/>
                  </a:moveTo>
                  <a:cubicBezTo>
                    <a:pt x="1974740" y="0"/>
                    <a:pt x="2065716" y="90976"/>
                    <a:pt x="2065716" y="203200"/>
                  </a:cubicBezTo>
                  <a:cubicBezTo>
                    <a:pt x="2065716" y="315424"/>
                    <a:pt x="1974740" y="406400"/>
                    <a:pt x="1862516" y="406400"/>
                  </a:cubicBezTo>
                  <a:lnTo>
                    <a:pt x="203200" y="406400"/>
                  </a:lnTo>
                  <a:cubicBezTo>
                    <a:pt x="90976" y="406400"/>
                    <a:pt x="0" y="315424"/>
                    <a:pt x="0" y="203200"/>
                  </a:cubicBez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79E920"/>
            </a:solidFill>
          </p:spPr>
          <p:txBody>
            <a:bodyPr/>
            <a:lstStyle/>
            <a:p>
              <a:endParaRPr lang="it-IT" dirty="0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2065716" cy="444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 dirty="0"/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5969787" y="5555906"/>
            <a:ext cx="4671500" cy="919051"/>
            <a:chOff x="0" y="0"/>
            <a:chExt cx="2065716" cy="40640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2065716" cy="406400"/>
            </a:xfrm>
            <a:custGeom>
              <a:avLst/>
              <a:gdLst/>
              <a:ahLst/>
              <a:cxnLst/>
              <a:rect l="l" t="t" r="r" b="b"/>
              <a:pathLst>
                <a:path w="2065716" h="406400">
                  <a:moveTo>
                    <a:pt x="1862516" y="0"/>
                  </a:moveTo>
                  <a:cubicBezTo>
                    <a:pt x="1974740" y="0"/>
                    <a:pt x="2065716" y="90976"/>
                    <a:pt x="2065716" y="203200"/>
                  </a:cubicBezTo>
                  <a:cubicBezTo>
                    <a:pt x="2065716" y="315424"/>
                    <a:pt x="1974740" y="406400"/>
                    <a:pt x="1862516" y="406400"/>
                  </a:cubicBezTo>
                  <a:lnTo>
                    <a:pt x="203200" y="406400"/>
                  </a:lnTo>
                  <a:cubicBezTo>
                    <a:pt x="90976" y="406400"/>
                    <a:pt x="0" y="315424"/>
                    <a:pt x="0" y="203200"/>
                  </a:cubicBez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79E920"/>
            </a:solidFill>
          </p:spPr>
          <p:txBody>
            <a:bodyPr/>
            <a:lstStyle/>
            <a:p>
              <a:endParaRPr lang="it-IT" dirty="0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38100"/>
              <a:ext cx="2065716" cy="444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 dirty="0"/>
            </a:p>
          </p:txBody>
        </p:sp>
      </p:grpSp>
      <p:sp>
        <p:nvSpPr>
          <p:cNvPr id="21" name="Freeform 21"/>
          <p:cNvSpPr/>
          <p:nvPr/>
        </p:nvSpPr>
        <p:spPr>
          <a:xfrm rot="5400000">
            <a:off x="11156401" y="288788"/>
            <a:ext cx="1476814" cy="1947836"/>
          </a:xfrm>
          <a:custGeom>
            <a:avLst/>
            <a:gdLst/>
            <a:ahLst/>
            <a:cxnLst/>
            <a:rect l="l" t="t" r="r" b="b"/>
            <a:pathLst>
              <a:path w="1476814" h="1947836">
                <a:moveTo>
                  <a:pt x="0" y="0"/>
                </a:moveTo>
                <a:lnTo>
                  <a:pt x="1476814" y="0"/>
                </a:lnTo>
                <a:lnTo>
                  <a:pt x="1476814" y="1947836"/>
                </a:lnTo>
                <a:lnTo>
                  <a:pt x="0" y="194783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it-IT" dirty="0"/>
          </a:p>
        </p:txBody>
      </p:sp>
      <p:sp>
        <p:nvSpPr>
          <p:cNvPr id="22" name="Freeform 22"/>
          <p:cNvSpPr/>
          <p:nvPr/>
        </p:nvSpPr>
        <p:spPr>
          <a:xfrm>
            <a:off x="10123035" y="8962993"/>
            <a:ext cx="1121840" cy="422199"/>
          </a:xfrm>
          <a:custGeom>
            <a:avLst/>
            <a:gdLst/>
            <a:ahLst/>
            <a:cxnLst/>
            <a:rect l="l" t="t" r="r" b="b"/>
            <a:pathLst>
              <a:path w="1121840" h="422199">
                <a:moveTo>
                  <a:pt x="0" y="0"/>
                </a:moveTo>
                <a:lnTo>
                  <a:pt x="1121840" y="0"/>
                </a:lnTo>
                <a:lnTo>
                  <a:pt x="1121840" y="422199"/>
                </a:lnTo>
                <a:lnTo>
                  <a:pt x="0" y="42219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t="-360269" r="-71960"/>
            </a:stretch>
          </a:blipFill>
        </p:spPr>
        <p:txBody>
          <a:bodyPr/>
          <a:lstStyle/>
          <a:p>
            <a:endParaRPr lang="it-IT" dirty="0"/>
          </a:p>
        </p:txBody>
      </p:sp>
      <p:sp>
        <p:nvSpPr>
          <p:cNvPr id="23" name="Freeform 23"/>
          <p:cNvSpPr/>
          <p:nvPr/>
        </p:nvSpPr>
        <p:spPr>
          <a:xfrm>
            <a:off x="612089" y="8596796"/>
            <a:ext cx="4983083" cy="1370348"/>
          </a:xfrm>
          <a:custGeom>
            <a:avLst/>
            <a:gdLst/>
            <a:ahLst/>
            <a:cxnLst/>
            <a:rect l="l" t="t" r="r" b="b"/>
            <a:pathLst>
              <a:path w="4983083" h="1370348">
                <a:moveTo>
                  <a:pt x="0" y="0"/>
                </a:moveTo>
                <a:lnTo>
                  <a:pt x="4983083" y="0"/>
                </a:lnTo>
                <a:lnTo>
                  <a:pt x="4983083" y="1370348"/>
                </a:lnTo>
                <a:lnTo>
                  <a:pt x="0" y="137034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it-IT" dirty="0"/>
          </a:p>
        </p:txBody>
      </p:sp>
      <p:sp>
        <p:nvSpPr>
          <p:cNvPr id="24" name="Freeform 24"/>
          <p:cNvSpPr/>
          <p:nvPr/>
        </p:nvSpPr>
        <p:spPr>
          <a:xfrm>
            <a:off x="15765540" y="294725"/>
            <a:ext cx="2080170" cy="1739830"/>
          </a:xfrm>
          <a:custGeom>
            <a:avLst/>
            <a:gdLst/>
            <a:ahLst/>
            <a:cxnLst/>
            <a:rect l="l" t="t" r="r" b="b"/>
            <a:pathLst>
              <a:path w="2080170" h="1739830">
                <a:moveTo>
                  <a:pt x="0" y="0"/>
                </a:moveTo>
                <a:lnTo>
                  <a:pt x="2080169" y="0"/>
                </a:lnTo>
                <a:lnTo>
                  <a:pt x="2080169" y="1739830"/>
                </a:lnTo>
                <a:lnTo>
                  <a:pt x="0" y="173983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  <p:txBody>
          <a:bodyPr/>
          <a:lstStyle/>
          <a:p>
            <a:endParaRPr lang="it-IT" dirty="0"/>
          </a:p>
        </p:txBody>
      </p:sp>
      <p:sp>
        <p:nvSpPr>
          <p:cNvPr id="25" name="TextBox 25"/>
          <p:cNvSpPr txBox="1"/>
          <p:nvPr/>
        </p:nvSpPr>
        <p:spPr>
          <a:xfrm>
            <a:off x="1028700" y="504517"/>
            <a:ext cx="8115300" cy="14055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68"/>
              </a:lnSpc>
            </a:pPr>
            <a:r>
              <a:rPr lang="en-US" sz="4800" b="1" spc="-235" dirty="0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OFFERTA TECNICO ECONOMICA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028700" y="1845891"/>
            <a:ext cx="9042843" cy="12282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5040"/>
              </a:lnSpc>
              <a:spcBef>
                <a:spcPct val="0"/>
              </a:spcBef>
            </a:pPr>
            <a:r>
              <a:rPr lang="en-US" sz="3600" b="1" spc="-176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{{nome_impianto}}</a:t>
            </a:r>
          </a:p>
          <a:p>
            <a:pPr algn="l">
              <a:lnSpc>
                <a:spcPts val="5040"/>
              </a:lnSpc>
              <a:spcBef>
                <a:spcPct val="0"/>
              </a:spcBef>
            </a:pPr>
            <a:r>
              <a:rPr lang="en-US" sz="3600" b="1" spc="-176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{{potenza_kwp}} kWp </a:t>
            </a:r>
            <a:r>
              <a:rPr lang="en-US" sz="3600" b="1" spc="-176" dirty="0" err="1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Pannelli</a:t>
            </a:r>
            <a:r>
              <a:rPr lang="en-US" sz="3600" b="1" spc="-176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 {{potenza_modulo_w}} W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834409" y="4404636"/>
            <a:ext cx="2974746" cy="596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00"/>
              </a:lnSpc>
              <a:spcBef>
                <a:spcPct val="0"/>
              </a:spcBef>
            </a:pPr>
            <a:r>
              <a:rPr lang="en-US" sz="3500" b="1" spc="-171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Solar Energy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834409" y="5683644"/>
            <a:ext cx="2974746" cy="596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00"/>
              </a:lnSpc>
              <a:spcBef>
                <a:spcPct val="0"/>
              </a:spcBef>
            </a:pPr>
            <a:r>
              <a:rPr lang="en-US" sz="3500" b="1" spc="-171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Agricoltura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6113515" y="4401036"/>
            <a:ext cx="4384043" cy="596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00"/>
              </a:lnSpc>
              <a:spcBef>
                <a:spcPct val="0"/>
              </a:spcBef>
            </a:pPr>
            <a:r>
              <a:rPr lang="en-US" sz="3500" b="1" spc="-171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Rinnovabili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6346298" y="5683644"/>
            <a:ext cx="3918477" cy="596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00"/>
              </a:lnSpc>
              <a:spcBef>
                <a:spcPct val="0"/>
              </a:spcBef>
            </a:pPr>
            <a:r>
              <a:rPr lang="en-US" sz="3500" b="1" spc="-171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Agrivoltaico</a:t>
            </a:r>
          </a:p>
        </p:txBody>
      </p:sp>
      <p:sp>
        <p:nvSpPr>
          <p:cNvPr id="130" name="Dati offerta"/>
          <p:cNvSpPr txBox="1"/>
          <p:nvPr/>
        </p:nvSpPr>
        <p:spPr>
          <a:xfrm>
            <a:off x="1028700" y="6850000"/>
            <a:ext cx="9300000" cy="150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300"/>
              </a:lnSpc>
              <a:spcAft>
                <a:spcPts val="0"/>
              </a:spcAft>
              <a:buNone/>
            </a:pPr>
            <a:r>
              <a:rPr lang="it-IT" sz="24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Cliente </a:t>
            </a:r>
            <a:r>
              <a:rPr lang="it-IT" sz="24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{{cliente}}</a:t>
            </a:r>
          </a:p>
          <a:p>
            <a:pPr algn="l">
              <a:lnSpc>
                <a:spcPts val="3300"/>
              </a:lnSpc>
              <a:spcAft>
                <a:spcPts val="0"/>
              </a:spcAft>
              <a:buNone/>
            </a:pPr>
            <a:r>
              <a:rPr lang="it-IT" sz="24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Offerta n. </a:t>
            </a:r>
            <a:r>
              <a:rPr lang="it-IT" sz="24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{{numero_offerta}} rev. {{revisione}}</a:t>
            </a:r>
          </a:p>
          <a:p>
            <a:pPr algn="l">
              <a:lnSpc>
                <a:spcPts val="3300"/>
              </a:lnSpc>
              <a:spcAft>
                <a:spcPts val="0"/>
              </a:spcAft>
              <a:buNone/>
            </a:pPr>
            <a:r>
              <a:rPr lang="it-IT" sz="24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Data </a:t>
            </a:r>
            <a:r>
              <a:rPr lang="it-IT" sz="24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{{data_offerta}}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2C2C2C">
                <a:alpha val="100000"/>
              </a:srgbClr>
            </a:gs>
            <a:gs pos="100000">
              <a:srgbClr val="000000">
                <a:alpha val="100000"/>
              </a:srgbClr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3"/>
          <p:cNvSpPr/>
          <p:nvPr/>
        </p:nvSpPr>
        <p:spPr>
          <a:xfrm>
            <a:off x="10477325" y="1744114"/>
            <a:ext cx="8002916" cy="7988366"/>
          </a:xfrm>
          <a:custGeom>
            <a:avLst/>
            <a:gdLst/>
            <a:ahLst/>
            <a:cxnLst/>
            <a:rect l="l" t="t" r="r" b="b"/>
            <a:pathLst>
              <a:path w="8002916" h="7988366">
                <a:moveTo>
                  <a:pt x="0" y="0"/>
                </a:moveTo>
                <a:lnTo>
                  <a:pt x="8002917" y="0"/>
                </a:lnTo>
                <a:lnTo>
                  <a:pt x="8002917" y="7988365"/>
                </a:lnTo>
                <a:lnTo>
                  <a:pt x="0" y="798836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it-IT"/>
          </a:p>
        </p:txBody>
      </p:sp>
      <p:grpSp>
        <p:nvGrpSpPr>
          <p:cNvPr id="4" name="Group 4"/>
          <p:cNvGrpSpPr/>
          <p:nvPr/>
        </p:nvGrpSpPr>
        <p:grpSpPr>
          <a:xfrm>
            <a:off x="11738801" y="3441020"/>
            <a:ext cx="6549199" cy="6549199"/>
            <a:chOff x="0" y="0"/>
            <a:chExt cx="812800" cy="8128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79E920">
                    <a:alpha val="100000"/>
                  </a:srgbClr>
                </a:gs>
                <a:gs pos="100000">
                  <a:srgbClr val="233D0F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it-IT"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2223965" y="3890528"/>
            <a:ext cx="5578871" cy="5578871"/>
            <a:chOff x="0" y="0"/>
            <a:chExt cx="812800" cy="8128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3"/>
              <a:stretch>
                <a:fillRect t="-16666" b="-16666"/>
              </a:stretch>
            </a:blipFill>
          </p:spPr>
          <p:txBody>
            <a:bodyPr/>
            <a:lstStyle/>
            <a:p>
              <a:endParaRPr lang="it-IT"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1028700" y="4346763"/>
            <a:ext cx="6996424" cy="820375"/>
            <a:chOff x="0" y="0"/>
            <a:chExt cx="3465910" cy="4064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3465910" cy="406400"/>
            </a:xfrm>
            <a:custGeom>
              <a:avLst/>
              <a:gdLst/>
              <a:ahLst/>
              <a:cxnLst/>
              <a:rect l="l" t="t" r="r" b="b"/>
              <a:pathLst>
                <a:path w="3465910" h="406400">
                  <a:moveTo>
                    <a:pt x="3262710" y="0"/>
                  </a:moveTo>
                  <a:cubicBezTo>
                    <a:pt x="3374934" y="0"/>
                    <a:pt x="3465910" y="90976"/>
                    <a:pt x="3465910" y="203200"/>
                  </a:cubicBezTo>
                  <a:cubicBezTo>
                    <a:pt x="3465910" y="315424"/>
                    <a:pt x="3374934" y="406400"/>
                    <a:pt x="3262710" y="406400"/>
                  </a:cubicBezTo>
                  <a:lnTo>
                    <a:pt x="203200" y="406400"/>
                  </a:lnTo>
                  <a:cubicBezTo>
                    <a:pt x="90976" y="406400"/>
                    <a:pt x="0" y="315424"/>
                    <a:pt x="0" y="203200"/>
                  </a:cubicBez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79E920"/>
            </a:solidFill>
          </p:spPr>
          <p:txBody>
            <a:bodyPr/>
            <a:lstStyle/>
            <a:p>
              <a:endParaRPr lang="it-IT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3465910" cy="444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028700" y="5324086"/>
            <a:ext cx="6996424" cy="820375"/>
            <a:chOff x="0" y="0"/>
            <a:chExt cx="3465910" cy="4064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3465910" cy="406400"/>
            </a:xfrm>
            <a:custGeom>
              <a:avLst/>
              <a:gdLst/>
              <a:ahLst/>
              <a:cxnLst/>
              <a:rect l="l" t="t" r="r" b="b"/>
              <a:pathLst>
                <a:path w="3465910" h="406400">
                  <a:moveTo>
                    <a:pt x="3262710" y="0"/>
                  </a:moveTo>
                  <a:cubicBezTo>
                    <a:pt x="3374934" y="0"/>
                    <a:pt x="3465910" y="90976"/>
                    <a:pt x="3465910" y="203200"/>
                  </a:cubicBezTo>
                  <a:cubicBezTo>
                    <a:pt x="3465910" y="315424"/>
                    <a:pt x="3374934" y="406400"/>
                    <a:pt x="3262710" y="406400"/>
                  </a:cubicBezTo>
                  <a:lnTo>
                    <a:pt x="203200" y="406400"/>
                  </a:lnTo>
                  <a:cubicBezTo>
                    <a:pt x="90976" y="406400"/>
                    <a:pt x="0" y="315424"/>
                    <a:pt x="0" y="203200"/>
                  </a:cubicBez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79E920"/>
            </a:solidFill>
          </p:spPr>
          <p:txBody>
            <a:bodyPr/>
            <a:lstStyle/>
            <a:p>
              <a:endParaRPr lang="it-IT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3465910" cy="444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028700" y="6301409"/>
            <a:ext cx="6996424" cy="820375"/>
            <a:chOff x="0" y="0"/>
            <a:chExt cx="3465910" cy="40640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3465910" cy="406400"/>
            </a:xfrm>
            <a:custGeom>
              <a:avLst/>
              <a:gdLst/>
              <a:ahLst/>
              <a:cxnLst/>
              <a:rect l="l" t="t" r="r" b="b"/>
              <a:pathLst>
                <a:path w="3465910" h="406400">
                  <a:moveTo>
                    <a:pt x="3262710" y="0"/>
                  </a:moveTo>
                  <a:cubicBezTo>
                    <a:pt x="3374934" y="0"/>
                    <a:pt x="3465910" y="90976"/>
                    <a:pt x="3465910" y="203200"/>
                  </a:cubicBezTo>
                  <a:cubicBezTo>
                    <a:pt x="3465910" y="315424"/>
                    <a:pt x="3374934" y="406400"/>
                    <a:pt x="3262710" y="406400"/>
                  </a:cubicBezTo>
                  <a:lnTo>
                    <a:pt x="203200" y="406400"/>
                  </a:lnTo>
                  <a:cubicBezTo>
                    <a:pt x="90976" y="406400"/>
                    <a:pt x="0" y="315424"/>
                    <a:pt x="0" y="203200"/>
                  </a:cubicBez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79E920"/>
            </a:solidFill>
          </p:spPr>
          <p:txBody>
            <a:bodyPr/>
            <a:lstStyle/>
            <a:p>
              <a:endParaRPr lang="it-IT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3465910" cy="444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1028700" y="7278733"/>
            <a:ext cx="6996424" cy="820375"/>
            <a:chOff x="0" y="0"/>
            <a:chExt cx="3465910" cy="40640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3465910" cy="406400"/>
            </a:xfrm>
            <a:custGeom>
              <a:avLst/>
              <a:gdLst/>
              <a:ahLst/>
              <a:cxnLst/>
              <a:rect l="l" t="t" r="r" b="b"/>
              <a:pathLst>
                <a:path w="3465910" h="406400">
                  <a:moveTo>
                    <a:pt x="3262710" y="0"/>
                  </a:moveTo>
                  <a:cubicBezTo>
                    <a:pt x="3374934" y="0"/>
                    <a:pt x="3465910" y="90976"/>
                    <a:pt x="3465910" y="203200"/>
                  </a:cubicBezTo>
                  <a:cubicBezTo>
                    <a:pt x="3465910" y="315424"/>
                    <a:pt x="3374934" y="406400"/>
                    <a:pt x="3262710" y="406400"/>
                  </a:cubicBezTo>
                  <a:lnTo>
                    <a:pt x="203200" y="406400"/>
                  </a:lnTo>
                  <a:cubicBezTo>
                    <a:pt x="90976" y="406400"/>
                    <a:pt x="0" y="315424"/>
                    <a:pt x="0" y="203200"/>
                  </a:cubicBez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79E920"/>
            </a:solidFill>
          </p:spPr>
          <p:txBody>
            <a:bodyPr/>
            <a:lstStyle/>
            <a:p>
              <a:endParaRPr lang="it-IT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38100"/>
              <a:ext cx="3465910" cy="444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1132394" y="4441287"/>
            <a:ext cx="576005" cy="576005"/>
            <a:chOff x="0" y="0"/>
            <a:chExt cx="812800" cy="81280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it-IT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1132394" y="5432284"/>
            <a:ext cx="576005" cy="576005"/>
            <a:chOff x="0" y="0"/>
            <a:chExt cx="812800" cy="81280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it-IT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7" name="TextBox 27"/>
          <p:cNvSpPr txBox="1"/>
          <p:nvPr/>
        </p:nvSpPr>
        <p:spPr>
          <a:xfrm>
            <a:off x="787342" y="1780741"/>
            <a:ext cx="16952633" cy="18497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773"/>
              </a:lnSpc>
            </a:pPr>
            <a:r>
              <a:rPr lang="en-US" sz="2902" b="1" dirty="0" err="1">
                <a:solidFill>
                  <a:srgbClr val="FFFFFF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Soluzione</a:t>
            </a:r>
            <a:r>
              <a:rPr lang="en-US" sz="2902" b="1" dirty="0">
                <a:solidFill>
                  <a:srgbClr val="FFFFFF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 </a:t>
            </a:r>
            <a:r>
              <a:rPr lang="en-US" sz="2902" b="1" dirty="0" err="1">
                <a:solidFill>
                  <a:srgbClr val="FFFFFF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affidabile</a:t>
            </a:r>
            <a:r>
              <a:rPr lang="en-US" sz="2902" b="1" dirty="0">
                <a:solidFill>
                  <a:srgbClr val="FFFFFF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, </a:t>
            </a:r>
            <a:r>
              <a:rPr lang="en-US" sz="2902" b="1" dirty="0" err="1">
                <a:solidFill>
                  <a:srgbClr val="FFFFFF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evolutiva</a:t>
            </a:r>
            <a:r>
              <a:rPr lang="en-US" sz="2902" b="1" dirty="0">
                <a:solidFill>
                  <a:srgbClr val="FFFFFF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 e </a:t>
            </a:r>
            <a:r>
              <a:rPr lang="en-US" sz="2902" b="1" dirty="0" err="1">
                <a:solidFill>
                  <a:srgbClr val="FFFFFF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pienamente</a:t>
            </a:r>
            <a:r>
              <a:rPr lang="en-US" sz="2902" b="1" dirty="0">
                <a:solidFill>
                  <a:srgbClr val="FFFFFF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 </a:t>
            </a:r>
            <a:r>
              <a:rPr lang="en-US" sz="2902" b="1" dirty="0" err="1">
                <a:solidFill>
                  <a:srgbClr val="FFFFFF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integrata</a:t>
            </a:r>
            <a:r>
              <a:rPr lang="en-US" sz="2902" b="1" dirty="0">
                <a:solidFill>
                  <a:srgbClr val="FFFFFF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. </a:t>
            </a:r>
          </a:p>
          <a:p>
            <a:pPr algn="just">
              <a:lnSpc>
                <a:spcPts val="3643"/>
              </a:lnSpc>
            </a:pPr>
            <a:r>
              <a:rPr lang="en-US" sz="2802" b="1" dirty="0">
                <a:solidFill>
                  <a:srgbClr val="FFFFFF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Il nostro </a:t>
            </a:r>
            <a:r>
              <a:rPr lang="en-US" sz="2802" b="1" dirty="0" err="1">
                <a:solidFill>
                  <a:srgbClr val="FFFFFF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approccio</a:t>
            </a:r>
            <a:r>
              <a:rPr lang="en-US" sz="2802" b="1" dirty="0">
                <a:solidFill>
                  <a:srgbClr val="FFFFFF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 </a:t>
            </a:r>
            <a:r>
              <a:rPr lang="en-US" sz="2802" b="1" dirty="0" err="1">
                <a:solidFill>
                  <a:srgbClr val="FFFFFF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prevede</a:t>
            </a:r>
            <a:r>
              <a:rPr lang="en-US" sz="2802" b="1" dirty="0">
                <a:solidFill>
                  <a:srgbClr val="FFFFFF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 la completa </a:t>
            </a:r>
            <a:r>
              <a:rPr lang="en-US" sz="2802" b="1" dirty="0" err="1">
                <a:solidFill>
                  <a:srgbClr val="FFFFFF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gestione</a:t>
            </a:r>
            <a:r>
              <a:rPr lang="en-US" sz="2802" b="1" dirty="0">
                <a:solidFill>
                  <a:srgbClr val="FFFFFF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 interna della </a:t>
            </a:r>
            <a:r>
              <a:rPr lang="en-US" sz="2802" b="1" dirty="0" err="1">
                <a:solidFill>
                  <a:srgbClr val="FFFFFF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progettazione</a:t>
            </a:r>
            <a:r>
              <a:rPr lang="en-US" sz="2802" b="1" dirty="0">
                <a:solidFill>
                  <a:srgbClr val="FFFFFF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, </a:t>
            </a:r>
            <a:r>
              <a:rPr lang="en-US" sz="2802" b="1" dirty="0" err="1">
                <a:solidFill>
                  <a:srgbClr val="FFFFFF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produzione</a:t>
            </a:r>
            <a:r>
              <a:rPr lang="en-US" sz="2802" b="1" dirty="0">
                <a:solidFill>
                  <a:srgbClr val="FFFFFF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, software di </a:t>
            </a:r>
            <a:r>
              <a:rPr lang="en-US" sz="2802" b="1" dirty="0" err="1">
                <a:solidFill>
                  <a:srgbClr val="FFFFFF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controllo</a:t>
            </a:r>
            <a:r>
              <a:rPr lang="en-US" sz="2802" b="1" dirty="0">
                <a:solidFill>
                  <a:srgbClr val="FFFFFF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 e </a:t>
            </a:r>
            <a:r>
              <a:rPr lang="en-US" sz="2802" b="1" dirty="0" err="1">
                <a:solidFill>
                  <a:srgbClr val="FFFFFF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assistenza</a:t>
            </a:r>
            <a:r>
              <a:rPr lang="en-US" sz="2802" b="1" dirty="0">
                <a:solidFill>
                  <a:srgbClr val="FFFFFF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 post-</a:t>
            </a:r>
            <a:r>
              <a:rPr lang="en-US" sz="2802" b="1" dirty="0" err="1">
                <a:solidFill>
                  <a:srgbClr val="FFFFFF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vendita</a:t>
            </a:r>
            <a:r>
              <a:rPr lang="en-US" sz="2802" b="1" dirty="0">
                <a:solidFill>
                  <a:srgbClr val="FFFFFF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, </a:t>
            </a:r>
            <a:r>
              <a:rPr lang="en-US" sz="2802" b="1" dirty="0" err="1">
                <a:solidFill>
                  <a:srgbClr val="FFFFFF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garantendo</a:t>
            </a:r>
            <a:r>
              <a:rPr lang="en-US" sz="2802" b="1" dirty="0">
                <a:solidFill>
                  <a:srgbClr val="FFFFFF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 </a:t>
            </a:r>
            <a:r>
              <a:rPr lang="en-US" sz="2802" b="1" dirty="0" err="1">
                <a:solidFill>
                  <a:srgbClr val="FFFFFF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massima</a:t>
            </a:r>
            <a:r>
              <a:rPr lang="en-US" sz="2802" b="1" dirty="0">
                <a:solidFill>
                  <a:srgbClr val="FFFFFF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 </a:t>
            </a:r>
            <a:r>
              <a:rPr lang="en-US" sz="2802" b="1" dirty="0" err="1">
                <a:solidFill>
                  <a:srgbClr val="FFFFFF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flessibilità</a:t>
            </a:r>
            <a:r>
              <a:rPr lang="en-US" sz="2802" b="1" dirty="0">
                <a:solidFill>
                  <a:srgbClr val="FFFFFF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 </a:t>
            </a:r>
            <a:r>
              <a:rPr lang="en-US" sz="2802" b="1" dirty="0" err="1">
                <a:solidFill>
                  <a:srgbClr val="FFFFFF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operativa</a:t>
            </a:r>
            <a:r>
              <a:rPr lang="en-US" sz="2802" b="1" dirty="0">
                <a:solidFill>
                  <a:srgbClr val="FFFFFF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 e </a:t>
            </a:r>
            <a:r>
              <a:rPr lang="en-US" sz="2802" b="1" dirty="0" err="1">
                <a:solidFill>
                  <a:srgbClr val="FFFFFF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possibilità</a:t>
            </a:r>
            <a:r>
              <a:rPr lang="en-US" sz="2802" b="1" dirty="0">
                <a:solidFill>
                  <a:srgbClr val="FFFFFF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 di </a:t>
            </a:r>
            <a:r>
              <a:rPr lang="en-US" sz="2802" b="1" dirty="0" err="1">
                <a:solidFill>
                  <a:srgbClr val="FFFFFF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personalizzazione</a:t>
            </a:r>
            <a:r>
              <a:rPr lang="en-US" sz="2802" b="1" dirty="0">
                <a:solidFill>
                  <a:srgbClr val="FFFFFF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 </a:t>
            </a:r>
            <a:r>
              <a:rPr lang="en-US" sz="2802" b="1" dirty="0" err="1">
                <a:solidFill>
                  <a:srgbClr val="FFFFFF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nel</a:t>
            </a:r>
            <a:r>
              <a:rPr lang="en-US" sz="2802" b="1" dirty="0">
                <a:solidFill>
                  <a:srgbClr val="FFFFFF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 tempo. </a:t>
            </a:r>
          </a:p>
        </p:txBody>
      </p:sp>
      <p:grpSp>
        <p:nvGrpSpPr>
          <p:cNvPr id="28" name="Group 28"/>
          <p:cNvGrpSpPr/>
          <p:nvPr/>
        </p:nvGrpSpPr>
        <p:grpSpPr>
          <a:xfrm>
            <a:off x="1132394" y="6423280"/>
            <a:ext cx="576005" cy="576005"/>
            <a:chOff x="0" y="0"/>
            <a:chExt cx="812800" cy="812800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it-IT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1132394" y="7414277"/>
            <a:ext cx="576005" cy="576005"/>
            <a:chOff x="0" y="0"/>
            <a:chExt cx="812800" cy="812800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it-IT"/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34" name="Freeform 34"/>
          <p:cNvSpPr/>
          <p:nvPr/>
        </p:nvSpPr>
        <p:spPr>
          <a:xfrm>
            <a:off x="1237763" y="4560137"/>
            <a:ext cx="365268" cy="338305"/>
          </a:xfrm>
          <a:custGeom>
            <a:avLst/>
            <a:gdLst/>
            <a:ahLst/>
            <a:cxnLst/>
            <a:rect l="l" t="t" r="r" b="b"/>
            <a:pathLst>
              <a:path w="365268" h="338305">
                <a:moveTo>
                  <a:pt x="0" y="0"/>
                </a:moveTo>
                <a:lnTo>
                  <a:pt x="365268" y="0"/>
                </a:lnTo>
                <a:lnTo>
                  <a:pt x="365268" y="338305"/>
                </a:lnTo>
                <a:lnTo>
                  <a:pt x="0" y="33830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it-IT"/>
          </a:p>
        </p:txBody>
      </p:sp>
      <p:sp>
        <p:nvSpPr>
          <p:cNvPr id="35" name="Freeform 35"/>
          <p:cNvSpPr/>
          <p:nvPr/>
        </p:nvSpPr>
        <p:spPr>
          <a:xfrm>
            <a:off x="1237763" y="5551134"/>
            <a:ext cx="365268" cy="338305"/>
          </a:xfrm>
          <a:custGeom>
            <a:avLst/>
            <a:gdLst/>
            <a:ahLst/>
            <a:cxnLst/>
            <a:rect l="l" t="t" r="r" b="b"/>
            <a:pathLst>
              <a:path w="365268" h="338305">
                <a:moveTo>
                  <a:pt x="0" y="0"/>
                </a:moveTo>
                <a:lnTo>
                  <a:pt x="365268" y="0"/>
                </a:lnTo>
                <a:lnTo>
                  <a:pt x="365268" y="338305"/>
                </a:lnTo>
                <a:lnTo>
                  <a:pt x="0" y="33830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it-IT"/>
          </a:p>
        </p:txBody>
      </p:sp>
      <p:sp>
        <p:nvSpPr>
          <p:cNvPr id="36" name="Freeform 36"/>
          <p:cNvSpPr/>
          <p:nvPr/>
        </p:nvSpPr>
        <p:spPr>
          <a:xfrm>
            <a:off x="1237763" y="6542130"/>
            <a:ext cx="365268" cy="338305"/>
          </a:xfrm>
          <a:custGeom>
            <a:avLst/>
            <a:gdLst/>
            <a:ahLst/>
            <a:cxnLst/>
            <a:rect l="l" t="t" r="r" b="b"/>
            <a:pathLst>
              <a:path w="365268" h="338305">
                <a:moveTo>
                  <a:pt x="0" y="0"/>
                </a:moveTo>
                <a:lnTo>
                  <a:pt x="365268" y="0"/>
                </a:lnTo>
                <a:lnTo>
                  <a:pt x="365268" y="338306"/>
                </a:lnTo>
                <a:lnTo>
                  <a:pt x="0" y="33830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it-IT"/>
          </a:p>
        </p:txBody>
      </p:sp>
      <p:sp>
        <p:nvSpPr>
          <p:cNvPr id="37" name="Freeform 37"/>
          <p:cNvSpPr/>
          <p:nvPr/>
        </p:nvSpPr>
        <p:spPr>
          <a:xfrm>
            <a:off x="1237763" y="7533127"/>
            <a:ext cx="365268" cy="338305"/>
          </a:xfrm>
          <a:custGeom>
            <a:avLst/>
            <a:gdLst/>
            <a:ahLst/>
            <a:cxnLst/>
            <a:rect l="l" t="t" r="r" b="b"/>
            <a:pathLst>
              <a:path w="365268" h="338305">
                <a:moveTo>
                  <a:pt x="0" y="0"/>
                </a:moveTo>
                <a:lnTo>
                  <a:pt x="365268" y="0"/>
                </a:lnTo>
                <a:lnTo>
                  <a:pt x="365268" y="338305"/>
                </a:lnTo>
                <a:lnTo>
                  <a:pt x="0" y="33830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it-IT"/>
          </a:p>
        </p:txBody>
      </p:sp>
      <p:sp>
        <p:nvSpPr>
          <p:cNvPr id="38" name="Freeform 38"/>
          <p:cNvSpPr/>
          <p:nvPr/>
        </p:nvSpPr>
        <p:spPr>
          <a:xfrm>
            <a:off x="8418189" y="4394388"/>
            <a:ext cx="5133239" cy="5123906"/>
          </a:xfrm>
          <a:custGeom>
            <a:avLst/>
            <a:gdLst/>
            <a:ahLst/>
            <a:cxnLst/>
            <a:rect l="l" t="t" r="r" b="b"/>
            <a:pathLst>
              <a:path w="5133239" h="5123906">
                <a:moveTo>
                  <a:pt x="0" y="0"/>
                </a:moveTo>
                <a:lnTo>
                  <a:pt x="5133239" y="0"/>
                </a:lnTo>
                <a:lnTo>
                  <a:pt x="5133239" y="5123906"/>
                </a:lnTo>
                <a:lnTo>
                  <a:pt x="0" y="512390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it-IT"/>
          </a:p>
        </p:txBody>
      </p:sp>
      <p:grpSp>
        <p:nvGrpSpPr>
          <p:cNvPr id="39" name="Group 39"/>
          <p:cNvGrpSpPr/>
          <p:nvPr/>
        </p:nvGrpSpPr>
        <p:grpSpPr>
          <a:xfrm>
            <a:off x="8875812" y="4855944"/>
            <a:ext cx="4200794" cy="4200794"/>
            <a:chOff x="0" y="0"/>
            <a:chExt cx="812800" cy="812800"/>
          </a:xfrm>
        </p:grpSpPr>
        <p:sp>
          <p:nvSpPr>
            <p:cNvPr id="40" name="Freeform 40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79E920">
                    <a:alpha val="100000"/>
                  </a:srgbClr>
                </a:gs>
                <a:gs pos="100000">
                  <a:srgbClr val="233D0F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it-IT"/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42" name="Group 42"/>
          <p:cNvGrpSpPr/>
          <p:nvPr/>
        </p:nvGrpSpPr>
        <p:grpSpPr>
          <a:xfrm>
            <a:off x="9187006" y="5167138"/>
            <a:ext cx="3578406" cy="3578406"/>
            <a:chOff x="0" y="0"/>
            <a:chExt cx="812800" cy="812800"/>
          </a:xfrm>
        </p:grpSpPr>
        <p:sp>
          <p:nvSpPr>
            <p:cNvPr id="43" name="Freeform 4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5"/>
              <a:stretch>
                <a:fillRect l="-29199" r="-4133"/>
              </a:stretch>
            </a:blipFill>
          </p:spPr>
          <p:txBody>
            <a:bodyPr/>
            <a:lstStyle/>
            <a:p>
              <a:endParaRPr lang="it-IT"/>
            </a:p>
          </p:txBody>
        </p:sp>
      </p:grpSp>
      <p:sp>
        <p:nvSpPr>
          <p:cNvPr id="44" name="Freeform 44"/>
          <p:cNvSpPr/>
          <p:nvPr/>
        </p:nvSpPr>
        <p:spPr>
          <a:xfrm flipH="1">
            <a:off x="8875812" y="8121164"/>
            <a:ext cx="1248759" cy="1248759"/>
          </a:xfrm>
          <a:custGeom>
            <a:avLst/>
            <a:gdLst/>
            <a:ahLst/>
            <a:cxnLst/>
            <a:rect l="l" t="t" r="r" b="b"/>
            <a:pathLst>
              <a:path w="1248759" h="1248759">
                <a:moveTo>
                  <a:pt x="1248759" y="0"/>
                </a:moveTo>
                <a:lnTo>
                  <a:pt x="0" y="0"/>
                </a:lnTo>
                <a:lnTo>
                  <a:pt x="0" y="1248759"/>
                </a:lnTo>
                <a:lnTo>
                  <a:pt x="1248759" y="1248759"/>
                </a:lnTo>
                <a:lnTo>
                  <a:pt x="1248759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it-IT"/>
          </a:p>
        </p:txBody>
      </p:sp>
      <p:sp>
        <p:nvSpPr>
          <p:cNvPr id="45" name="Freeform 45"/>
          <p:cNvSpPr/>
          <p:nvPr/>
        </p:nvSpPr>
        <p:spPr>
          <a:xfrm rot="5400000">
            <a:off x="10636248" y="588635"/>
            <a:ext cx="996555" cy="1314401"/>
          </a:xfrm>
          <a:custGeom>
            <a:avLst/>
            <a:gdLst/>
            <a:ahLst/>
            <a:cxnLst/>
            <a:rect l="l" t="t" r="r" b="b"/>
            <a:pathLst>
              <a:path w="996555" h="1314401">
                <a:moveTo>
                  <a:pt x="0" y="0"/>
                </a:moveTo>
                <a:lnTo>
                  <a:pt x="996556" y="0"/>
                </a:lnTo>
                <a:lnTo>
                  <a:pt x="996556" y="1314402"/>
                </a:lnTo>
                <a:lnTo>
                  <a:pt x="0" y="131440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it-IT"/>
          </a:p>
        </p:txBody>
      </p:sp>
      <p:sp>
        <p:nvSpPr>
          <p:cNvPr id="46" name="Freeform 46"/>
          <p:cNvSpPr/>
          <p:nvPr/>
        </p:nvSpPr>
        <p:spPr>
          <a:xfrm>
            <a:off x="16618135" y="9047200"/>
            <a:ext cx="1121840" cy="422199"/>
          </a:xfrm>
          <a:custGeom>
            <a:avLst/>
            <a:gdLst/>
            <a:ahLst/>
            <a:cxnLst/>
            <a:rect l="l" t="t" r="r" b="b"/>
            <a:pathLst>
              <a:path w="1121840" h="422199">
                <a:moveTo>
                  <a:pt x="0" y="0"/>
                </a:moveTo>
                <a:lnTo>
                  <a:pt x="1121841" y="0"/>
                </a:lnTo>
                <a:lnTo>
                  <a:pt x="1121841" y="422200"/>
                </a:lnTo>
                <a:lnTo>
                  <a:pt x="0" y="4222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t="-360269" r="-71960"/>
            </a:stretch>
          </a:blipFill>
        </p:spPr>
        <p:txBody>
          <a:bodyPr/>
          <a:lstStyle/>
          <a:p>
            <a:endParaRPr lang="it-IT"/>
          </a:p>
        </p:txBody>
      </p:sp>
      <p:sp>
        <p:nvSpPr>
          <p:cNvPr id="47" name="Freeform 47"/>
          <p:cNvSpPr/>
          <p:nvPr/>
        </p:nvSpPr>
        <p:spPr>
          <a:xfrm>
            <a:off x="15765540" y="294725"/>
            <a:ext cx="2080170" cy="1739830"/>
          </a:xfrm>
          <a:custGeom>
            <a:avLst/>
            <a:gdLst/>
            <a:ahLst/>
            <a:cxnLst/>
            <a:rect l="l" t="t" r="r" b="b"/>
            <a:pathLst>
              <a:path w="2080170" h="1739830">
                <a:moveTo>
                  <a:pt x="0" y="0"/>
                </a:moveTo>
                <a:lnTo>
                  <a:pt x="2080169" y="0"/>
                </a:lnTo>
                <a:lnTo>
                  <a:pt x="2080169" y="1739830"/>
                </a:lnTo>
                <a:lnTo>
                  <a:pt x="0" y="173983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  <p:txBody>
          <a:bodyPr/>
          <a:lstStyle/>
          <a:p>
            <a:endParaRPr lang="it-IT"/>
          </a:p>
        </p:txBody>
      </p:sp>
      <p:sp>
        <p:nvSpPr>
          <p:cNvPr id="48" name="Freeform 48"/>
          <p:cNvSpPr/>
          <p:nvPr/>
        </p:nvSpPr>
        <p:spPr>
          <a:xfrm>
            <a:off x="612089" y="8596796"/>
            <a:ext cx="4983083" cy="1370348"/>
          </a:xfrm>
          <a:custGeom>
            <a:avLst/>
            <a:gdLst/>
            <a:ahLst/>
            <a:cxnLst/>
            <a:rect l="l" t="t" r="r" b="b"/>
            <a:pathLst>
              <a:path w="4983083" h="1370348">
                <a:moveTo>
                  <a:pt x="0" y="0"/>
                </a:moveTo>
                <a:lnTo>
                  <a:pt x="4983083" y="0"/>
                </a:lnTo>
                <a:lnTo>
                  <a:pt x="4983083" y="1370348"/>
                </a:lnTo>
                <a:lnTo>
                  <a:pt x="0" y="1370348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/>
            </a:stretch>
          </a:blipFill>
        </p:spPr>
        <p:txBody>
          <a:bodyPr/>
          <a:lstStyle/>
          <a:p>
            <a:endParaRPr lang="it-IT"/>
          </a:p>
        </p:txBody>
      </p:sp>
      <p:sp>
        <p:nvSpPr>
          <p:cNvPr id="49" name="TextBox 49"/>
          <p:cNvSpPr txBox="1"/>
          <p:nvPr/>
        </p:nvSpPr>
        <p:spPr>
          <a:xfrm>
            <a:off x="1935861" y="4397502"/>
            <a:ext cx="4841118" cy="596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900"/>
              </a:lnSpc>
              <a:spcBef>
                <a:spcPct val="0"/>
              </a:spcBef>
            </a:pPr>
            <a:r>
              <a:rPr lang="en-US" sz="3500" b="1" spc="-171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Robustezza strutturale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1935861" y="5388499"/>
            <a:ext cx="6298692" cy="596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900"/>
              </a:lnSpc>
              <a:spcBef>
                <a:spcPct val="0"/>
              </a:spcBef>
            </a:pPr>
            <a:r>
              <a:rPr lang="en-US" sz="3500" b="1" spc="-171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Affidabilità elettromeccanica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1935861" y="6379496"/>
            <a:ext cx="4841118" cy="596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900"/>
              </a:lnSpc>
              <a:spcBef>
                <a:spcPct val="0"/>
              </a:spcBef>
            </a:pPr>
            <a:r>
              <a:rPr lang="en-US" sz="3500" b="1" spc="-171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Continuità produttiva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1935861" y="7370492"/>
            <a:ext cx="5545922" cy="596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900"/>
              </a:lnSpc>
              <a:spcBef>
                <a:spcPct val="0"/>
              </a:spcBef>
            </a:pPr>
            <a:r>
              <a:rPr lang="en-US" sz="3500" b="1" spc="-171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supporto tecnico diretto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1180530" y="130690"/>
            <a:ext cx="4587120" cy="10192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397"/>
              </a:lnSpc>
              <a:spcBef>
                <a:spcPct val="0"/>
              </a:spcBef>
            </a:pPr>
            <a:r>
              <a:rPr lang="en-US" sz="5997" b="1" spc="-293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LA NOSTRA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1859610" y="632811"/>
            <a:ext cx="4993619" cy="11113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097"/>
              </a:lnSpc>
              <a:spcBef>
                <a:spcPct val="0"/>
              </a:spcBef>
            </a:pPr>
            <a:r>
              <a:rPr lang="en-US" sz="6497" b="1" spc="-318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proposta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2C2C2C">
                <a:alpha val="100000"/>
              </a:srgbClr>
            </a:gs>
            <a:gs pos="100000">
              <a:srgbClr val="000000">
                <a:alpha val="100000"/>
              </a:srgbClr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12089" y="8596796"/>
            <a:ext cx="4983083" cy="1370348"/>
          </a:xfrm>
          <a:custGeom>
            <a:avLst/>
            <a:gdLst/>
            <a:ahLst/>
            <a:cxnLst/>
            <a:rect l="l" t="t" r="r" b="b"/>
            <a:pathLst>
              <a:path w="4983083" h="1370348">
                <a:moveTo>
                  <a:pt x="0" y="0"/>
                </a:moveTo>
                <a:lnTo>
                  <a:pt x="4983083" y="0"/>
                </a:lnTo>
                <a:lnTo>
                  <a:pt x="4983083" y="1370348"/>
                </a:lnTo>
                <a:lnTo>
                  <a:pt x="0" y="137034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it-IT"/>
          </a:p>
        </p:txBody>
      </p:sp>
      <p:sp>
        <p:nvSpPr>
          <p:cNvPr id="3" name="Freeform 3"/>
          <p:cNvSpPr/>
          <p:nvPr/>
        </p:nvSpPr>
        <p:spPr>
          <a:xfrm>
            <a:off x="15765540" y="294725"/>
            <a:ext cx="2080170" cy="1739830"/>
          </a:xfrm>
          <a:custGeom>
            <a:avLst/>
            <a:gdLst/>
            <a:ahLst/>
            <a:cxnLst/>
            <a:rect l="l" t="t" r="r" b="b"/>
            <a:pathLst>
              <a:path w="2080170" h="1739830">
                <a:moveTo>
                  <a:pt x="0" y="0"/>
                </a:moveTo>
                <a:lnTo>
                  <a:pt x="2080169" y="0"/>
                </a:lnTo>
                <a:lnTo>
                  <a:pt x="2080169" y="1739830"/>
                </a:lnTo>
                <a:lnTo>
                  <a:pt x="0" y="173983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it-IT"/>
          </a:p>
        </p:txBody>
      </p:sp>
      <p:sp>
        <p:nvSpPr>
          <p:cNvPr id="5" name="TextBox 5"/>
          <p:cNvSpPr txBox="1"/>
          <p:nvPr/>
        </p:nvSpPr>
        <p:spPr>
          <a:xfrm>
            <a:off x="612089" y="170900"/>
            <a:ext cx="14500000" cy="10382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400"/>
              </a:lnSpc>
              <a:spcBef>
                <a:spcPct val="0"/>
              </a:spcBef>
            </a:pPr>
            <a:r>
              <a:rPr lang="en-US" sz="6000" b="1" spc="-294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INFORMAZIONI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12088" y="1054767"/>
            <a:ext cx="7693711" cy="9848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8400"/>
              </a:lnSpc>
              <a:spcBef>
                <a:spcPct val="0"/>
              </a:spcBef>
            </a:pPr>
            <a:r>
              <a:rPr lang="en-US" sz="6000" b="1" spc="-294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Generali</a:t>
            </a:r>
          </a:p>
        </p:txBody>
      </p:sp>
      <p:sp>
        <p:nvSpPr>
          <p:cNvPr id="201" name="Card 201"/>
          <p:cNvSpPr/>
          <p:nvPr/>
        </p:nvSpPr>
        <p:spPr>
          <a:xfrm>
            <a:off x="612089" y="2500000"/>
            <a:ext cx="8200000" cy="5500000"/>
          </a:xfrm>
          <a:prstGeom prst="roundRect">
            <a:avLst>
              <a:gd name="adj" fmla="val 6000"/>
            </a:avLst>
          </a:prstGeom>
          <a:solidFill>
            <a:srgbClr val="FFFFFF">
              <a:alpha val="7000"/>
            </a:srgbClr>
          </a:solidFill>
          <a:ln w="19050">
            <a:solidFill>
              <a:srgbClr val="79E920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endParaRPr lang="it-IT"/>
          </a:p>
        </p:txBody>
      </p:sp>
      <p:sp>
        <p:nvSpPr>
          <p:cNvPr id="202" name="Testo 202"/>
          <p:cNvSpPr txBox="1"/>
          <p:nvPr/>
        </p:nvSpPr>
        <p:spPr>
          <a:xfrm>
            <a:off x="912089" y="2800000"/>
            <a:ext cx="7600000" cy="550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Aft>
                <a:spcPts val="1400"/>
              </a:spcAft>
              <a:buNone/>
            </a:pPr>
            <a:r>
              <a:rPr lang="it-IT" sz="24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INFORMAZIONI GENERALI</a:t>
            </a:r>
          </a:p>
          <a:p>
            <a:pPr algn="l">
              <a:lnSpc>
                <a:spcPts val="2900"/>
              </a:lnSpc>
              <a:spcAft>
                <a:spcPts val="0"/>
              </a:spcAft>
              <a:buNone/>
            </a:pPr>
            <a:r>
              <a:rPr lang="it-IT" sz="2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Riferimento offerta: </a:t>
            </a:r>
            <a:r>
              <a:rPr lang="it-IT" sz="20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{{numero_offerta}} rev. {{revisione}}</a:t>
            </a:r>
          </a:p>
          <a:p>
            <a:pPr algn="l">
              <a:lnSpc>
                <a:spcPts val="2900"/>
              </a:lnSpc>
              <a:spcAft>
                <a:spcPts val="0"/>
              </a:spcAft>
              <a:buNone/>
            </a:pPr>
            <a:r>
              <a:rPr lang="it-IT" sz="2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Data offerta: </a:t>
            </a:r>
            <a:r>
              <a:rPr lang="it-IT" sz="20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{{data_offerta}}</a:t>
            </a:r>
          </a:p>
          <a:p>
            <a:pPr algn="l">
              <a:lnSpc>
                <a:spcPts val="2900"/>
              </a:lnSpc>
              <a:spcAft>
                <a:spcPts val="0"/>
              </a:spcAft>
              <a:buNone/>
            </a:pPr>
            <a:r>
              <a:rPr lang="it-IT" sz="2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Progetto: </a:t>
            </a:r>
            <a:r>
              <a:rPr lang="it-IT" sz="20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{{tipo_progetto}}</a:t>
            </a:r>
          </a:p>
          <a:p>
            <a:pPr algn="l">
              <a:lnSpc>
                <a:spcPts val="2900"/>
              </a:lnSpc>
              <a:spcAft>
                <a:spcPts val="0"/>
              </a:spcAft>
              <a:buNone/>
            </a:pPr>
            <a:r>
              <a:rPr lang="it-IT" sz="2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Cliente: </a:t>
            </a:r>
            <a:r>
              <a:rPr lang="it-IT" sz="20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{{cliente}}</a:t>
            </a:r>
          </a:p>
          <a:p>
            <a:pPr algn="l">
              <a:lnSpc>
                <a:spcPts val="2900"/>
              </a:lnSpc>
              <a:spcAft>
                <a:spcPts val="0"/>
              </a:spcAft>
              <a:buNone/>
            </a:pPr>
            <a:r>
              <a:rPr lang="it-IT" sz="2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Località: </a:t>
            </a:r>
            <a:r>
              <a:rPr lang="it-IT" sz="20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{{localita}}</a:t>
            </a:r>
          </a:p>
          <a:p>
            <a:pPr algn="l">
              <a:lnSpc>
                <a:spcPts val="2900"/>
              </a:lnSpc>
              <a:spcAft>
                <a:spcPts val="0"/>
              </a:spcAft>
              <a:buNone/>
            </a:pPr>
            <a:r>
              <a:rPr lang="it-IT" sz="2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Zona: </a:t>
            </a:r>
            <a:r>
              <a:rPr lang="it-IT" sz="20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{{zona}}</a:t>
            </a:r>
          </a:p>
          <a:p>
            <a:pPr algn="l">
              <a:lnSpc>
                <a:spcPts val="2900"/>
              </a:lnSpc>
              <a:spcAft>
                <a:spcPts val="0"/>
              </a:spcAft>
              <a:buNone/>
            </a:pPr>
            <a:r>
              <a:rPr lang="it-IT" sz="2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Coordinate: </a:t>
            </a:r>
            <a:r>
              <a:rPr lang="it-IT" sz="20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{{coordinate}}</a:t>
            </a:r>
          </a:p>
          <a:p>
            <a:pPr algn="l">
              <a:lnSpc>
                <a:spcPts val="2900"/>
              </a:lnSpc>
              <a:spcAft>
                <a:spcPts val="0"/>
              </a:spcAft>
              <a:buNone/>
            </a:pPr>
            <a:r>
              <a:rPr lang="it-IT" sz="2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Potenza richiesta: </a:t>
            </a:r>
            <a:r>
              <a:rPr lang="it-IT" sz="20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{{potenza_kwp}} kWp</a:t>
            </a:r>
          </a:p>
          <a:p>
            <a:pPr algn="l">
              <a:lnSpc>
                <a:spcPts val="2900"/>
              </a:lnSpc>
              <a:spcAft>
                <a:spcPts val="0"/>
              </a:spcAft>
              <a:buNone/>
            </a:pPr>
            <a:r>
              <a:rPr lang="it-IT" sz="2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Referente: </a:t>
            </a:r>
            <a:r>
              <a:rPr lang="it-IT" sz="20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{{referente}}</a:t>
            </a:r>
          </a:p>
          <a:p>
            <a:pPr algn="l">
              <a:lnSpc>
                <a:spcPts val="2900"/>
              </a:lnSpc>
              <a:spcAft>
                <a:spcPts val="0"/>
              </a:spcAft>
              <a:buNone/>
            </a:pPr>
            <a:r>
              <a:rPr lang="it-IT" sz="2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E-mail: </a:t>
            </a:r>
            <a:r>
              <a:rPr lang="it-IT" sz="20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{{email_referente}}</a:t>
            </a:r>
          </a:p>
        </p:txBody>
      </p:sp>
      <p:sp>
        <p:nvSpPr>
          <p:cNvPr id="203" name="Card 203"/>
          <p:cNvSpPr/>
          <p:nvPr/>
        </p:nvSpPr>
        <p:spPr>
          <a:xfrm>
            <a:off x="9200000" y="2500000"/>
            <a:ext cx="8476000" cy="6096796"/>
          </a:xfrm>
          <a:prstGeom prst="roundRect">
            <a:avLst>
              <a:gd name="adj" fmla="val 6000"/>
            </a:avLst>
          </a:prstGeom>
          <a:solidFill>
            <a:srgbClr val="FFFFFF">
              <a:alpha val="7000"/>
            </a:srgbClr>
          </a:solidFill>
          <a:ln w="19050">
            <a:solidFill>
              <a:srgbClr val="79E920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endParaRPr lang="it-IT"/>
          </a:p>
        </p:txBody>
      </p:sp>
      <p:sp>
        <p:nvSpPr>
          <p:cNvPr id="204" name="Testo 204"/>
          <p:cNvSpPr txBox="1"/>
          <p:nvPr/>
        </p:nvSpPr>
        <p:spPr>
          <a:xfrm>
            <a:off x="9500000" y="2800000"/>
            <a:ext cx="7900000" cy="60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it-IT" sz="24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INDICE</a:t>
            </a:r>
          </a:p>
        </p:txBody>
      </p:sp>
      <p:sp>
        <p:nvSpPr>
          <p:cNvPr id="205" name="Card 205"/>
          <p:cNvSpPr/>
          <p:nvPr/>
        </p:nvSpPr>
        <p:spPr>
          <a:xfrm>
            <a:off x="9500000" y="3560000"/>
            <a:ext cx="480000" cy="480000"/>
          </a:xfrm>
          <a:prstGeom prst="ellipse">
            <a:avLst/>
          </a:prstGeom>
          <a:solidFill>
            <a:srgbClr val="79E920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it-IT" sz="1600" b="1" dirty="0">
                <a:solidFill>
                  <a:srgbClr val="111111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1</a:t>
            </a:r>
          </a:p>
        </p:txBody>
      </p:sp>
      <p:sp>
        <p:nvSpPr>
          <p:cNvPr id="206" name="Testo 206"/>
          <p:cNvSpPr txBox="1"/>
          <p:nvPr/>
        </p:nvSpPr>
        <p:spPr>
          <a:xfrm>
            <a:off x="10200000" y="3500000"/>
            <a:ext cx="5600000" cy="60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it-IT" sz="2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Soluzione proposta</a:t>
            </a:r>
          </a:p>
        </p:txBody>
      </p:sp>
      <p:sp>
        <p:nvSpPr>
          <p:cNvPr id="207" name="Testo 207"/>
          <p:cNvSpPr txBox="1"/>
          <p:nvPr/>
        </p:nvSpPr>
        <p:spPr>
          <a:xfrm>
            <a:off x="15800000" y="3500000"/>
            <a:ext cx="1500000" cy="60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it-IT" sz="18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pag. 4</a:t>
            </a:r>
          </a:p>
        </p:txBody>
      </p:sp>
      <p:sp>
        <p:nvSpPr>
          <p:cNvPr id="208" name="Card 208"/>
          <p:cNvSpPr/>
          <p:nvPr/>
        </p:nvSpPr>
        <p:spPr>
          <a:xfrm>
            <a:off x="9500000" y="4170000"/>
            <a:ext cx="480000" cy="480000"/>
          </a:xfrm>
          <a:prstGeom prst="ellipse">
            <a:avLst/>
          </a:prstGeom>
          <a:solidFill>
            <a:srgbClr val="79E920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it-IT" sz="1600" b="1" dirty="0">
                <a:solidFill>
                  <a:srgbClr val="111111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2</a:t>
            </a:r>
          </a:p>
        </p:txBody>
      </p:sp>
      <p:sp>
        <p:nvSpPr>
          <p:cNvPr id="209" name="Testo 209"/>
          <p:cNvSpPr txBox="1"/>
          <p:nvPr/>
        </p:nvSpPr>
        <p:spPr>
          <a:xfrm>
            <a:off x="10200000" y="4110000"/>
            <a:ext cx="5600000" cy="60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it-IT" sz="2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Dati e condizioni di progetto</a:t>
            </a:r>
          </a:p>
        </p:txBody>
      </p:sp>
      <p:sp>
        <p:nvSpPr>
          <p:cNvPr id="210" name="Testo 210"/>
          <p:cNvSpPr txBox="1"/>
          <p:nvPr/>
        </p:nvSpPr>
        <p:spPr>
          <a:xfrm>
            <a:off x="15800000" y="4110000"/>
            <a:ext cx="1500000" cy="60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it-IT" sz="18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pag. 5</a:t>
            </a:r>
          </a:p>
        </p:txBody>
      </p:sp>
      <p:sp>
        <p:nvSpPr>
          <p:cNvPr id="211" name="Card 211"/>
          <p:cNvSpPr/>
          <p:nvPr/>
        </p:nvSpPr>
        <p:spPr>
          <a:xfrm>
            <a:off x="9500000" y="4780000"/>
            <a:ext cx="480000" cy="480000"/>
          </a:xfrm>
          <a:prstGeom prst="ellipse">
            <a:avLst/>
          </a:prstGeom>
          <a:solidFill>
            <a:srgbClr val="79E920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it-IT" sz="1600" b="1" dirty="0">
                <a:solidFill>
                  <a:srgbClr val="111111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3</a:t>
            </a:r>
          </a:p>
        </p:txBody>
      </p:sp>
      <p:sp>
        <p:nvSpPr>
          <p:cNvPr id="212" name="Testo 212"/>
          <p:cNvSpPr txBox="1"/>
          <p:nvPr/>
        </p:nvSpPr>
        <p:spPr>
          <a:xfrm>
            <a:off x="10200000" y="4720000"/>
            <a:ext cx="5600000" cy="60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it-IT" sz="2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Layout impianto</a:t>
            </a:r>
          </a:p>
        </p:txBody>
      </p:sp>
      <p:sp>
        <p:nvSpPr>
          <p:cNvPr id="213" name="Testo 213"/>
          <p:cNvSpPr txBox="1"/>
          <p:nvPr/>
        </p:nvSpPr>
        <p:spPr>
          <a:xfrm>
            <a:off x="15800000" y="4720000"/>
            <a:ext cx="1500000" cy="60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it-IT" sz="18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pag. 6</a:t>
            </a:r>
          </a:p>
        </p:txBody>
      </p:sp>
      <p:sp>
        <p:nvSpPr>
          <p:cNvPr id="214" name="Card 214"/>
          <p:cNvSpPr/>
          <p:nvPr/>
        </p:nvSpPr>
        <p:spPr>
          <a:xfrm>
            <a:off x="9500000" y="5390000"/>
            <a:ext cx="480000" cy="480000"/>
          </a:xfrm>
          <a:prstGeom prst="ellipse">
            <a:avLst/>
          </a:prstGeom>
          <a:solidFill>
            <a:srgbClr val="79E920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it-IT" sz="1600" b="1" dirty="0">
                <a:solidFill>
                  <a:srgbClr val="111111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4</a:t>
            </a:r>
          </a:p>
        </p:txBody>
      </p:sp>
      <p:sp>
        <p:nvSpPr>
          <p:cNvPr id="215" name="Testo 215"/>
          <p:cNvSpPr txBox="1"/>
          <p:nvPr/>
        </p:nvSpPr>
        <p:spPr>
          <a:xfrm>
            <a:off x="10200000" y="5330000"/>
            <a:ext cx="5600000" cy="60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it-IT" sz="2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Sistema di controllo</a:t>
            </a:r>
          </a:p>
        </p:txBody>
      </p:sp>
      <p:sp>
        <p:nvSpPr>
          <p:cNvPr id="216" name="Testo 216"/>
          <p:cNvSpPr txBox="1"/>
          <p:nvPr/>
        </p:nvSpPr>
        <p:spPr>
          <a:xfrm>
            <a:off x="15800000" y="5330000"/>
            <a:ext cx="1500000" cy="60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it-IT" sz="18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pag. 7</a:t>
            </a:r>
          </a:p>
        </p:txBody>
      </p:sp>
      <p:sp>
        <p:nvSpPr>
          <p:cNvPr id="217" name="Card 217"/>
          <p:cNvSpPr/>
          <p:nvPr/>
        </p:nvSpPr>
        <p:spPr>
          <a:xfrm>
            <a:off x="9500000" y="6000000"/>
            <a:ext cx="480000" cy="480000"/>
          </a:xfrm>
          <a:prstGeom prst="ellipse">
            <a:avLst/>
          </a:prstGeom>
          <a:solidFill>
            <a:srgbClr val="79E920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it-IT" sz="1600" b="1" dirty="0">
                <a:solidFill>
                  <a:srgbClr val="111111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5</a:t>
            </a:r>
          </a:p>
        </p:txBody>
      </p:sp>
      <p:sp>
        <p:nvSpPr>
          <p:cNvPr id="218" name="Testo 218"/>
          <p:cNvSpPr txBox="1"/>
          <p:nvPr/>
        </p:nvSpPr>
        <p:spPr>
          <a:xfrm>
            <a:off x="10200000" y="5940000"/>
            <a:ext cx="5600000" cy="60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it-IT" sz="2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Offerta economica</a:t>
            </a:r>
          </a:p>
        </p:txBody>
      </p:sp>
      <p:sp>
        <p:nvSpPr>
          <p:cNvPr id="219" name="Testo 219"/>
          <p:cNvSpPr txBox="1"/>
          <p:nvPr/>
        </p:nvSpPr>
        <p:spPr>
          <a:xfrm>
            <a:off x="15800000" y="5940000"/>
            <a:ext cx="1500000" cy="60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it-IT" sz="18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pag. 8</a:t>
            </a:r>
          </a:p>
        </p:txBody>
      </p:sp>
      <p:sp>
        <p:nvSpPr>
          <p:cNvPr id="220" name="Card 220"/>
          <p:cNvSpPr/>
          <p:nvPr/>
        </p:nvSpPr>
        <p:spPr>
          <a:xfrm>
            <a:off x="9500000" y="6610000"/>
            <a:ext cx="480000" cy="480000"/>
          </a:xfrm>
          <a:prstGeom prst="ellipse">
            <a:avLst/>
          </a:prstGeom>
          <a:solidFill>
            <a:srgbClr val="79E920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it-IT" sz="1600" b="1" dirty="0">
                <a:solidFill>
                  <a:srgbClr val="111111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6</a:t>
            </a:r>
          </a:p>
        </p:txBody>
      </p:sp>
      <p:sp>
        <p:nvSpPr>
          <p:cNvPr id="221" name="Testo 221"/>
          <p:cNvSpPr txBox="1"/>
          <p:nvPr/>
        </p:nvSpPr>
        <p:spPr>
          <a:xfrm>
            <a:off x="10200000" y="6550000"/>
            <a:ext cx="5600000" cy="60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it-IT" sz="2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Forniture e servizi opzionali</a:t>
            </a:r>
          </a:p>
        </p:txBody>
      </p:sp>
      <p:sp>
        <p:nvSpPr>
          <p:cNvPr id="222" name="Testo 222"/>
          <p:cNvSpPr txBox="1"/>
          <p:nvPr/>
        </p:nvSpPr>
        <p:spPr>
          <a:xfrm>
            <a:off x="15800000" y="6550000"/>
            <a:ext cx="1500000" cy="60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it-IT" sz="18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pag. 9</a:t>
            </a:r>
          </a:p>
        </p:txBody>
      </p:sp>
      <p:sp>
        <p:nvSpPr>
          <p:cNvPr id="223" name="Card 223"/>
          <p:cNvSpPr/>
          <p:nvPr/>
        </p:nvSpPr>
        <p:spPr>
          <a:xfrm>
            <a:off x="9500000" y="7220000"/>
            <a:ext cx="480000" cy="480000"/>
          </a:xfrm>
          <a:prstGeom prst="ellipse">
            <a:avLst/>
          </a:prstGeom>
          <a:solidFill>
            <a:srgbClr val="79E920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it-IT" sz="1600" b="1" dirty="0">
                <a:solidFill>
                  <a:srgbClr val="111111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7</a:t>
            </a:r>
          </a:p>
        </p:txBody>
      </p:sp>
      <p:sp>
        <p:nvSpPr>
          <p:cNvPr id="224" name="Testo 224"/>
          <p:cNvSpPr txBox="1"/>
          <p:nvPr/>
        </p:nvSpPr>
        <p:spPr>
          <a:xfrm>
            <a:off x="10200000" y="7160000"/>
            <a:ext cx="5600000" cy="60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it-IT" sz="2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Condizioni commerciali</a:t>
            </a:r>
          </a:p>
        </p:txBody>
      </p:sp>
      <p:sp>
        <p:nvSpPr>
          <p:cNvPr id="225" name="Testo 225"/>
          <p:cNvSpPr txBox="1"/>
          <p:nvPr/>
        </p:nvSpPr>
        <p:spPr>
          <a:xfrm>
            <a:off x="15800000" y="7160000"/>
            <a:ext cx="1500000" cy="60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it-IT" sz="18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pag. 10</a:t>
            </a:r>
          </a:p>
        </p:txBody>
      </p:sp>
      <p:sp>
        <p:nvSpPr>
          <p:cNvPr id="226" name="Card 226"/>
          <p:cNvSpPr/>
          <p:nvPr/>
        </p:nvSpPr>
        <p:spPr>
          <a:xfrm>
            <a:off x="9500000" y="7830000"/>
            <a:ext cx="480000" cy="480000"/>
          </a:xfrm>
          <a:prstGeom prst="ellipse">
            <a:avLst/>
          </a:prstGeom>
          <a:solidFill>
            <a:srgbClr val="79E920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it-IT" sz="1600" b="1" dirty="0">
                <a:solidFill>
                  <a:srgbClr val="111111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8</a:t>
            </a:r>
          </a:p>
        </p:txBody>
      </p:sp>
      <p:sp>
        <p:nvSpPr>
          <p:cNvPr id="227" name="Testo 227"/>
          <p:cNvSpPr txBox="1"/>
          <p:nvPr/>
        </p:nvSpPr>
        <p:spPr>
          <a:xfrm>
            <a:off x="10200000" y="7770000"/>
            <a:ext cx="5600000" cy="60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it-IT" sz="2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Garanzie e certificazioni</a:t>
            </a:r>
          </a:p>
        </p:txBody>
      </p:sp>
      <p:sp>
        <p:nvSpPr>
          <p:cNvPr id="228" name="Testo 228"/>
          <p:cNvSpPr txBox="1"/>
          <p:nvPr/>
        </p:nvSpPr>
        <p:spPr>
          <a:xfrm>
            <a:off x="15800000" y="7770000"/>
            <a:ext cx="1500000" cy="60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it-IT" sz="18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pag.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2C2C2C">
                <a:alpha val="100000"/>
              </a:srgbClr>
            </a:gs>
            <a:gs pos="100000">
              <a:srgbClr val="000000">
                <a:alpha val="100000"/>
              </a:srgbClr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12089" y="8596796"/>
            <a:ext cx="4983083" cy="1370348"/>
          </a:xfrm>
          <a:custGeom>
            <a:avLst/>
            <a:gdLst/>
            <a:ahLst/>
            <a:cxnLst/>
            <a:rect l="l" t="t" r="r" b="b"/>
            <a:pathLst>
              <a:path w="4983083" h="1370348">
                <a:moveTo>
                  <a:pt x="0" y="0"/>
                </a:moveTo>
                <a:lnTo>
                  <a:pt x="4983083" y="0"/>
                </a:lnTo>
                <a:lnTo>
                  <a:pt x="4983083" y="1370348"/>
                </a:lnTo>
                <a:lnTo>
                  <a:pt x="0" y="137034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it-IT"/>
          </a:p>
        </p:txBody>
      </p:sp>
      <p:sp>
        <p:nvSpPr>
          <p:cNvPr id="3" name="Freeform 3"/>
          <p:cNvSpPr/>
          <p:nvPr/>
        </p:nvSpPr>
        <p:spPr>
          <a:xfrm>
            <a:off x="15765540" y="294725"/>
            <a:ext cx="2080170" cy="1739830"/>
          </a:xfrm>
          <a:custGeom>
            <a:avLst/>
            <a:gdLst/>
            <a:ahLst/>
            <a:cxnLst/>
            <a:rect l="l" t="t" r="r" b="b"/>
            <a:pathLst>
              <a:path w="2080170" h="1739830">
                <a:moveTo>
                  <a:pt x="0" y="0"/>
                </a:moveTo>
                <a:lnTo>
                  <a:pt x="2080169" y="0"/>
                </a:lnTo>
                <a:lnTo>
                  <a:pt x="2080169" y="1739830"/>
                </a:lnTo>
                <a:lnTo>
                  <a:pt x="0" y="173983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it-IT"/>
          </a:p>
        </p:txBody>
      </p:sp>
      <p:sp>
        <p:nvSpPr>
          <p:cNvPr id="5" name="TextBox 5"/>
          <p:cNvSpPr txBox="1"/>
          <p:nvPr/>
        </p:nvSpPr>
        <p:spPr>
          <a:xfrm>
            <a:off x="612089" y="170900"/>
            <a:ext cx="14500000" cy="10382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400"/>
              </a:lnSpc>
              <a:spcBef>
                <a:spcPct val="0"/>
              </a:spcBef>
            </a:pPr>
            <a:r>
              <a:rPr lang="en-US" sz="6000" b="1" spc="-294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SOLUZIONE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12088" y="1054767"/>
            <a:ext cx="7693711" cy="9848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8400"/>
              </a:lnSpc>
              <a:spcBef>
                <a:spcPct val="0"/>
              </a:spcBef>
            </a:pPr>
            <a:r>
              <a:rPr lang="en-US" sz="6000" b="1" spc="-294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Proposta</a:t>
            </a:r>
          </a:p>
        </p:txBody>
      </p:sp>
      <p:sp>
        <p:nvSpPr>
          <p:cNvPr id="235" name="Card 235"/>
          <p:cNvSpPr/>
          <p:nvPr/>
        </p:nvSpPr>
        <p:spPr>
          <a:xfrm>
            <a:off x="612089" y="2450000"/>
            <a:ext cx="4040977" cy="1650000"/>
          </a:xfrm>
          <a:prstGeom prst="roundRect">
            <a:avLst>
              <a:gd name="adj" fmla="val 6000"/>
            </a:avLst>
          </a:prstGeom>
          <a:solidFill>
            <a:srgbClr val="FFFFFF">
              <a:alpha val="7000"/>
            </a:srgbClr>
          </a:solidFill>
          <a:ln w="19050">
            <a:solidFill>
              <a:srgbClr val="79E920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endParaRPr lang="it-IT"/>
          </a:p>
        </p:txBody>
      </p:sp>
      <p:sp>
        <p:nvSpPr>
          <p:cNvPr id="236" name="Testo 236"/>
          <p:cNvSpPr txBox="1"/>
          <p:nvPr/>
        </p:nvSpPr>
        <p:spPr>
          <a:xfrm>
            <a:off x="862089" y="2600000"/>
            <a:ext cx="3540977" cy="85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it-IT" sz="44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{{n_tracker}}</a:t>
            </a:r>
          </a:p>
        </p:txBody>
      </p:sp>
      <p:sp>
        <p:nvSpPr>
          <p:cNvPr id="237" name="Testo 237"/>
          <p:cNvSpPr txBox="1"/>
          <p:nvPr/>
        </p:nvSpPr>
        <p:spPr>
          <a:xfrm>
            <a:off x="862089" y="3450000"/>
            <a:ext cx="3540977" cy="50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it-IT" sz="18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Tracker totali</a:t>
            </a:r>
          </a:p>
        </p:txBody>
      </p:sp>
      <p:sp>
        <p:nvSpPr>
          <p:cNvPr id="238" name="Card 238"/>
          <p:cNvSpPr/>
          <p:nvPr/>
        </p:nvSpPr>
        <p:spPr>
          <a:xfrm>
            <a:off x="4953066" y="2450000"/>
            <a:ext cx="4040977" cy="1650000"/>
          </a:xfrm>
          <a:prstGeom prst="roundRect">
            <a:avLst>
              <a:gd name="adj" fmla="val 6000"/>
            </a:avLst>
          </a:prstGeom>
          <a:solidFill>
            <a:srgbClr val="FFFFFF">
              <a:alpha val="7000"/>
            </a:srgbClr>
          </a:solidFill>
          <a:ln w="19050">
            <a:solidFill>
              <a:srgbClr val="79E920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endParaRPr lang="it-IT"/>
          </a:p>
        </p:txBody>
      </p:sp>
      <p:sp>
        <p:nvSpPr>
          <p:cNvPr id="239" name="Testo 239"/>
          <p:cNvSpPr txBox="1"/>
          <p:nvPr/>
        </p:nvSpPr>
        <p:spPr>
          <a:xfrm>
            <a:off x="5203066" y="2600000"/>
            <a:ext cx="3540977" cy="85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it-IT" sz="44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{{moduli_totali}}</a:t>
            </a:r>
          </a:p>
        </p:txBody>
      </p:sp>
      <p:sp>
        <p:nvSpPr>
          <p:cNvPr id="240" name="Testo 240"/>
          <p:cNvSpPr txBox="1"/>
          <p:nvPr/>
        </p:nvSpPr>
        <p:spPr>
          <a:xfrm>
            <a:off x="5203066" y="3450000"/>
            <a:ext cx="3540977" cy="50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it-IT" sz="18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Moduli fotovoltaici</a:t>
            </a:r>
          </a:p>
        </p:txBody>
      </p:sp>
      <p:sp>
        <p:nvSpPr>
          <p:cNvPr id="241" name="Card 241"/>
          <p:cNvSpPr/>
          <p:nvPr/>
        </p:nvSpPr>
        <p:spPr>
          <a:xfrm>
            <a:off x="9294044" y="2450000"/>
            <a:ext cx="4040977" cy="1650000"/>
          </a:xfrm>
          <a:prstGeom prst="roundRect">
            <a:avLst>
              <a:gd name="adj" fmla="val 6000"/>
            </a:avLst>
          </a:prstGeom>
          <a:solidFill>
            <a:srgbClr val="FFFFFF">
              <a:alpha val="7000"/>
            </a:srgbClr>
          </a:solidFill>
          <a:ln w="19050">
            <a:solidFill>
              <a:srgbClr val="79E920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endParaRPr lang="it-IT"/>
          </a:p>
        </p:txBody>
      </p:sp>
      <p:sp>
        <p:nvSpPr>
          <p:cNvPr id="242" name="Testo 242"/>
          <p:cNvSpPr txBox="1"/>
          <p:nvPr/>
        </p:nvSpPr>
        <p:spPr>
          <a:xfrm>
            <a:off x="9544044" y="2600000"/>
            <a:ext cx="3540977" cy="85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it-IT" sz="44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{{potenza_kwp}}</a:t>
            </a:r>
          </a:p>
        </p:txBody>
      </p:sp>
      <p:sp>
        <p:nvSpPr>
          <p:cNvPr id="243" name="Testo 243"/>
          <p:cNvSpPr txBox="1"/>
          <p:nvPr/>
        </p:nvSpPr>
        <p:spPr>
          <a:xfrm>
            <a:off x="9544044" y="3450000"/>
            <a:ext cx="3540977" cy="50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it-IT" sz="18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kWp potenza complessiva</a:t>
            </a:r>
          </a:p>
        </p:txBody>
      </p:sp>
      <p:sp>
        <p:nvSpPr>
          <p:cNvPr id="244" name="Card 244"/>
          <p:cNvSpPr/>
          <p:nvPr/>
        </p:nvSpPr>
        <p:spPr>
          <a:xfrm>
            <a:off x="13635022" y="2450000"/>
            <a:ext cx="4040977" cy="1650000"/>
          </a:xfrm>
          <a:prstGeom prst="roundRect">
            <a:avLst>
              <a:gd name="adj" fmla="val 6000"/>
            </a:avLst>
          </a:prstGeom>
          <a:solidFill>
            <a:srgbClr val="FFFFFF">
              <a:alpha val="7000"/>
            </a:srgbClr>
          </a:solidFill>
          <a:ln w="19050">
            <a:solidFill>
              <a:srgbClr val="79E920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endParaRPr lang="it-IT"/>
          </a:p>
        </p:txBody>
      </p:sp>
      <p:sp>
        <p:nvSpPr>
          <p:cNvPr id="245" name="Testo 245"/>
          <p:cNvSpPr txBox="1"/>
          <p:nvPr/>
        </p:nvSpPr>
        <p:spPr>
          <a:xfrm>
            <a:off x="13885022" y="2600000"/>
            <a:ext cx="3540977" cy="85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it-IT" sz="44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{{potenza_modulo_w}} Wp</a:t>
            </a:r>
          </a:p>
        </p:txBody>
      </p:sp>
      <p:sp>
        <p:nvSpPr>
          <p:cNvPr id="246" name="Testo 246"/>
          <p:cNvSpPr txBox="1"/>
          <p:nvPr/>
        </p:nvSpPr>
        <p:spPr>
          <a:xfrm>
            <a:off x="13885022" y="3450000"/>
            <a:ext cx="3540977" cy="50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it-IT" sz="18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Potenza modulo</a:t>
            </a:r>
          </a:p>
        </p:txBody>
      </p:sp>
      <p:sp>
        <p:nvSpPr>
          <p:cNvPr id="247" name="Testo 247"/>
          <p:cNvSpPr txBox="1"/>
          <p:nvPr/>
        </p:nvSpPr>
        <p:spPr>
          <a:xfrm>
            <a:off x="612089" y="4450000"/>
            <a:ext cx="17063911" cy="50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it-IT" sz="2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Tipo di struttura: </a:t>
            </a:r>
            <a:r>
              <a:rPr lang="it-IT" sz="20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{{tipo_struttura}}</a:t>
            </a:r>
            <a:r>
              <a:rPr lang="it-IT" sz="2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   ·   Rotazione: </a:t>
            </a:r>
            <a:r>
              <a:rPr lang="it-IT" sz="20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±{{angolo_rotazione}}°</a:t>
            </a:r>
          </a:p>
        </p:txBody>
      </p:sp>
      <p:sp>
        <p:nvSpPr>
          <p:cNvPr id="248" name="Intestazione 248"/>
          <p:cNvSpPr/>
          <p:nvPr/>
        </p:nvSpPr>
        <p:spPr>
          <a:xfrm>
            <a:off x="612089" y="5150000"/>
            <a:ext cx="17063911" cy="700000"/>
          </a:xfrm>
          <a:prstGeom prst="roundRect">
            <a:avLst>
              <a:gd name="adj" fmla="val 20000"/>
            </a:avLst>
          </a:prstGeom>
          <a:solidFill>
            <a:srgbClr val="79E920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endParaRPr lang="it-IT"/>
          </a:p>
        </p:txBody>
      </p:sp>
      <p:sp>
        <p:nvSpPr>
          <p:cNvPr id="249" name="Testo 249"/>
          <p:cNvSpPr txBox="1"/>
          <p:nvPr/>
        </p:nvSpPr>
        <p:spPr>
          <a:xfrm>
            <a:off x="862089" y="5150000"/>
            <a:ext cx="3700000" cy="70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it-IT" sz="1800" b="1" dirty="0">
                <a:solidFill>
                  <a:srgbClr val="111111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Configurazione</a:t>
            </a:r>
          </a:p>
        </p:txBody>
      </p:sp>
      <p:sp>
        <p:nvSpPr>
          <p:cNvPr id="250" name="Testo 250"/>
          <p:cNvSpPr txBox="1"/>
          <p:nvPr/>
        </p:nvSpPr>
        <p:spPr>
          <a:xfrm>
            <a:off x="5062089" y="5150000"/>
            <a:ext cx="2600000" cy="70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it-IT" sz="1800" b="1" dirty="0">
                <a:solidFill>
                  <a:srgbClr val="111111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Moduli/tracker</a:t>
            </a:r>
          </a:p>
        </p:txBody>
      </p:sp>
      <p:sp>
        <p:nvSpPr>
          <p:cNvPr id="251" name="Testo 251"/>
          <p:cNvSpPr txBox="1"/>
          <p:nvPr/>
        </p:nvSpPr>
        <p:spPr>
          <a:xfrm>
            <a:off x="8162089" y="5150000"/>
            <a:ext cx="3000000" cy="70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it-IT" sz="1800" b="1" dirty="0">
                <a:solidFill>
                  <a:srgbClr val="111111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Potenza/tracker</a:t>
            </a:r>
          </a:p>
        </p:txBody>
      </p:sp>
      <p:sp>
        <p:nvSpPr>
          <p:cNvPr id="252" name="Testo 252"/>
          <p:cNvSpPr txBox="1"/>
          <p:nvPr/>
        </p:nvSpPr>
        <p:spPr>
          <a:xfrm>
            <a:off x="11662089" y="5150000"/>
            <a:ext cx="2400000" cy="70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it-IT" sz="1800" b="1" dirty="0">
                <a:solidFill>
                  <a:srgbClr val="111111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N. strutture</a:t>
            </a:r>
          </a:p>
        </p:txBody>
      </p:sp>
      <p:sp>
        <p:nvSpPr>
          <p:cNvPr id="253" name="Testo 253"/>
          <p:cNvSpPr txBox="1"/>
          <p:nvPr/>
        </p:nvSpPr>
        <p:spPr>
          <a:xfrm>
            <a:off x="14562089" y="5150000"/>
            <a:ext cx="2863911" cy="70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it-IT" sz="1800" b="1" dirty="0">
                <a:solidFill>
                  <a:srgbClr val="111111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Potenza totale</a:t>
            </a:r>
          </a:p>
        </p:txBody>
      </p:sp>
      <p:sp>
        <p:nvSpPr>
          <p:cNvPr id="254" name="Riga 254" descr="{{#tracker:alterna}}"/>
          <p:cNvSpPr/>
          <p:nvPr/>
        </p:nvSpPr>
        <p:spPr>
          <a:xfrm>
            <a:off x="612089" y="5910000"/>
            <a:ext cx="17063911" cy="680000"/>
          </a:xfrm>
          <a:prstGeom prst="rect">
            <a:avLst/>
          </a:prstGeom>
          <a:solidFill>
            <a:srgbClr val="FFFFFF">
              <a:alpha val="6000"/>
            </a:srgbClr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endParaRPr lang="it-IT"/>
          </a:p>
        </p:txBody>
      </p:sp>
      <p:sp>
        <p:nvSpPr>
          <p:cNvPr id="255" name="Testo 255" descr="{{#tracker}}"/>
          <p:cNvSpPr txBox="1"/>
          <p:nvPr/>
        </p:nvSpPr>
        <p:spPr>
          <a:xfrm>
            <a:off x="862089" y="5910000"/>
            <a:ext cx="3700000" cy="68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it-IT" sz="2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Tracker TTS.{{moduli}}</a:t>
            </a:r>
          </a:p>
        </p:txBody>
      </p:sp>
      <p:sp>
        <p:nvSpPr>
          <p:cNvPr id="256" name="Testo 256" descr="{{#tracker}}"/>
          <p:cNvSpPr txBox="1"/>
          <p:nvPr/>
        </p:nvSpPr>
        <p:spPr>
          <a:xfrm>
            <a:off x="5062089" y="5910000"/>
            <a:ext cx="2600000" cy="68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it-IT" sz="20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{{moduli}}</a:t>
            </a:r>
          </a:p>
        </p:txBody>
      </p:sp>
      <p:sp>
        <p:nvSpPr>
          <p:cNvPr id="257" name="Testo 257" descr="{{#tracker}}"/>
          <p:cNvSpPr txBox="1"/>
          <p:nvPr/>
        </p:nvSpPr>
        <p:spPr>
          <a:xfrm>
            <a:off x="8162089" y="5910000"/>
            <a:ext cx="3000000" cy="68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it-IT" sz="20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{{potenza_tracker}} W</a:t>
            </a:r>
          </a:p>
        </p:txBody>
      </p:sp>
      <p:sp>
        <p:nvSpPr>
          <p:cNvPr id="258" name="Testo 258" descr="{{#tracker}}"/>
          <p:cNvSpPr txBox="1"/>
          <p:nvPr/>
        </p:nvSpPr>
        <p:spPr>
          <a:xfrm>
            <a:off x="11662089" y="5910000"/>
            <a:ext cx="2400000" cy="68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it-IT" sz="20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{{quantita}}</a:t>
            </a:r>
          </a:p>
        </p:txBody>
      </p:sp>
      <p:sp>
        <p:nvSpPr>
          <p:cNvPr id="259" name="Testo 259" descr="{{#tracker}}"/>
          <p:cNvSpPr txBox="1"/>
          <p:nvPr/>
        </p:nvSpPr>
        <p:spPr>
          <a:xfrm>
            <a:off x="14562089" y="5910000"/>
            <a:ext cx="2863911" cy="68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it-IT" sz="20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{{potenza_riga}} kWp</a:t>
            </a:r>
          </a:p>
        </p:txBody>
      </p:sp>
      <p:sp>
        <p:nvSpPr>
          <p:cNvPr id="265" name="Riga 265" descr="{{segue:tracker}}"/>
          <p:cNvSpPr/>
          <p:nvPr/>
        </p:nvSpPr>
        <p:spPr>
          <a:xfrm>
            <a:off x="612089" y="6590000"/>
            <a:ext cx="17063911" cy="680000"/>
          </a:xfrm>
          <a:prstGeom prst="rect">
            <a:avLst/>
          </a:prstGeom>
          <a:solidFill>
            <a:srgbClr val="79E920">
              <a:alpha val="18000"/>
            </a:srgbClr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endParaRPr lang="it-IT"/>
          </a:p>
        </p:txBody>
      </p:sp>
      <p:sp>
        <p:nvSpPr>
          <p:cNvPr id="266" name="Testo 266" descr="{{segue:tracker}}"/>
          <p:cNvSpPr txBox="1"/>
          <p:nvPr/>
        </p:nvSpPr>
        <p:spPr>
          <a:xfrm>
            <a:off x="862089" y="6590000"/>
            <a:ext cx="3700000" cy="68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it-IT" sz="2000" b="1" dirty="0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Totale impianto</a:t>
            </a:r>
          </a:p>
        </p:txBody>
      </p:sp>
      <p:sp>
        <p:nvSpPr>
          <p:cNvPr id="267" name="Testo 267" descr="{{segue:tracker}}"/>
          <p:cNvSpPr txBox="1"/>
          <p:nvPr/>
        </p:nvSpPr>
        <p:spPr>
          <a:xfrm>
            <a:off x="5062089" y="6590000"/>
            <a:ext cx="2600000" cy="68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endParaRPr/>
          </a:p>
        </p:txBody>
      </p:sp>
      <p:sp>
        <p:nvSpPr>
          <p:cNvPr id="268" name="Testo 268" descr="{{segue:tracker}}"/>
          <p:cNvSpPr txBox="1"/>
          <p:nvPr/>
        </p:nvSpPr>
        <p:spPr>
          <a:xfrm>
            <a:off x="8162089" y="6590000"/>
            <a:ext cx="3000000" cy="68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endParaRPr/>
          </a:p>
        </p:txBody>
      </p:sp>
      <p:sp>
        <p:nvSpPr>
          <p:cNvPr id="269" name="Testo 269" descr="{{segue:tracker}}"/>
          <p:cNvSpPr txBox="1"/>
          <p:nvPr/>
        </p:nvSpPr>
        <p:spPr>
          <a:xfrm>
            <a:off x="11662089" y="6590000"/>
            <a:ext cx="2400000" cy="68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it-IT" sz="20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{{n_tracker}}</a:t>
            </a:r>
          </a:p>
        </p:txBody>
      </p:sp>
      <p:sp>
        <p:nvSpPr>
          <p:cNvPr id="270" name="Testo 270" descr="{{segue:tracker}}"/>
          <p:cNvSpPr txBox="1"/>
          <p:nvPr/>
        </p:nvSpPr>
        <p:spPr>
          <a:xfrm>
            <a:off x="14562089" y="6590000"/>
            <a:ext cx="2863911" cy="68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it-IT" sz="20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{{potenza_kwp}} kWp</a:t>
            </a:r>
          </a:p>
        </p:txBody>
      </p:sp>
      <p:sp>
        <p:nvSpPr>
          <p:cNvPr id="271" name="Testo 271" descr="{{segue:tracker}}"/>
          <p:cNvSpPr txBox="1"/>
          <p:nvPr/>
        </p:nvSpPr>
        <p:spPr>
          <a:xfrm>
            <a:off x="6200000" y="8070000"/>
            <a:ext cx="11400000" cy="50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it-IT" sz="1400" dirty="0">
                <a:solidFill>
                  <a:srgbClr val="BFBFBF"/>
                </a:solidFill>
                <a:latin typeface="Canva Sans"/>
                <a:ea typeface="Canva Sans"/>
                <a:cs typeface="Canva Sans"/>
                <a:sym typeface="Canva Sans"/>
              </a:rPr>
              <a:t>Moduli fotovoltaici non inclusi nella fornitura.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2C2C2C">
                <a:alpha val="100000"/>
              </a:srgbClr>
            </a:gs>
            <a:gs pos="100000">
              <a:srgbClr val="000000">
                <a:alpha val="100000"/>
              </a:srgbClr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12089" y="8596796"/>
            <a:ext cx="4983083" cy="1370348"/>
          </a:xfrm>
          <a:custGeom>
            <a:avLst/>
            <a:gdLst/>
            <a:ahLst/>
            <a:cxnLst/>
            <a:rect l="l" t="t" r="r" b="b"/>
            <a:pathLst>
              <a:path w="4983083" h="1370348">
                <a:moveTo>
                  <a:pt x="0" y="0"/>
                </a:moveTo>
                <a:lnTo>
                  <a:pt x="4983083" y="0"/>
                </a:lnTo>
                <a:lnTo>
                  <a:pt x="4983083" y="1370348"/>
                </a:lnTo>
                <a:lnTo>
                  <a:pt x="0" y="137034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it-IT"/>
          </a:p>
        </p:txBody>
      </p:sp>
      <p:sp>
        <p:nvSpPr>
          <p:cNvPr id="3" name="Freeform 3"/>
          <p:cNvSpPr/>
          <p:nvPr/>
        </p:nvSpPr>
        <p:spPr>
          <a:xfrm>
            <a:off x="15765540" y="294725"/>
            <a:ext cx="2080170" cy="1739830"/>
          </a:xfrm>
          <a:custGeom>
            <a:avLst/>
            <a:gdLst/>
            <a:ahLst/>
            <a:cxnLst/>
            <a:rect l="l" t="t" r="r" b="b"/>
            <a:pathLst>
              <a:path w="2080170" h="1739830">
                <a:moveTo>
                  <a:pt x="0" y="0"/>
                </a:moveTo>
                <a:lnTo>
                  <a:pt x="2080169" y="0"/>
                </a:lnTo>
                <a:lnTo>
                  <a:pt x="2080169" y="1739830"/>
                </a:lnTo>
                <a:lnTo>
                  <a:pt x="0" y="173983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it-IT"/>
          </a:p>
        </p:txBody>
      </p:sp>
      <p:sp>
        <p:nvSpPr>
          <p:cNvPr id="5" name="TextBox 5"/>
          <p:cNvSpPr txBox="1"/>
          <p:nvPr/>
        </p:nvSpPr>
        <p:spPr>
          <a:xfrm>
            <a:off x="612089" y="170900"/>
            <a:ext cx="7600000" cy="10382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400"/>
              </a:lnSpc>
              <a:spcBef>
                <a:spcPct val="0"/>
              </a:spcBef>
            </a:pPr>
            <a:r>
              <a:rPr lang="en-US" sz="6000" b="1" spc="-294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DATI DI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12088" y="1054767"/>
            <a:ext cx="7693711" cy="9848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8400"/>
              </a:lnSpc>
              <a:spcBef>
                <a:spcPct val="0"/>
              </a:spcBef>
            </a:pPr>
            <a:r>
              <a:rPr lang="en-US" sz="6000" b="1" spc="-294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Progetto</a:t>
            </a:r>
          </a:p>
        </p:txBody>
      </p:sp>
      <p:sp>
        <p:nvSpPr>
          <p:cNvPr id="100" name="Card 100"/>
          <p:cNvSpPr/>
          <p:nvPr/>
        </p:nvSpPr>
        <p:spPr>
          <a:xfrm>
            <a:off x="612089" y="2900000"/>
            <a:ext cx="5300000" cy="4400000"/>
          </a:xfrm>
          <a:prstGeom prst="roundRect">
            <a:avLst>
              <a:gd name="adj" fmla="val 6000"/>
            </a:avLst>
          </a:prstGeom>
          <a:solidFill>
            <a:srgbClr val="FFFFFF">
              <a:alpha val="7000"/>
            </a:srgbClr>
          </a:solidFill>
          <a:ln w="19050">
            <a:solidFill>
              <a:srgbClr val="79E920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110" name="Card text 1"/>
          <p:cNvSpPr txBox="1"/>
          <p:nvPr/>
        </p:nvSpPr>
        <p:spPr>
          <a:xfrm>
            <a:off x="912089" y="3200000"/>
            <a:ext cx="4700000" cy="390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200"/>
              </a:lnSpc>
              <a:spcAft>
                <a:spcPts val="1200"/>
              </a:spcAft>
              <a:buNone/>
            </a:pPr>
            <a:r>
              <a:rPr lang="it-IT" sz="24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CLIENTE E SITO</a:t>
            </a:r>
          </a:p>
          <a:p>
            <a:pPr algn="l">
              <a:lnSpc>
                <a:spcPts val="2900"/>
              </a:lnSpc>
              <a:spcAft>
                <a:spcPts val="0"/>
              </a:spcAft>
              <a:buNone/>
            </a:pPr>
            <a:r>
              <a:rPr lang="it-IT" sz="2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Cliente: </a:t>
            </a:r>
            <a:r>
              <a:rPr lang="it-IT" sz="20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{{cliente}}</a:t>
            </a:r>
          </a:p>
          <a:p>
            <a:pPr algn="l">
              <a:lnSpc>
                <a:spcPts val="2900"/>
              </a:lnSpc>
              <a:spcAft>
                <a:spcPts val="0"/>
              </a:spcAft>
              <a:buNone/>
            </a:pPr>
            <a:r>
              <a:rPr lang="it-IT" sz="2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Referente: </a:t>
            </a:r>
            <a:r>
              <a:rPr lang="it-IT" sz="20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{{referente}}</a:t>
            </a:r>
          </a:p>
          <a:p>
            <a:pPr algn="l">
              <a:lnSpc>
                <a:spcPts val="2900"/>
              </a:lnSpc>
              <a:spcAft>
                <a:spcPts val="0"/>
              </a:spcAft>
              <a:buNone/>
            </a:pPr>
            <a:r>
              <a:rPr lang="it-IT" sz="2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Località: </a:t>
            </a:r>
            <a:r>
              <a:rPr lang="it-IT" sz="20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{{localita_zona}}</a:t>
            </a:r>
          </a:p>
          <a:p>
            <a:pPr algn="l">
              <a:lnSpc>
                <a:spcPts val="2900"/>
              </a:lnSpc>
              <a:spcAft>
                <a:spcPts val="0"/>
              </a:spcAft>
              <a:buNone/>
            </a:pPr>
            <a:r>
              <a:rPr lang="it-IT" sz="2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Coordinate: </a:t>
            </a:r>
            <a:r>
              <a:rPr lang="it-IT" sz="20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{{coordinate}}</a:t>
            </a:r>
          </a:p>
          <a:p>
            <a:pPr algn="l">
              <a:lnSpc>
                <a:spcPts val="2900"/>
              </a:lnSpc>
              <a:spcAft>
                <a:spcPts val="0"/>
              </a:spcAft>
              <a:buNone/>
            </a:pPr>
            <a:r>
              <a:rPr lang="it-IT" sz="2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Potenza: </a:t>
            </a:r>
            <a:r>
              <a:rPr lang="it-IT" sz="20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{{potenza_kwp}} kWp</a:t>
            </a:r>
          </a:p>
        </p:txBody>
      </p:sp>
      <p:sp>
        <p:nvSpPr>
          <p:cNvPr id="101" name="Card 101"/>
          <p:cNvSpPr/>
          <p:nvPr/>
        </p:nvSpPr>
        <p:spPr>
          <a:xfrm>
            <a:off x="6200000" y="2900000"/>
            <a:ext cx="5300000" cy="4400000"/>
          </a:xfrm>
          <a:prstGeom prst="roundRect">
            <a:avLst>
              <a:gd name="adj" fmla="val 6000"/>
            </a:avLst>
          </a:prstGeom>
          <a:solidFill>
            <a:srgbClr val="FFFFFF">
              <a:alpha val="7000"/>
            </a:srgbClr>
          </a:solidFill>
          <a:ln w="19050">
            <a:solidFill>
              <a:srgbClr val="79E920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111" name="Card text 2"/>
          <p:cNvSpPr txBox="1"/>
          <p:nvPr/>
        </p:nvSpPr>
        <p:spPr>
          <a:xfrm>
            <a:off x="6500000" y="3200000"/>
            <a:ext cx="4700000" cy="390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200"/>
              </a:lnSpc>
              <a:spcAft>
                <a:spcPts val="1200"/>
              </a:spcAft>
              <a:buNone/>
            </a:pPr>
            <a:r>
              <a:rPr lang="it-IT" sz="24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MODULO FOTOVOLTAICO</a:t>
            </a:r>
          </a:p>
          <a:p>
            <a:pPr algn="l">
              <a:lnSpc>
                <a:spcPts val="2900"/>
              </a:lnSpc>
              <a:spcAft>
                <a:spcPts val="0"/>
              </a:spcAft>
              <a:buNone/>
            </a:pPr>
            <a:r>
              <a:rPr lang="it-IT" sz="2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Modello: </a:t>
            </a:r>
            <a:r>
              <a:rPr lang="it-IT" sz="20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{{modulo_modello}}</a:t>
            </a:r>
          </a:p>
          <a:p>
            <a:pPr algn="l">
              <a:lnSpc>
                <a:spcPts val="2900"/>
              </a:lnSpc>
              <a:spcAft>
                <a:spcPts val="0"/>
              </a:spcAft>
              <a:buNone/>
            </a:pPr>
            <a:r>
              <a:rPr lang="it-IT" sz="2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Tipo: </a:t>
            </a:r>
            <a:r>
              <a:rPr lang="it-IT" sz="20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{{modulo_tipo}}</a:t>
            </a:r>
          </a:p>
          <a:p>
            <a:pPr algn="l">
              <a:lnSpc>
                <a:spcPts val="2900"/>
              </a:lnSpc>
              <a:spcAft>
                <a:spcPts val="0"/>
              </a:spcAft>
              <a:buNone/>
            </a:pPr>
            <a:r>
              <a:rPr lang="it-IT" sz="2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Potenza: </a:t>
            </a:r>
            <a:r>
              <a:rPr lang="it-IT" sz="20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{{potenza_modulo_w}} Wp</a:t>
            </a:r>
          </a:p>
          <a:p>
            <a:pPr algn="l">
              <a:lnSpc>
                <a:spcPts val="2900"/>
              </a:lnSpc>
              <a:spcAft>
                <a:spcPts val="0"/>
              </a:spcAft>
              <a:buNone/>
            </a:pPr>
            <a:r>
              <a:rPr lang="it-IT" sz="2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Dimensioni: </a:t>
            </a:r>
            <a:r>
              <a:rPr lang="it-IT" sz="20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{{modulo_dimensioni}} mm</a:t>
            </a:r>
          </a:p>
          <a:p>
            <a:pPr algn="l">
              <a:lnSpc>
                <a:spcPts val="2900"/>
              </a:lnSpc>
              <a:spcAft>
                <a:spcPts val="0"/>
              </a:spcAft>
              <a:buNone/>
            </a:pPr>
            <a:r>
              <a:rPr lang="it-IT" sz="2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Peso: </a:t>
            </a:r>
            <a:r>
              <a:rPr lang="it-IT" sz="20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{{modulo_peso_kg}} kg</a:t>
            </a:r>
          </a:p>
          <a:p>
            <a:pPr algn="l">
              <a:lnSpc>
                <a:spcPts val="2900"/>
              </a:lnSpc>
              <a:spcAft>
                <a:spcPts val="0"/>
              </a:spcAft>
              <a:buNone/>
            </a:pPr>
            <a:r>
              <a:rPr lang="it-IT" sz="2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Quantità: </a:t>
            </a:r>
            <a:r>
              <a:rPr lang="it-IT" sz="20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{{moduli_totali}} pz</a:t>
            </a:r>
          </a:p>
        </p:txBody>
      </p:sp>
      <p:sp>
        <p:nvSpPr>
          <p:cNvPr id="102" name="Card 102"/>
          <p:cNvSpPr/>
          <p:nvPr/>
        </p:nvSpPr>
        <p:spPr>
          <a:xfrm>
            <a:off x="11787911" y="2900000"/>
            <a:ext cx="5888000" cy="4400000"/>
          </a:xfrm>
          <a:prstGeom prst="roundRect">
            <a:avLst>
              <a:gd name="adj" fmla="val 6000"/>
            </a:avLst>
          </a:prstGeom>
          <a:solidFill>
            <a:srgbClr val="FFFFFF">
              <a:alpha val="7000"/>
            </a:srgbClr>
          </a:solidFill>
          <a:ln w="19050">
            <a:solidFill>
              <a:srgbClr val="79E920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112" name="Card text 3"/>
          <p:cNvSpPr txBox="1"/>
          <p:nvPr/>
        </p:nvSpPr>
        <p:spPr>
          <a:xfrm>
            <a:off x="12087911" y="3200000"/>
            <a:ext cx="5288000" cy="390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200"/>
              </a:lnSpc>
              <a:spcAft>
                <a:spcPts val="1200"/>
              </a:spcAft>
              <a:buNone/>
            </a:pPr>
            <a:r>
              <a:rPr lang="it-IT" sz="24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CONDIZIONI DI PROGETTO</a:t>
            </a:r>
          </a:p>
          <a:p>
            <a:pPr algn="l">
              <a:lnSpc>
                <a:spcPts val="2900"/>
              </a:lnSpc>
              <a:spcAft>
                <a:spcPts val="0"/>
              </a:spcAft>
              <a:buNone/>
            </a:pPr>
            <a:r>
              <a:rPr lang="it-IT" sz="2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Vento di progetto NTC (2018): </a:t>
            </a:r>
            <a:r>
              <a:rPr lang="it-IT" sz="20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{{vento_ms}} m/s</a:t>
            </a:r>
          </a:p>
          <a:p>
            <a:pPr>
              <a:lnSpc>
                <a:spcPts val="2900"/>
              </a:lnSpc>
            </a:pPr>
            <a:r>
              <a:rPr lang="it-IT" sz="2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Vento Protezione: </a:t>
            </a:r>
            <a:r>
              <a:rPr lang="it-IT" sz="20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{{vento_protezione_ms}} m/s</a:t>
            </a:r>
          </a:p>
          <a:p>
            <a:pPr algn="l">
              <a:lnSpc>
                <a:spcPts val="2900"/>
              </a:lnSpc>
              <a:spcAft>
                <a:spcPts val="0"/>
              </a:spcAft>
              <a:buNone/>
            </a:pPr>
            <a:r>
              <a:rPr lang="it-IT" sz="2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Terreno (Eurocodice): </a:t>
            </a:r>
            <a:r>
              <a:rPr lang="it-IT" sz="20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cat. {{categoria_terreno}}</a:t>
            </a:r>
          </a:p>
          <a:p>
            <a:pPr algn="l">
              <a:lnSpc>
                <a:spcPts val="2900"/>
              </a:lnSpc>
              <a:spcAft>
                <a:spcPts val="0"/>
              </a:spcAft>
              <a:buNone/>
            </a:pPr>
            <a:r>
              <a:rPr lang="it-IT" sz="2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Altitudine: </a:t>
            </a:r>
            <a:r>
              <a:rPr lang="it-IT" sz="20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{{altitudine_m}} m s.l.m.</a:t>
            </a:r>
          </a:p>
          <a:p>
            <a:pPr algn="l">
              <a:lnSpc>
                <a:spcPts val="2900"/>
              </a:lnSpc>
              <a:spcAft>
                <a:spcPts val="0"/>
              </a:spcAft>
              <a:buNone/>
            </a:pPr>
            <a:r>
              <a:rPr lang="it-IT" sz="2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Corrosività: </a:t>
            </a:r>
            <a:r>
              <a:rPr lang="it-IT" sz="20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{{classe_corrosivita}}</a:t>
            </a:r>
          </a:p>
          <a:p>
            <a:pPr algn="l">
              <a:lnSpc>
                <a:spcPts val="2900"/>
              </a:lnSpc>
              <a:spcAft>
                <a:spcPts val="0"/>
              </a:spcAft>
              <a:buNone/>
            </a:pPr>
            <a:r>
              <a:rPr lang="it-IT" sz="2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Pendenza N-S: </a:t>
            </a:r>
            <a:r>
              <a:rPr lang="it-IT" sz="20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{{pendenza_ns}}</a:t>
            </a:r>
          </a:p>
          <a:p>
            <a:pPr algn="l">
              <a:lnSpc>
                <a:spcPts val="2900"/>
              </a:lnSpc>
              <a:spcAft>
                <a:spcPts val="0"/>
              </a:spcAft>
              <a:buNone/>
            </a:pPr>
            <a:r>
              <a:rPr lang="it-IT" sz="2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Altezza min. modulo: </a:t>
            </a:r>
            <a:r>
              <a:rPr lang="it-IT" sz="20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{{altezza_min_modulo_m}} m</a:t>
            </a:r>
          </a:p>
          <a:p>
            <a:pPr algn="l">
              <a:lnSpc>
                <a:spcPts val="2900"/>
              </a:lnSpc>
              <a:spcAft>
                <a:spcPts val="0"/>
              </a:spcAft>
              <a:buNone/>
            </a:pPr>
            <a:r>
              <a:rPr lang="it-IT" sz="2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Infissione: </a:t>
            </a:r>
            <a:r>
              <a:rPr lang="it-IT" sz="20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{{infissione_m}} m*</a:t>
            </a:r>
          </a:p>
          <a:p>
            <a:pPr algn="l">
              <a:lnSpc>
                <a:spcPts val="2900"/>
              </a:lnSpc>
              <a:spcAft>
                <a:spcPts val="0"/>
              </a:spcAft>
              <a:buNone/>
            </a:pPr>
            <a:r>
              <a:rPr lang="it-IT" sz="2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Rotazione: </a:t>
            </a:r>
            <a:r>
              <a:rPr lang="it-IT" sz="20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±{{angolo_rotazione}}°</a:t>
            </a:r>
          </a:p>
        </p:txBody>
      </p:sp>
      <p:sp>
        <p:nvSpPr>
          <p:cNvPr id="120" name="Nota infissione"/>
          <p:cNvSpPr txBox="1"/>
          <p:nvPr/>
        </p:nvSpPr>
        <p:spPr>
          <a:xfrm>
            <a:off x="6200000" y="7500000"/>
            <a:ext cx="11000000" cy="40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000"/>
              </a:lnSpc>
              <a:spcAft>
                <a:spcPts val="0"/>
              </a:spcAft>
              <a:buNone/>
            </a:pPr>
            <a:r>
              <a:rPr lang="it-IT" sz="1500" dirty="0">
                <a:solidFill>
                  <a:srgbClr val="BFBFBF"/>
                </a:solidFill>
                <a:latin typeface="Canva Sans"/>
                <a:ea typeface="Canva Sans"/>
                <a:cs typeface="Canva Sans"/>
                <a:sym typeface="Canva Sans"/>
              </a:rPr>
              <a:t>* Profondità di infissione da validare con pull-out test o studio geotecnico. Moduli non inclusi nella fornitura.</a:t>
            </a:r>
          </a:p>
        </p:txBody>
      </p:sp>
      <p:sp>
        <p:nvSpPr>
          <p:cNvPr id="200" name="Card pesi"/>
          <p:cNvSpPr/>
          <p:nvPr/>
        </p:nvSpPr>
        <p:spPr>
          <a:xfrm>
            <a:off x="6200000" y="8050000"/>
            <a:ext cx="11475911" cy="1500000"/>
          </a:xfrm>
          <a:prstGeom prst="roundRect">
            <a:avLst>
              <a:gd name="adj" fmla="val 12000"/>
            </a:avLst>
          </a:prstGeom>
          <a:solidFill>
            <a:srgbClr val="FFFFFF">
              <a:alpha val="7000"/>
            </a:srgbClr>
          </a:solidFill>
          <a:ln w="19050">
            <a:solidFill>
              <a:srgbClr val="79E920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201" name="Card text 4"/>
          <p:cNvSpPr txBox="1"/>
          <p:nvPr/>
        </p:nvSpPr>
        <p:spPr>
          <a:xfrm>
            <a:off x="6480000" y="8050000"/>
            <a:ext cx="1900000" cy="150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ts val="2400"/>
              </a:lnSpc>
              <a:spcAft>
                <a:spcPts val="0"/>
              </a:spcAft>
              <a:buNone/>
            </a:pPr>
            <a:r>
              <a:rPr lang="it-IT" sz="20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PESI DELLA</a:t>
            </a:r>
          </a:p>
          <a:p>
            <a:pPr algn="l">
              <a:lnSpc>
                <a:spcPts val="2400"/>
              </a:lnSpc>
              <a:spcAft>
                <a:spcPts val="0"/>
              </a:spcAft>
              <a:buNone/>
            </a:pPr>
            <a:r>
              <a:rPr lang="it-IT" sz="20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FORNITURA</a:t>
            </a:r>
          </a:p>
        </p:txBody>
      </p:sp>
      <p:sp>
        <p:nvSpPr>
          <p:cNvPr id="202" name="Peso Struttura"/>
          <p:cNvSpPr txBox="1"/>
          <p:nvPr/>
        </p:nvSpPr>
        <p:spPr>
          <a:xfrm>
            <a:off x="8380000" y="8050000"/>
            <a:ext cx="1803182" cy="150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ts val="2000"/>
              </a:lnSpc>
              <a:spcAft>
                <a:spcPts val="0"/>
              </a:spcAft>
              <a:buNone/>
            </a:pPr>
            <a:r>
              <a:rPr lang="it-IT" sz="15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Struttura</a:t>
            </a:r>
          </a:p>
          <a:p>
            <a:pPr algn="l">
              <a:lnSpc>
                <a:spcPts val="2800"/>
              </a:lnSpc>
              <a:spcAft>
                <a:spcPts val="0"/>
              </a:spcAft>
              <a:buNone/>
            </a:pPr>
            <a:r>
              <a:rPr lang="it-IT" sz="22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{{peso_struttura}}</a:t>
            </a:r>
          </a:p>
        </p:txBody>
      </p:sp>
      <p:sp>
        <p:nvSpPr>
          <p:cNvPr id="203" name="Peso Bulloneria"/>
          <p:cNvSpPr txBox="1"/>
          <p:nvPr/>
        </p:nvSpPr>
        <p:spPr>
          <a:xfrm>
            <a:off x="10183182" y="8050000"/>
            <a:ext cx="1803182" cy="150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ts val="2000"/>
              </a:lnSpc>
              <a:spcAft>
                <a:spcPts val="0"/>
              </a:spcAft>
              <a:buNone/>
            </a:pPr>
            <a:r>
              <a:rPr lang="it-IT" sz="15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Bulloneria</a:t>
            </a:r>
          </a:p>
          <a:p>
            <a:pPr algn="l">
              <a:lnSpc>
                <a:spcPts val="2800"/>
              </a:lnSpc>
              <a:spcAft>
                <a:spcPts val="0"/>
              </a:spcAft>
              <a:buNone/>
            </a:pPr>
            <a:r>
              <a:rPr lang="it-IT" sz="22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{{peso_bulloneria}}</a:t>
            </a:r>
          </a:p>
        </p:txBody>
      </p:sp>
      <p:sp>
        <p:nvSpPr>
          <p:cNvPr id="204" name="Peso Elettromeccanico"/>
          <p:cNvSpPr txBox="1"/>
          <p:nvPr/>
        </p:nvSpPr>
        <p:spPr>
          <a:xfrm>
            <a:off x="11986364" y="8050000"/>
            <a:ext cx="1803182" cy="150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ts val="2000"/>
              </a:lnSpc>
              <a:spcAft>
                <a:spcPts val="0"/>
              </a:spcAft>
              <a:buNone/>
            </a:pPr>
            <a:r>
              <a:rPr lang="it-IT" sz="15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Elettromeccanico</a:t>
            </a:r>
          </a:p>
          <a:p>
            <a:pPr algn="l">
              <a:lnSpc>
                <a:spcPts val="2800"/>
              </a:lnSpc>
              <a:spcAft>
                <a:spcPts val="0"/>
              </a:spcAft>
              <a:buNone/>
            </a:pPr>
            <a:r>
              <a:rPr lang="it-IT" sz="22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{{peso_elettromeccanico}}</a:t>
            </a:r>
          </a:p>
        </p:txBody>
      </p:sp>
      <p:sp>
        <p:nvSpPr>
          <p:cNvPr id="205" name="Peso Elettronico"/>
          <p:cNvSpPr txBox="1"/>
          <p:nvPr/>
        </p:nvSpPr>
        <p:spPr>
          <a:xfrm>
            <a:off x="13789546" y="8050000"/>
            <a:ext cx="1803182" cy="150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ts val="2000"/>
              </a:lnSpc>
              <a:spcAft>
                <a:spcPts val="0"/>
              </a:spcAft>
              <a:buNone/>
            </a:pPr>
            <a:r>
              <a:rPr lang="it-IT" sz="15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Elettronico</a:t>
            </a:r>
          </a:p>
          <a:p>
            <a:pPr algn="l">
              <a:lnSpc>
                <a:spcPts val="2800"/>
              </a:lnSpc>
              <a:spcAft>
                <a:spcPts val="0"/>
              </a:spcAft>
              <a:buNone/>
            </a:pPr>
            <a:r>
              <a:rPr lang="it-IT" sz="22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{{peso_elettronico}}</a:t>
            </a:r>
          </a:p>
        </p:txBody>
      </p:sp>
      <p:sp>
        <p:nvSpPr>
          <p:cNvPr id="206" name="Peso Totale"/>
          <p:cNvSpPr txBox="1"/>
          <p:nvPr/>
        </p:nvSpPr>
        <p:spPr>
          <a:xfrm>
            <a:off x="15592728" y="8050000"/>
            <a:ext cx="1803182" cy="150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ts val="2000"/>
              </a:lnSpc>
              <a:spcAft>
                <a:spcPts val="0"/>
              </a:spcAft>
              <a:buNone/>
            </a:pPr>
            <a:r>
              <a:rPr lang="it-IT" sz="15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Totale</a:t>
            </a:r>
          </a:p>
          <a:p>
            <a:pPr algn="l">
              <a:lnSpc>
                <a:spcPts val="2800"/>
              </a:lnSpc>
              <a:spcAft>
                <a:spcPts val="0"/>
              </a:spcAft>
              <a:buNone/>
            </a:pPr>
            <a:r>
              <a:rPr lang="it-IT" sz="22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{{peso_totale}}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2C2C2C">
                <a:alpha val="100000"/>
              </a:srgbClr>
            </a:gs>
            <a:gs pos="100000">
              <a:srgbClr val="000000">
                <a:alpha val="100000"/>
              </a:srgbClr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12089" y="8596796"/>
            <a:ext cx="4983083" cy="1370348"/>
          </a:xfrm>
          <a:custGeom>
            <a:avLst/>
            <a:gdLst/>
            <a:ahLst/>
            <a:cxnLst/>
            <a:rect l="l" t="t" r="r" b="b"/>
            <a:pathLst>
              <a:path w="4983083" h="1370348">
                <a:moveTo>
                  <a:pt x="0" y="0"/>
                </a:moveTo>
                <a:lnTo>
                  <a:pt x="4983083" y="0"/>
                </a:lnTo>
                <a:lnTo>
                  <a:pt x="4983083" y="1370348"/>
                </a:lnTo>
                <a:lnTo>
                  <a:pt x="0" y="137034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it-IT"/>
          </a:p>
        </p:txBody>
      </p:sp>
      <p:sp>
        <p:nvSpPr>
          <p:cNvPr id="3" name="Freeform 3"/>
          <p:cNvSpPr/>
          <p:nvPr/>
        </p:nvSpPr>
        <p:spPr>
          <a:xfrm>
            <a:off x="15765540" y="294725"/>
            <a:ext cx="2080170" cy="1739830"/>
          </a:xfrm>
          <a:custGeom>
            <a:avLst/>
            <a:gdLst/>
            <a:ahLst/>
            <a:cxnLst/>
            <a:rect l="l" t="t" r="r" b="b"/>
            <a:pathLst>
              <a:path w="2080170" h="1739830">
                <a:moveTo>
                  <a:pt x="0" y="0"/>
                </a:moveTo>
                <a:lnTo>
                  <a:pt x="2080169" y="0"/>
                </a:lnTo>
                <a:lnTo>
                  <a:pt x="2080169" y="1739830"/>
                </a:lnTo>
                <a:lnTo>
                  <a:pt x="0" y="173983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it-IT"/>
          </a:p>
        </p:txBody>
      </p:sp>
      <p:sp>
        <p:nvSpPr>
          <p:cNvPr id="5" name="TextBox 5"/>
          <p:cNvSpPr txBox="1"/>
          <p:nvPr/>
        </p:nvSpPr>
        <p:spPr>
          <a:xfrm>
            <a:off x="612089" y="170900"/>
            <a:ext cx="5360266" cy="10382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400"/>
              </a:lnSpc>
              <a:spcBef>
                <a:spcPct val="0"/>
              </a:spcBef>
            </a:pPr>
            <a:r>
              <a:rPr lang="en-US" sz="6000" b="1" spc="-294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LAYOUT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12088" y="1054767"/>
            <a:ext cx="8303312" cy="9848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8400"/>
              </a:lnSpc>
              <a:spcBef>
                <a:spcPct val="0"/>
              </a:spcBef>
            </a:pPr>
            <a:r>
              <a:rPr lang="en-US" sz="6000" b="1" spc="-294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{{nome_impianto}}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457200" y="2774162"/>
            <a:ext cx="7239000" cy="508806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3500"/>
              </a:lnSpc>
            </a:pPr>
            <a:r>
              <a:rPr lang="it-IT" sz="2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{{#tracker}}N.</a:t>
            </a:r>
            <a:r>
              <a:rPr lang="it-IT" sz="26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{{quantita}}</a:t>
            </a:r>
            <a:r>
              <a:rPr lang="it-IT" sz="2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 TRACKER TTS.{{moduli}} MODULI{{/tracker}}</a:t>
            </a:r>
          </a:p>
          <a:p>
            <a:pPr>
              <a:lnSpc>
                <a:spcPts val="2000"/>
              </a:lnSpc>
            </a:pPr>
            <a:endParaRPr lang="it-IT" sz="2600" dirty="0"/>
          </a:p>
          <a:p>
            <a:pPr>
              <a:lnSpc>
                <a:spcPts val="2000"/>
              </a:lnSpc>
            </a:pPr>
            <a:endParaRPr lang="it-IT" sz="2600" dirty="0"/>
          </a:p>
          <a:p>
            <a:pPr>
              <a:lnSpc>
                <a:spcPts val="3500"/>
              </a:lnSpc>
            </a:pPr>
            <a:r>
              <a:rPr lang="it-IT" sz="26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{{moduli_totali}}</a:t>
            </a:r>
            <a:r>
              <a:rPr lang="it-IT" sz="2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 pannelli da {{potenza_modulo_w}} W</a:t>
            </a:r>
          </a:p>
          <a:p>
            <a:pPr>
              <a:lnSpc>
                <a:spcPts val="3500"/>
              </a:lnSpc>
            </a:pPr>
            <a:r>
              <a:rPr lang="it-IT" sz="2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Potenza totale </a:t>
            </a:r>
            <a:r>
              <a:rPr lang="it-IT" sz="26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{{potenza_kwp}} kWp</a:t>
            </a:r>
          </a:p>
        </p:txBody>
      </p:sp>
      <p:pic>
        <p:nvPicPr>
          <p:cNvPr id="8" name="IMG_LAYOUT" descr="Planimetria impianto - sostituita dalla web app">
            <a:extLst>
              <a:ext uri="{FF2B5EF4-FFF2-40B4-BE49-F238E27FC236}">
                <a16:creationId xmlns:a16="http://schemas.microsoft.com/office/drawing/2014/main" id="{303DF27B-6FDA-D09C-1B62-FE462318BAD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34600" y="2920071"/>
            <a:ext cx="6400800" cy="645694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2C2C2C">
                <a:alpha val="100000"/>
              </a:srgbClr>
            </a:gs>
            <a:gs pos="100000">
              <a:srgbClr val="000000">
                <a:alpha val="100000"/>
              </a:srgbClr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flipV="1">
            <a:off x="17826659" y="-1416236"/>
            <a:ext cx="3203309" cy="5136501"/>
          </a:xfrm>
          <a:custGeom>
            <a:avLst/>
            <a:gdLst/>
            <a:ahLst/>
            <a:cxnLst/>
            <a:rect l="l" t="t" r="r" b="b"/>
            <a:pathLst>
              <a:path w="3203309" h="5136501">
                <a:moveTo>
                  <a:pt x="0" y="5136501"/>
                </a:moveTo>
                <a:lnTo>
                  <a:pt x="3203309" y="5136501"/>
                </a:lnTo>
                <a:lnTo>
                  <a:pt x="3203309" y="0"/>
                </a:lnTo>
                <a:lnTo>
                  <a:pt x="0" y="0"/>
                </a:lnTo>
                <a:lnTo>
                  <a:pt x="0" y="5136501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it-IT"/>
          </a:p>
        </p:txBody>
      </p:sp>
      <p:sp>
        <p:nvSpPr>
          <p:cNvPr id="3" name="Freeform 3"/>
          <p:cNvSpPr/>
          <p:nvPr/>
        </p:nvSpPr>
        <p:spPr>
          <a:xfrm>
            <a:off x="15765540" y="294725"/>
            <a:ext cx="1602826" cy="1340585"/>
          </a:xfrm>
          <a:custGeom>
            <a:avLst/>
            <a:gdLst/>
            <a:ahLst/>
            <a:cxnLst/>
            <a:rect l="l" t="t" r="r" b="b"/>
            <a:pathLst>
              <a:path w="1602826" h="1340585">
                <a:moveTo>
                  <a:pt x="0" y="0"/>
                </a:moveTo>
                <a:lnTo>
                  <a:pt x="1602826" y="0"/>
                </a:lnTo>
                <a:lnTo>
                  <a:pt x="1602826" y="1340585"/>
                </a:lnTo>
                <a:lnTo>
                  <a:pt x="0" y="13405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it-IT"/>
          </a:p>
        </p:txBody>
      </p:sp>
      <p:sp>
        <p:nvSpPr>
          <p:cNvPr id="4" name="Freeform 4"/>
          <p:cNvSpPr/>
          <p:nvPr/>
        </p:nvSpPr>
        <p:spPr>
          <a:xfrm>
            <a:off x="487313" y="370391"/>
            <a:ext cx="4020184" cy="1105551"/>
          </a:xfrm>
          <a:custGeom>
            <a:avLst/>
            <a:gdLst/>
            <a:ahLst/>
            <a:cxnLst/>
            <a:rect l="l" t="t" r="r" b="b"/>
            <a:pathLst>
              <a:path w="4020184" h="1105551">
                <a:moveTo>
                  <a:pt x="0" y="0"/>
                </a:moveTo>
                <a:lnTo>
                  <a:pt x="4020185" y="0"/>
                </a:lnTo>
                <a:lnTo>
                  <a:pt x="4020185" y="1105550"/>
                </a:lnTo>
                <a:lnTo>
                  <a:pt x="0" y="110555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it-IT"/>
          </a:p>
        </p:txBody>
      </p:sp>
      <p:sp>
        <p:nvSpPr>
          <p:cNvPr id="5" name="Freeform 5"/>
          <p:cNvSpPr/>
          <p:nvPr/>
        </p:nvSpPr>
        <p:spPr>
          <a:xfrm>
            <a:off x="411113" y="2442490"/>
            <a:ext cx="5096859" cy="2994404"/>
          </a:xfrm>
          <a:custGeom>
            <a:avLst/>
            <a:gdLst/>
            <a:ahLst/>
            <a:cxnLst/>
            <a:rect l="l" t="t" r="r" b="b"/>
            <a:pathLst>
              <a:path w="5096859" h="2994404">
                <a:moveTo>
                  <a:pt x="0" y="0"/>
                </a:moveTo>
                <a:lnTo>
                  <a:pt x="5096859" y="0"/>
                </a:lnTo>
                <a:lnTo>
                  <a:pt x="5096859" y="2994404"/>
                </a:lnTo>
                <a:lnTo>
                  <a:pt x="0" y="299440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it-IT"/>
          </a:p>
        </p:txBody>
      </p:sp>
      <p:sp>
        <p:nvSpPr>
          <p:cNvPr id="6" name="Freeform 6"/>
          <p:cNvSpPr/>
          <p:nvPr/>
        </p:nvSpPr>
        <p:spPr>
          <a:xfrm>
            <a:off x="6059068" y="2429850"/>
            <a:ext cx="6116370" cy="3038734"/>
          </a:xfrm>
          <a:custGeom>
            <a:avLst/>
            <a:gdLst/>
            <a:ahLst/>
            <a:cxnLst/>
            <a:rect l="l" t="t" r="r" b="b"/>
            <a:pathLst>
              <a:path w="6116370" h="3038734">
                <a:moveTo>
                  <a:pt x="0" y="0"/>
                </a:moveTo>
                <a:lnTo>
                  <a:pt x="6116370" y="0"/>
                </a:lnTo>
                <a:lnTo>
                  <a:pt x="6116370" y="3038734"/>
                </a:lnTo>
                <a:lnTo>
                  <a:pt x="0" y="303873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b="-18252"/>
            </a:stretch>
          </a:blipFill>
        </p:spPr>
        <p:txBody>
          <a:bodyPr/>
          <a:lstStyle/>
          <a:p>
            <a:endParaRPr lang="it-IT"/>
          </a:p>
        </p:txBody>
      </p:sp>
      <p:sp>
        <p:nvSpPr>
          <p:cNvPr id="7" name="Freeform 7"/>
          <p:cNvSpPr/>
          <p:nvPr/>
        </p:nvSpPr>
        <p:spPr>
          <a:xfrm>
            <a:off x="12726535" y="2429850"/>
            <a:ext cx="5042975" cy="2943837"/>
          </a:xfrm>
          <a:custGeom>
            <a:avLst/>
            <a:gdLst/>
            <a:ahLst/>
            <a:cxnLst/>
            <a:rect l="l" t="t" r="r" b="b"/>
            <a:pathLst>
              <a:path w="5042975" h="2943837">
                <a:moveTo>
                  <a:pt x="0" y="0"/>
                </a:moveTo>
                <a:lnTo>
                  <a:pt x="5042974" y="0"/>
                </a:lnTo>
                <a:lnTo>
                  <a:pt x="5042974" y="2943837"/>
                </a:lnTo>
                <a:lnTo>
                  <a:pt x="0" y="294383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  <p:txBody>
          <a:bodyPr/>
          <a:lstStyle/>
          <a:p>
            <a:endParaRPr lang="it-IT"/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5706" y="6533447"/>
            <a:ext cx="524544" cy="524862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7132" y="7008930"/>
            <a:ext cx="524544" cy="524862"/>
          </a:xfrm>
          <a:prstGeom prst="rect">
            <a:avLst/>
          </a:prstGeom>
        </p:spPr>
      </p:pic>
      <p:sp>
        <p:nvSpPr>
          <p:cNvPr id="10" name="TextBox 10"/>
          <p:cNvSpPr txBox="1"/>
          <p:nvPr/>
        </p:nvSpPr>
        <p:spPr>
          <a:xfrm>
            <a:off x="1470415" y="6640309"/>
            <a:ext cx="15788885" cy="8959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39"/>
              </a:lnSpc>
            </a:pPr>
            <a:r>
              <a:rPr lang="en-US" sz="2599" spc="194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OGNI TRACKER E’ DOTATO DI UN MOTORE DEDICATO E CONTROLLO INDIPENDENTE </a:t>
            </a:r>
          </a:p>
          <a:p>
            <a:pPr algn="l">
              <a:lnSpc>
                <a:spcPts val="3639"/>
              </a:lnSpc>
              <a:spcBef>
                <a:spcPct val="0"/>
              </a:spcBef>
            </a:pPr>
            <a:r>
              <a:rPr lang="en-US" sz="2599" spc="194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OGNI TRACKER HA UN ID UNIVOCO ASSEGNATO DURANTE LA CONFIGURAZIONE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2385564" y="5936739"/>
            <a:ext cx="13463378" cy="4774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773"/>
              </a:lnSpc>
            </a:pPr>
            <a:r>
              <a:rPr lang="en-US" sz="2902">
                <a:solidFill>
                  <a:srgbClr val="79E921"/>
                </a:solidFill>
                <a:latin typeface="Public Sans"/>
                <a:ea typeface="Public Sans"/>
                <a:cs typeface="Public Sans"/>
                <a:sym typeface="Public Sans"/>
              </a:rPr>
              <a:t>GESTIONE INDIVIDUALE DEI TRACKER E DIAGNOSTICA AVANZATA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3685304" y="257176"/>
            <a:ext cx="9928269" cy="7715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6300"/>
              </a:lnSpc>
              <a:spcBef>
                <a:spcPct val="0"/>
              </a:spcBef>
            </a:pPr>
            <a:r>
              <a:rPr lang="en-US" sz="4500" b="1" spc="-220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Sistema di Controllo Proprietario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207788" y="880762"/>
            <a:ext cx="8949800" cy="8679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420"/>
              </a:lnSpc>
              <a:spcBef>
                <a:spcPct val="0"/>
              </a:spcBef>
            </a:pPr>
            <a:r>
              <a:rPr lang="en-US" sz="5300" b="1" spc="-259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TTS® AGRI SOLAR CONTROL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710870" y="7993494"/>
            <a:ext cx="17058640" cy="24479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99"/>
              </a:lnSpc>
            </a:pPr>
            <a:r>
              <a:rPr lang="en-US" sz="2999">
                <a:solidFill>
                  <a:srgbClr val="79E920"/>
                </a:solidFill>
                <a:latin typeface="Canva Sans"/>
                <a:ea typeface="Canva Sans"/>
                <a:cs typeface="Canva Sans"/>
                <a:sym typeface="Canva Sans"/>
              </a:rPr>
              <a:t>VANTAGGI:</a:t>
            </a:r>
          </a:p>
          <a:p>
            <a:pPr marL="582925" lvl="1" indent="-291463" algn="l">
              <a:lnSpc>
                <a:spcPts val="3779"/>
              </a:lnSpc>
              <a:spcBef>
                <a:spcPct val="0"/>
              </a:spcBef>
              <a:buFont typeface="Arial"/>
              <a:buChar char="•"/>
            </a:pPr>
            <a:r>
              <a:rPr lang="en-US" sz="2699">
                <a:solidFill>
                  <a:srgbClr val="79E920"/>
                </a:solidFill>
                <a:latin typeface="Canva Sans"/>
                <a:ea typeface="Canva Sans"/>
                <a:cs typeface="Canva Sans"/>
                <a:sym typeface="Canva Sans"/>
              </a:rPr>
              <a:t>Gestione decentralizzata con supervisione in tempo reale e integrazione SCADA.</a:t>
            </a:r>
          </a:p>
          <a:p>
            <a:pPr marL="582925" lvl="1" indent="-291463" algn="l">
              <a:lnSpc>
                <a:spcPts val="3779"/>
              </a:lnSpc>
              <a:spcBef>
                <a:spcPct val="0"/>
              </a:spcBef>
              <a:buFont typeface="Arial"/>
              <a:buChar char="•"/>
            </a:pPr>
            <a:r>
              <a:rPr lang="en-US" sz="2699">
                <a:solidFill>
                  <a:srgbClr val="79E920"/>
                </a:solidFill>
                <a:latin typeface="Canva Sans"/>
                <a:ea typeface="Canva Sans"/>
                <a:cs typeface="Canva Sans"/>
                <a:sym typeface="Canva Sans"/>
              </a:rPr>
              <a:t>Localizzazione immediata di anomalie e guasti.</a:t>
            </a:r>
          </a:p>
          <a:p>
            <a:pPr marL="582925" lvl="1" indent="-291463" algn="l">
              <a:lnSpc>
                <a:spcPts val="3779"/>
              </a:lnSpc>
              <a:spcBef>
                <a:spcPct val="0"/>
              </a:spcBef>
              <a:buFont typeface="Arial"/>
              <a:buChar char="•"/>
            </a:pPr>
            <a:r>
              <a:rPr lang="en-US" sz="2699">
                <a:solidFill>
                  <a:srgbClr val="79E920"/>
                </a:solidFill>
                <a:latin typeface="Canva Sans"/>
                <a:ea typeface="Canva Sans"/>
                <a:cs typeface="Canva Sans"/>
                <a:sym typeface="Canva Sans"/>
              </a:rPr>
              <a:t>Isolamento delle singole unità senza impatto sulla continuità operativa dell’impianto</a:t>
            </a:r>
          </a:p>
          <a:p>
            <a:pPr algn="l">
              <a:lnSpc>
                <a:spcPts val="4199"/>
              </a:lnSpc>
              <a:spcBef>
                <a:spcPct val="0"/>
              </a:spcBef>
            </a:pPr>
            <a:endParaRPr lang="en-US" sz="2699">
              <a:solidFill>
                <a:srgbClr val="79E920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2C2C2C">
                <a:alpha val="100000"/>
              </a:srgbClr>
            </a:gs>
            <a:gs pos="100000">
              <a:srgbClr val="000000">
                <a:alpha val="100000"/>
              </a:srgbClr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3"/>
          <p:cNvSpPr/>
          <p:nvPr/>
        </p:nvSpPr>
        <p:spPr>
          <a:xfrm>
            <a:off x="-329959" y="248628"/>
            <a:ext cx="8263664" cy="8248639"/>
          </a:xfrm>
          <a:custGeom>
            <a:avLst/>
            <a:gdLst/>
            <a:ahLst/>
            <a:cxnLst/>
            <a:rect l="l" t="t" r="r" b="b"/>
            <a:pathLst>
              <a:path w="8263664" h="8248639">
                <a:moveTo>
                  <a:pt x="0" y="0"/>
                </a:moveTo>
                <a:lnTo>
                  <a:pt x="8263664" y="0"/>
                </a:lnTo>
                <a:lnTo>
                  <a:pt x="8263664" y="8248639"/>
                </a:lnTo>
                <a:lnTo>
                  <a:pt x="0" y="824863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it-IT"/>
          </a:p>
        </p:txBody>
      </p:sp>
      <p:grpSp>
        <p:nvGrpSpPr>
          <p:cNvPr id="4" name="Group 4"/>
          <p:cNvGrpSpPr/>
          <p:nvPr/>
        </p:nvGrpSpPr>
        <p:grpSpPr>
          <a:xfrm>
            <a:off x="83087" y="2188031"/>
            <a:ext cx="6762582" cy="6762582"/>
            <a:chOff x="0" y="0"/>
            <a:chExt cx="812800" cy="8128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79E920">
                    <a:alpha val="100000"/>
                  </a:srgbClr>
                </a:gs>
                <a:gs pos="100000">
                  <a:srgbClr val="233D0F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it-IT"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584058" y="2689002"/>
            <a:ext cx="5760640" cy="5760640"/>
            <a:chOff x="0" y="0"/>
            <a:chExt cx="812800" cy="8128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3"/>
              <a:stretch>
                <a:fillRect r="-33333"/>
              </a:stretch>
            </a:blipFill>
          </p:spPr>
          <p:txBody>
            <a:bodyPr/>
            <a:lstStyle/>
            <a:p>
              <a:endParaRPr lang="it-IT"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8253787" y="7222486"/>
            <a:ext cx="4035062" cy="1121262"/>
            <a:chOff x="0" y="0"/>
            <a:chExt cx="1315209" cy="4064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315209" cy="406400"/>
            </a:xfrm>
            <a:custGeom>
              <a:avLst/>
              <a:gdLst/>
              <a:ahLst/>
              <a:cxnLst/>
              <a:rect l="l" t="t" r="r" b="b"/>
              <a:pathLst>
                <a:path w="1315209" h="406400">
                  <a:moveTo>
                    <a:pt x="1112009" y="0"/>
                  </a:moveTo>
                  <a:cubicBezTo>
                    <a:pt x="1224233" y="0"/>
                    <a:pt x="1315209" y="90976"/>
                    <a:pt x="1315209" y="203200"/>
                  </a:cubicBezTo>
                  <a:cubicBezTo>
                    <a:pt x="1315209" y="315424"/>
                    <a:pt x="1224233" y="406400"/>
                    <a:pt x="1112009" y="406400"/>
                  </a:cubicBezTo>
                  <a:lnTo>
                    <a:pt x="203200" y="406400"/>
                  </a:lnTo>
                  <a:cubicBezTo>
                    <a:pt x="90976" y="406400"/>
                    <a:pt x="0" y="315424"/>
                    <a:pt x="0" y="203200"/>
                  </a:cubicBez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305810"/>
            </a:solidFill>
          </p:spPr>
          <p:txBody>
            <a:bodyPr/>
            <a:lstStyle/>
            <a:p>
              <a:endParaRPr lang="it-IT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315209" cy="444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3948138" y="7195359"/>
            <a:ext cx="4035062" cy="1121262"/>
            <a:chOff x="0" y="0"/>
            <a:chExt cx="1315209" cy="4064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315209" cy="406400"/>
            </a:xfrm>
            <a:custGeom>
              <a:avLst/>
              <a:gdLst/>
              <a:ahLst/>
              <a:cxnLst/>
              <a:rect l="l" t="t" r="r" b="b"/>
              <a:pathLst>
                <a:path w="1315209" h="406400">
                  <a:moveTo>
                    <a:pt x="1112009" y="0"/>
                  </a:moveTo>
                  <a:cubicBezTo>
                    <a:pt x="1224233" y="0"/>
                    <a:pt x="1315209" y="90976"/>
                    <a:pt x="1315209" y="203200"/>
                  </a:cubicBezTo>
                  <a:cubicBezTo>
                    <a:pt x="1315209" y="315424"/>
                    <a:pt x="1224233" y="406400"/>
                    <a:pt x="1112009" y="406400"/>
                  </a:cubicBezTo>
                  <a:lnTo>
                    <a:pt x="203200" y="406400"/>
                  </a:lnTo>
                  <a:cubicBezTo>
                    <a:pt x="90976" y="406400"/>
                    <a:pt x="0" y="315424"/>
                    <a:pt x="0" y="203200"/>
                  </a:cubicBez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305810"/>
            </a:solidFill>
          </p:spPr>
          <p:txBody>
            <a:bodyPr/>
            <a:lstStyle/>
            <a:p>
              <a:endParaRPr lang="it-IT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1315209" cy="444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6044157" y="7195359"/>
            <a:ext cx="3179214" cy="1121262"/>
            <a:chOff x="0" y="0"/>
            <a:chExt cx="1036250" cy="40640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036250" cy="406400"/>
            </a:xfrm>
            <a:custGeom>
              <a:avLst/>
              <a:gdLst/>
              <a:ahLst/>
              <a:cxnLst/>
              <a:rect l="l" t="t" r="r" b="b"/>
              <a:pathLst>
                <a:path w="1036250" h="406400">
                  <a:moveTo>
                    <a:pt x="833050" y="0"/>
                  </a:moveTo>
                  <a:cubicBezTo>
                    <a:pt x="945274" y="0"/>
                    <a:pt x="1036250" y="90976"/>
                    <a:pt x="1036250" y="203200"/>
                  </a:cubicBezTo>
                  <a:cubicBezTo>
                    <a:pt x="1036250" y="315424"/>
                    <a:pt x="945274" y="406400"/>
                    <a:pt x="833050" y="406400"/>
                  </a:cubicBezTo>
                  <a:lnTo>
                    <a:pt x="203200" y="406400"/>
                  </a:lnTo>
                  <a:cubicBezTo>
                    <a:pt x="90976" y="406400"/>
                    <a:pt x="0" y="315424"/>
                    <a:pt x="0" y="203200"/>
                  </a:cubicBez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79E920"/>
            </a:solidFill>
          </p:spPr>
          <p:txBody>
            <a:bodyPr/>
            <a:lstStyle/>
            <a:p>
              <a:endParaRPr lang="it-IT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1036250" cy="444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12167908" y="7195359"/>
            <a:ext cx="3179214" cy="1121262"/>
            <a:chOff x="0" y="0"/>
            <a:chExt cx="1036250" cy="40640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036250" cy="406400"/>
            </a:xfrm>
            <a:custGeom>
              <a:avLst/>
              <a:gdLst/>
              <a:ahLst/>
              <a:cxnLst/>
              <a:rect l="l" t="t" r="r" b="b"/>
              <a:pathLst>
                <a:path w="1036250" h="406400">
                  <a:moveTo>
                    <a:pt x="833050" y="0"/>
                  </a:moveTo>
                  <a:cubicBezTo>
                    <a:pt x="945274" y="0"/>
                    <a:pt x="1036250" y="90976"/>
                    <a:pt x="1036250" y="203200"/>
                  </a:cubicBezTo>
                  <a:cubicBezTo>
                    <a:pt x="1036250" y="315424"/>
                    <a:pt x="945274" y="406400"/>
                    <a:pt x="833050" y="406400"/>
                  </a:cubicBezTo>
                  <a:lnTo>
                    <a:pt x="203200" y="406400"/>
                  </a:lnTo>
                  <a:cubicBezTo>
                    <a:pt x="90976" y="406400"/>
                    <a:pt x="0" y="315424"/>
                    <a:pt x="0" y="203200"/>
                  </a:cubicBez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79E920"/>
            </a:solidFill>
          </p:spPr>
          <p:txBody>
            <a:bodyPr/>
            <a:lstStyle/>
            <a:p>
              <a:endParaRPr lang="it-IT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38100"/>
              <a:ext cx="1036250" cy="444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1" name="Freeform 21"/>
          <p:cNvSpPr/>
          <p:nvPr/>
        </p:nvSpPr>
        <p:spPr>
          <a:xfrm>
            <a:off x="10753352" y="320566"/>
            <a:ext cx="4758522" cy="1308594"/>
          </a:xfrm>
          <a:custGeom>
            <a:avLst/>
            <a:gdLst/>
            <a:ahLst/>
            <a:cxnLst/>
            <a:rect l="l" t="t" r="r" b="b"/>
            <a:pathLst>
              <a:path w="4758522" h="1308594">
                <a:moveTo>
                  <a:pt x="0" y="0"/>
                </a:moveTo>
                <a:lnTo>
                  <a:pt x="4758523" y="0"/>
                </a:lnTo>
                <a:lnTo>
                  <a:pt x="4758523" y="1308593"/>
                </a:lnTo>
                <a:lnTo>
                  <a:pt x="0" y="130859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it-IT"/>
          </a:p>
        </p:txBody>
      </p:sp>
      <p:sp>
        <p:nvSpPr>
          <p:cNvPr id="22" name="Freeform 22"/>
          <p:cNvSpPr/>
          <p:nvPr/>
        </p:nvSpPr>
        <p:spPr>
          <a:xfrm>
            <a:off x="16152395" y="294725"/>
            <a:ext cx="1693314" cy="1416268"/>
          </a:xfrm>
          <a:custGeom>
            <a:avLst/>
            <a:gdLst/>
            <a:ahLst/>
            <a:cxnLst/>
            <a:rect l="l" t="t" r="r" b="b"/>
            <a:pathLst>
              <a:path w="1693314" h="1416268">
                <a:moveTo>
                  <a:pt x="0" y="0"/>
                </a:moveTo>
                <a:lnTo>
                  <a:pt x="1693314" y="0"/>
                </a:lnTo>
                <a:lnTo>
                  <a:pt x="1693314" y="1416268"/>
                </a:lnTo>
                <a:lnTo>
                  <a:pt x="0" y="141626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it-IT"/>
          </a:p>
        </p:txBody>
      </p:sp>
      <p:sp>
        <p:nvSpPr>
          <p:cNvPr id="23" name="Incluso"/>
          <p:cNvSpPr txBox="1"/>
          <p:nvPr/>
        </p:nvSpPr>
        <p:spPr>
          <a:xfrm>
            <a:off x="7090848" y="1911499"/>
            <a:ext cx="10613094" cy="335666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400"/>
              </a:lnSpc>
              <a:spcAft>
                <a:spcPts val="600"/>
              </a:spcAft>
              <a:buNone/>
            </a:pPr>
            <a:r>
              <a:rPr lang="it-IT" sz="2600" b="1" dirty="0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INCLUSO NEL PREZZO</a:t>
            </a:r>
          </a:p>
          <a:p>
            <a:pPr marL="342900" indent="-342900" algn="l">
              <a:lnSpc>
                <a:spcPts val="3100"/>
              </a:lnSpc>
              <a:spcAft>
                <a:spcPts val="0"/>
              </a:spcAft>
              <a:buFont typeface="Arial"/>
              <a:buChar char="•"/>
            </a:pPr>
            <a:r>
              <a:rPr lang="it-IT" sz="2300" dirty="0">
                <a:solidFill>
                  <a:srgbClr val="79E920"/>
                </a:solidFill>
                <a:latin typeface="Canva Sans"/>
                <a:ea typeface="Canva Sans"/>
                <a:cs typeface="Canva Sans"/>
                <a:sym typeface="Canva Sans"/>
              </a:rPr>
              <a:t>{{#inclusi}}{{voce}}{{/inclusi}}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857479" y="134328"/>
            <a:ext cx="5279145" cy="10245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8397"/>
              </a:lnSpc>
              <a:spcBef>
                <a:spcPct val="0"/>
              </a:spcBef>
            </a:pPr>
            <a:r>
              <a:rPr lang="en-US" sz="5997" b="1" spc="-293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TOTALE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11117" y="784193"/>
            <a:ext cx="6025506" cy="10245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8397"/>
              </a:lnSpc>
              <a:spcBef>
                <a:spcPct val="0"/>
              </a:spcBef>
            </a:pPr>
            <a:r>
              <a:rPr lang="en-US" sz="5997" b="1" spc="-293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Investimento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6406599" y="7357609"/>
            <a:ext cx="2608831" cy="6755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796"/>
              </a:lnSpc>
            </a:pPr>
            <a:r>
              <a:rPr lang="en-US" b="1" spc="-137" dirty="0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COSTO</a:t>
            </a:r>
          </a:p>
          <a:p>
            <a:pPr algn="ctr">
              <a:lnSpc>
                <a:spcPts val="2796"/>
              </a:lnSpc>
            </a:pPr>
            <a:r>
              <a:rPr lang="en-US" sz="1600" b="1" spc="-137" dirty="0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STRUTTURA E COMPONENTI 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2487990" y="7596170"/>
            <a:ext cx="2303377" cy="35907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796"/>
              </a:lnSpc>
            </a:pPr>
            <a:r>
              <a:rPr lang="en-US" sz="2796" b="1" spc="-137" dirty="0" err="1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Trasporto</a:t>
            </a:r>
            <a:endParaRPr lang="en-US" sz="2796" b="1" spc="-137" dirty="0">
              <a:solidFill>
                <a:srgbClr val="000000"/>
              </a:solidFill>
              <a:latin typeface="Open Sauce Bold"/>
              <a:ea typeface="Open Sauce Bold"/>
              <a:cs typeface="Open Sauce Bold"/>
              <a:sym typeface="Open Sauce Bold"/>
            </a:endParaRPr>
          </a:p>
        </p:txBody>
      </p:sp>
      <p:sp>
        <p:nvSpPr>
          <p:cNvPr id="28" name="TextBox 28"/>
          <p:cNvSpPr txBox="1"/>
          <p:nvPr/>
        </p:nvSpPr>
        <p:spPr>
          <a:xfrm>
            <a:off x="9172956" y="7479577"/>
            <a:ext cx="2988501" cy="66684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596"/>
              </a:lnSpc>
            </a:pPr>
            <a:r>
              <a:rPr lang="en-US" sz="2596" b="1" spc="-127" dirty="0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€ {{prezzo_offerta}} + IVA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5409023" y="7621818"/>
            <a:ext cx="2303377" cy="33342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596"/>
              </a:lnSpc>
            </a:pPr>
            <a:r>
              <a:rPr lang="en-US" sz="2596" b="1" spc="-127" dirty="0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€ {{costo_trasporto}} + IVA</a:t>
            </a:r>
          </a:p>
        </p:txBody>
      </p:sp>
      <p:sp>
        <p:nvSpPr>
          <p:cNvPr id="30" name="Prezzo kWp"/>
          <p:cNvSpPr txBox="1"/>
          <p:nvPr/>
        </p:nvSpPr>
        <p:spPr>
          <a:xfrm>
            <a:off x="7092794" y="5350000"/>
            <a:ext cx="9469862" cy="150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5600"/>
              </a:lnSpc>
              <a:spcAft>
                <a:spcPts val="0"/>
              </a:spcAft>
              <a:buNone/>
            </a:pPr>
            <a:r>
              <a:rPr lang="it-IT" sz="4699" b="1" dirty="0">
                <a:solidFill>
                  <a:srgbClr val="79E92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{{prezzo_kwp}} €/kWp</a:t>
            </a:r>
          </a:p>
          <a:p>
            <a:pPr algn="l">
              <a:lnSpc>
                <a:spcPts val="3200"/>
              </a:lnSpc>
              <a:spcAft>
                <a:spcPts val="0"/>
              </a:spcAft>
              <a:buNone/>
            </a:pPr>
            <a:r>
              <a:rPr lang="it-IT" sz="23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Peso struttura ~{{peso_struttura_ton}} t · {{profilo_acciaio}}</a:t>
            </a:r>
          </a:p>
        </p:txBody>
      </p:sp>
      <p:grpSp>
        <p:nvGrpSpPr>
          <p:cNvPr id="2" name="Group 12">
            <a:extLst>
              <a:ext uri="{FF2B5EF4-FFF2-40B4-BE49-F238E27FC236}">
                <a16:creationId xmlns:a16="http://schemas.microsoft.com/office/drawing/2014/main" id="{D0BF364C-2A64-E4F8-5A1A-BFA84D8DD01D}"/>
              </a:ext>
            </a:extLst>
          </p:cNvPr>
          <p:cNvGrpSpPr/>
          <p:nvPr/>
        </p:nvGrpSpPr>
        <p:grpSpPr>
          <a:xfrm>
            <a:off x="7824386" y="8524394"/>
            <a:ext cx="6762581" cy="1121262"/>
            <a:chOff x="0" y="0"/>
            <a:chExt cx="1315209" cy="406400"/>
          </a:xfrm>
        </p:grpSpPr>
        <p:sp>
          <p:nvSpPr>
            <p:cNvPr id="31" name="Freeform 13">
              <a:extLst>
                <a:ext uri="{FF2B5EF4-FFF2-40B4-BE49-F238E27FC236}">
                  <a16:creationId xmlns:a16="http://schemas.microsoft.com/office/drawing/2014/main" id="{CF5E5E8F-518E-1657-4FBA-1F029B798F21}"/>
                </a:ext>
              </a:extLst>
            </p:cNvPr>
            <p:cNvSpPr/>
            <p:nvPr/>
          </p:nvSpPr>
          <p:spPr>
            <a:xfrm>
              <a:off x="0" y="0"/>
              <a:ext cx="1315209" cy="406400"/>
            </a:xfrm>
            <a:custGeom>
              <a:avLst/>
              <a:gdLst/>
              <a:ahLst/>
              <a:cxnLst/>
              <a:rect l="l" t="t" r="r" b="b"/>
              <a:pathLst>
                <a:path w="1315209" h="406400">
                  <a:moveTo>
                    <a:pt x="1112009" y="0"/>
                  </a:moveTo>
                  <a:cubicBezTo>
                    <a:pt x="1224233" y="0"/>
                    <a:pt x="1315209" y="90976"/>
                    <a:pt x="1315209" y="203200"/>
                  </a:cubicBezTo>
                  <a:cubicBezTo>
                    <a:pt x="1315209" y="315424"/>
                    <a:pt x="1224233" y="406400"/>
                    <a:pt x="1112009" y="406400"/>
                  </a:cubicBezTo>
                  <a:lnTo>
                    <a:pt x="203200" y="406400"/>
                  </a:lnTo>
                  <a:cubicBezTo>
                    <a:pt x="90976" y="406400"/>
                    <a:pt x="0" y="315424"/>
                    <a:pt x="0" y="203200"/>
                  </a:cubicBez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305810"/>
            </a:solidFill>
          </p:spPr>
          <p:txBody>
            <a:bodyPr/>
            <a:lstStyle/>
            <a:p>
              <a:endParaRPr lang="it-IT"/>
            </a:p>
          </p:txBody>
        </p:sp>
        <p:sp>
          <p:nvSpPr>
            <p:cNvPr id="32" name="TextBox 14">
              <a:extLst>
                <a:ext uri="{FF2B5EF4-FFF2-40B4-BE49-F238E27FC236}">
                  <a16:creationId xmlns:a16="http://schemas.microsoft.com/office/drawing/2014/main" id="{C27A8A8B-C269-60F8-A11A-A0C288C1947C}"/>
                </a:ext>
              </a:extLst>
            </p:cNvPr>
            <p:cNvSpPr txBox="1"/>
            <p:nvPr/>
          </p:nvSpPr>
          <p:spPr>
            <a:xfrm>
              <a:off x="0" y="-38100"/>
              <a:ext cx="1315209" cy="444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33" name="Group 18">
            <a:extLst>
              <a:ext uri="{FF2B5EF4-FFF2-40B4-BE49-F238E27FC236}">
                <a16:creationId xmlns:a16="http://schemas.microsoft.com/office/drawing/2014/main" id="{A9E4A425-AC6D-4018-EE89-B3A65D457333}"/>
              </a:ext>
            </a:extLst>
          </p:cNvPr>
          <p:cNvGrpSpPr/>
          <p:nvPr/>
        </p:nvGrpSpPr>
        <p:grpSpPr>
          <a:xfrm>
            <a:off x="6044157" y="8524394"/>
            <a:ext cx="3179214" cy="1121262"/>
            <a:chOff x="0" y="0"/>
            <a:chExt cx="1036250" cy="406400"/>
          </a:xfrm>
        </p:grpSpPr>
        <p:sp>
          <p:nvSpPr>
            <p:cNvPr id="34" name="Freeform 19">
              <a:extLst>
                <a:ext uri="{FF2B5EF4-FFF2-40B4-BE49-F238E27FC236}">
                  <a16:creationId xmlns:a16="http://schemas.microsoft.com/office/drawing/2014/main" id="{FAC1FAFD-CB70-1FA7-50FD-F3A15587C16B}"/>
                </a:ext>
              </a:extLst>
            </p:cNvPr>
            <p:cNvSpPr/>
            <p:nvPr/>
          </p:nvSpPr>
          <p:spPr>
            <a:xfrm>
              <a:off x="0" y="0"/>
              <a:ext cx="1036250" cy="406400"/>
            </a:xfrm>
            <a:custGeom>
              <a:avLst/>
              <a:gdLst/>
              <a:ahLst/>
              <a:cxnLst/>
              <a:rect l="l" t="t" r="r" b="b"/>
              <a:pathLst>
                <a:path w="1036250" h="406400">
                  <a:moveTo>
                    <a:pt x="833050" y="0"/>
                  </a:moveTo>
                  <a:cubicBezTo>
                    <a:pt x="945274" y="0"/>
                    <a:pt x="1036250" y="90976"/>
                    <a:pt x="1036250" y="203200"/>
                  </a:cubicBezTo>
                  <a:cubicBezTo>
                    <a:pt x="1036250" y="315424"/>
                    <a:pt x="945274" y="406400"/>
                    <a:pt x="833050" y="406400"/>
                  </a:cubicBezTo>
                  <a:lnTo>
                    <a:pt x="203200" y="406400"/>
                  </a:lnTo>
                  <a:cubicBezTo>
                    <a:pt x="90976" y="406400"/>
                    <a:pt x="0" y="315424"/>
                    <a:pt x="0" y="203200"/>
                  </a:cubicBez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79E920"/>
            </a:solidFill>
          </p:spPr>
          <p:txBody>
            <a:bodyPr/>
            <a:lstStyle/>
            <a:p>
              <a:endParaRPr lang="it-IT"/>
            </a:p>
          </p:txBody>
        </p:sp>
        <p:sp>
          <p:nvSpPr>
            <p:cNvPr id="35" name="TextBox 20">
              <a:extLst>
                <a:ext uri="{FF2B5EF4-FFF2-40B4-BE49-F238E27FC236}">
                  <a16:creationId xmlns:a16="http://schemas.microsoft.com/office/drawing/2014/main" id="{4A60E3CD-6E2A-A13B-7D86-007C82AD58FF}"/>
                </a:ext>
              </a:extLst>
            </p:cNvPr>
            <p:cNvSpPr txBox="1"/>
            <p:nvPr/>
          </p:nvSpPr>
          <p:spPr>
            <a:xfrm>
              <a:off x="0" y="-38100"/>
              <a:ext cx="1036250" cy="444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36" name="TextBox 27">
            <a:extLst>
              <a:ext uri="{FF2B5EF4-FFF2-40B4-BE49-F238E27FC236}">
                <a16:creationId xmlns:a16="http://schemas.microsoft.com/office/drawing/2014/main" id="{FD5AC318-8627-93CA-FB41-613EADF813D0}"/>
              </a:ext>
            </a:extLst>
          </p:cNvPr>
          <p:cNvSpPr txBox="1"/>
          <p:nvPr/>
        </p:nvSpPr>
        <p:spPr>
          <a:xfrm>
            <a:off x="6364239" y="8925205"/>
            <a:ext cx="2303377" cy="35907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796"/>
              </a:lnSpc>
            </a:pPr>
            <a:r>
              <a:rPr lang="en-US" sz="2796" b="1" spc="-137" dirty="0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Posa in opera</a:t>
            </a:r>
          </a:p>
        </p:txBody>
      </p:sp>
      <p:sp>
        <p:nvSpPr>
          <p:cNvPr id="37" name="TextBox 29">
            <a:extLst>
              <a:ext uri="{FF2B5EF4-FFF2-40B4-BE49-F238E27FC236}">
                <a16:creationId xmlns:a16="http://schemas.microsoft.com/office/drawing/2014/main" id="{0CE46507-130F-DE1C-7906-A72B583BA5FA}"/>
              </a:ext>
            </a:extLst>
          </p:cNvPr>
          <p:cNvSpPr txBox="1"/>
          <p:nvPr/>
        </p:nvSpPr>
        <p:spPr>
          <a:xfrm>
            <a:off x="9417593" y="8724900"/>
            <a:ext cx="5192120" cy="79893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US" sz="2596" b="1" spc="-127" dirty="0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€ {{costo_posa}} + IVA {{nota_posa}}</a:t>
            </a:r>
          </a:p>
        </p:txBody>
      </p:sp>
      <p:sp>
        <p:nvSpPr>
          <p:cNvPr id="140" name="Nota prezzi"/>
          <p:cNvSpPr txBox="1"/>
          <p:nvPr/>
        </p:nvSpPr>
        <p:spPr>
          <a:xfrm>
            <a:off x="14900000" y="8650000"/>
            <a:ext cx="3100000" cy="120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000"/>
              </a:lnSpc>
              <a:spcAft>
                <a:spcPts val="0"/>
              </a:spcAft>
              <a:buNone/>
            </a:pPr>
            <a:r>
              <a:rPr lang="it-IT" sz="1500" dirty="0">
                <a:solidFill>
                  <a:srgbClr val="BFBFBF"/>
                </a:solidFill>
                <a:latin typeface="Canva Sans"/>
                <a:ea typeface="Canva Sans"/>
                <a:cs typeface="Canva Sans"/>
                <a:sym typeface="Canva Sans"/>
              </a:rPr>
              <a:t>Prezzi IVA esclusa. €/kWp calcolato su struttura e componenti. Trasporto e posa in opera sono opzionali.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2C2C2C">
                <a:alpha val="100000"/>
              </a:srgbClr>
            </a:gs>
            <a:gs pos="100000">
              <a:srgbClr val="000000">
                <a:alpha val="100000"/>
              </a:srgbClr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12089" y="8596796"/>
            <a:ext cx="4983083" cy="1370348"/>
          </a:xfrm>
          <a:custGeom>
            <a:avLst/>
            <a:gdLst/>
            <a:ahLst/>
            <a:cxnLst/>
            <a:rect l="l" t="t" r="r" b="b"/>
            <a:pathLst>
              <a:path w="4983083" h="1370348">
                <a:moveTo>
                  <a:pt x="0" y="0"/>
                </a:moveTo>
                <a:lnTo>
                  <a:pt x="4983083" y="0"/>
                </a:lnTo>
                <a:lnTo>
                  <a:pt x="4983083" y="1370348"/>
                </a:lnTo>
                <a:lnTo>
                  <a:pt x="0" y="137034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it-IT"/>
          </a:p>
        </p:txBody>
      </p:sp>
      <p:sp>
        <p:nvSpPr>
          <p:cNvPr id="3" name="Freeform 3"/>
          <p:cNvSpPr/>
          <p:nvPr/>
        </p:nvSpPr>
        <p:spPr>
          <a:xfrm>
            <a:off x="15765540" y="294725"/>
            <a:ext cx="2080170" cy="1739830"/>
          </a:xfrm>
          <a:custGeom>
            <a:avLst/>
            <a:gdLst/>
            <a:ahLst/>
            <a:cxnLst/>
            <a:rect l="l" t="t" r="r" b="b"/>
            <a:pathLst>
              <a:path w="2080170" h="1739830">
                <a:moveTo>
                  <a:pt x="0" y="0"/>
                </a:moveTo>
                <a:lnTo>
                  <a:pt x="2080169" y="0"/>
                </a:lnTo>
                <a:lnTo>
                  <a:pt x="2080169" y="1739830"/>
                </a:lnTo>
                <a:lnTo>
                  <a:pt x="0" y="173983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it-IT"/>
          </a:p>
        </p:txBody>
      </p:sp>
      <p:sp>
        <p:nvSpPr>
          <p:cNvPr id="5" name="TextBox 5"/>
          <p:cNvSpPr txBox="1"/>
          <p:nvPr/>
        </p:nvSpPr>
        <p:spPr>
          <a:xfrm>
            <a:off x="612089" y="170900"/>
            <a:ext cx="14500000" cy="10382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400"/>
              </a:lnSpc>
              <a:spcBef>
                <a:spcPct val="0"/>
              </a:spcBef>
            </a:pPr>
            <a:r>
              <a:rPr lang="en-US" sz="6000" b="1" spc="-294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FORNITURE E SERVIZI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12088" y="1054767"/>
            <a:ext cx="7693711" cy="9848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8400"/>
              </a:lnSpc>
              <a:spcBef>
                <a:spcPct val="0"/>
              </a:spcBef>
            </a:pPr>
            <a:r>
              <a:rPr lang="en-US" sz="6000" b="1" spc="-294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Opzionali</a:t>
            </a:r>
          </a:p>
        </p:txBody>
      </p:sp>
      <p:sp>
        <p:nvSpPr>
          <p:cNvPr id="272" name="Intestazione 272"/>
          <p:cNvSpPr/>
          <p:nvPr/>
        </p:nvSpPr>
        <p:spPr>
          <a:xfrm>
            <a:off x="612089" y="2450000"/>
            <a:ext cx="17063911" cy="700000"/>
          </a:xfrm>
          <a:prstGeom prst="roundRect">
            <a:avLst>
              <a:gd name="adj" fmla="val 20000"/>
            </a:avLst>
          </a:prstGeom>
          <a:solidFill>
            <a:srgbClr val="79E920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endParaRPr lang="it-IT"/>
          </a:p>
        </p:txBody>
      </p:sp>
      <p:sp>
        <p:nvSpPr>
          <p:cNvPr id="273" name="Testo 273"/>
          <p:cNvSpPr txBox="1"/>
          <p:nvPr/>
        </p:nvSpPr>
        <p:spPr>
          <a:xfrm>
            <a:off x="862089" y="2450000"/>
            <a:ext cx="11300000" cy="70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it-IT" sz="1800" b="1" dirty="0">
                <a:solidFill>
                  <a:srgbClr val="111111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Voce</a:t>
            </a:r>
          </a:p>
        </p:txBody>
      </p:sp>
      <p:sp>
        <p:nvSpPr>
          <p:cNvPr id="274" name="Testo 274"/>
          <p:cNvSpPr txBox="1"/>
          <p:nvPr/>
        </p:nvSpPr>
        <p:spPr>
          <a:xfrm>
            <a:off x="12662089" y="2450000"/>
            <a:ext cx="4763911" cy="70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it-IT" sz="1800" b="1" dirty="0">
                <a:solidFill>
                  <a:srgbClr val="111111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Prezzo</a:t>
            </a:r>
          </a:p>
        </p:txBody>
      </p:sp>
      <p:sp>
        <p:nvSpPr>
          <p:cNvPr id="275" name="Riga 275" descr="{{#servizi:alterna}}"/>
          <p:cNvSpPr/>
          <p:nvPr/>
        </p:nvSpPr>
        <p:spPr>
          <a:xfrm>
            <a:off x="612089" y="3210000"/>
            <a:ext cx="17063911" cy="620000"/>
          </a:xfrm>
          <a:prstGeom prst="rect">
            <a:avLst/>
          </a:prstGeom>
          <a:solidFill>
            <a:srgbClr val="FFFFFF">
              <a:alpha val="6000"/>
            </a:srgbClr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endParaRPr lang="it-IT"/>
          </a:p>
        </p:txBody>
      </p:sp>
      <p:sp>
        <p:nvSpPr>
          <p:cNvPr id="276" name="Testo 276" descr="{{#servizi}}"/>
          <p:cNvSpPr txBox="1"/>
          <p:nvPr/>
        </p:nvSpPr>
        <p:spPr>
          <a:xfrm>
            <a:off x="862089" y="3210000"/>
            <a:ext cx="11300000" cy="62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it-IT" sz="2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{{voce}}</a:t>
            </a:r>
          </a:p>
        </p:txBody>
      </p:sp>
      <p:sp>
        <p:nvSpPr>
          <p:cNvPr id="277" name="Testo 277" descr="{{#servizi}}"/>
          <p:cNvSpPr txBox="1"/>
          <p:nvPr/>
        </p:nvSpPr>
        <p:spPr>
          <a:xfrm>
            <a:off x="12662089" y="3210000"/>
            <a:ext cx="4763911" cy="62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it-IT" sz="20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{{prezzo}}</a:t>
            </a:r>
          </a:p>
        </p:txBody>
      </p:sp>
      <p:sp>
        <p:nvSpPr>
          <p:cNvPr id="295" name="Testo 295"/>
          <p:cNvSpPr txBox="1"/>
          <p:nvPr/>
        </p:nvSpPr>
        <p:spPr>
          <a:xfrm>
            <a:off x="6200000" y="8420000"/>
            <a:ext cx="11400000" cy="70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it-IT" sz="1400" dirty="0">
                <a:solidFill>
                  <a:srgbClr val="BFBFBF"/>
                </a:solidFill>
                <a:latin typeface="Canva Sans"/>
                <a:ea typeface="Canva Sans"/>
                <a:cs typeface="Canva Sans"/>
                <a:sym typeface="Canva Sans"/>
              </a:rPr>
              <a:t>Prezzi IVA esclusa. Le voci “Su richiesta” vengono quotate su specifica esigenza del cliente e confermate in fase d’ordine.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2C2C2C">
                <a:alpha val="100000"/>
              </a:srgbClr>
            </a:gs>
            <a:gs pos="100000">
              <a:srgbClr val="000000">
                <a:alpha val="100000"/>
              </a:srgbClr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12089" y="8596796"/>
            <a:ext cx="4983083" cy="1370348"/>
          </a:xfrm>
          <a:custGeom>
            <a:avLst/>
            <a:gdLst/>
            <a:ahLst/>
            <a:cxnLst/>
            <a:rect l="l" t="t" r="r" b="b"/>
            <a:pathLst>
              <a:path w="4983083" h="1370348">
                <a:moveTo>
                  <a:pt x="0" y="0"/>
                </a:moveTo>
                <a:lnTo>
                  <a:pt x="4983083" y="0"/>
                </a:lnTo>
                <a:lnTo>
                  <a:pt x="4983083" y="1370348"/>
                </a:lnTo>
                <a:lnTo>
                  <a:pt x="0" y="137034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it-IT"/>
          </a:p>
        </p:txBody>
      </p:sp>
      <p:sp>
        <p:nvSpPr>
          <p:cNvPr id="3" name="Freeform 3"/>
          <p:cNvSpPr/>
          <p:nvPr/>
        </p:nvSpPr>
        <p:spPr>
          <a:xfrm>
            <a:off x="15765540" y="294725"/>
            <a:ext cx="2080170" cy="1739830"/>
          </a:xfrm>
          <a:custGeom>
            <a:avLst/>
            <a:gdLst/>
            <a:ahLst/>
            <a:cxnLst/>
            <a:rect l="l" t="t" r="r" b="b"/>
            <a:pathLst>
              <a:path w="2080170" h="1739830">
                <a:moveTo>
                  <a:pt x="0" y="0"/>
                </a:moveTo>
                <a:lnTo>
                  <a:pt x="2080169" y="0"/>
                </a:lnTo>
                <a:lnTo>
                  <a:pt x="2080169" y="1739830"/>
                </a:lnTo>
                <a:lnTo>
                  <a:pt x="0" y="173983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it-IT"/>
          </a:p>
        </p:txBody>
      </p:sp>
      <p:sp>
        <p:nvSpPr>
          <p:cNvPr id="5" name="TextBox 5"/>
          <p:cNvSpPr txBox="1"/>
          <p:nvPr/>
        </p:nvSpPr>
        <p:spPr>
          <a:xfrm>
            <a:off x="612089" y="170900"/>
            <a:ext cx="14500000" cy="10382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400"/>
              </a:lnSpc>
              <a:spcBef>
                <a:spcPct val="0"/>
              </a:spcBef>
            </a:pPr>
            <a:r>
              <a:rPr lang="en-US" sz="6000" b="1" spc="-294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CONDIZIONI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12088" y="1054767"/>
            <a:ext cx="7693711" cy="9848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8400"/>
              </a:lnSpc>
              <a:spcBef>
                <a:spcPct val="0"/>
              </a:spcBef>
            </a:pPr>
            <a:r>
              <a:rPr lang="en-US" sz="6000" b="1" spc="-294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Commerciali</a:t>
            </a:r>
          </a:p>
        </p:txBody>
      </p:sp>
      <p:sp>
        <p:nvSpPr>
          <p:cNvPr id="296" name="Intestazione 296"/>
          <p:cNvSpPr/>
          <p:nvPr/>
        </p:nvSpPr>
        <p:spPr>
          <a:xfrm>
            <a:off x="612089" y="2450000"/>
            <a:ext cx="10200000" cy="700000"/>
          </a:xfrm>
          <a:prstGeom prst="roundRect">
            <a:avLst>
              <a:gd name="adj" fmla="val 20000"/>
            </a:avLst>
          </a:prstGeom>
          <a:solidFill>
            <a:srgbClr val="79E920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endParaRPr lang="it-IT"/>
          </a:p>
        </p:txBody>
      </p:sp>
      <p:sp>
        <p:nvSpPr>
          <p:cNvPr id="297" name="Testo 297"/>
          <p:cNvSpPr txBox="1"/>
          <p:nvPr/>
        </p:nvSpPr>
        <p:spPr>
          <a:xfrm>
            <a:off x="862089" y="2450000"/>
            <a:ext cx="5100000" cy="70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it-IT" sz="1800" b="1" dirty="0">
                <a:solidFill>
                  <a:srgbClr val="111111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Condizione</a:t>
            </a:r>
          </a:p>
        </p:txBody>
      </p:sp>
      <p:sp>
        <p:nvSpPr>
          <p:cNvPr id="298" name="Testo 298"/>
          <p:cNvSpPr txBox="1"/>
          <p:nvPr/>
        </p:nvSpPr>
        <p:spPr>
          <a:xfrm>
            <a:off x="6462089" y="2450000"/>
            <a:ext cx="4100000" cy="70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it-IT" sz="1800" b="1" dirty="0">
                <a:solidFill>
                  <a:srgbClr val="111111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Dettaglio</a:t>
            </a:r>
          </a:p>
        </p:txBody>
      </p:sp>
      <p:sp>
        <p:nvSpPr>
          <p:cNvPr id="299" name="Riga 299"/>
          <p:cNvSpPr/>
          <p:nvPr/>
        </p:nvSpPr>
        <p:spPr>
          <a:xfrm>
            <a:off x="612089" y="3210000"/>
            <a:ext cx="10200000" cy="720000"/>
          </a:xfrm>
          <a:prstGeom prst="rect">
            <a:avLst/>
          </a:prstGeom>
          <a:solidFill>
            <a:srgbClr val="FFFFFF">
              <a:alpha val="6000"/>
            </a:srgbClr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endParaRPr lang="it-IT"/>
          </a:p>
        </p:txBody>
      </p:sp>
      <p:sp>
        <p:nvSpPr>
          <p:cNvPr id="300" name="Testo 300"/>
          <p:cNvSpPr txBox="1"/>
          <p:nvPr/>
        </p:nvSpPr>
        <p:spPr>
          <a:xfrm>
            <a:off x="862089" y="3210000"/>
            <a:ext cx="5100000" cy="72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it-IT" sz="2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Resa (Incoterms 2020)</a:t>
            </a:r>
          </a:p>
        </p:txBody>
      </p:sp>
      <p:sp>
        <p:nvSpPr>
          <p:cNvPr id="301" name="Testo 301"/>
          <p:cNvSpPr txBox="1"/>
          <p:nvPr/>
        </p:nvSpPr>
        <p:spPr>
          <a:xfrm>
            <a:off x="6462089" y="3210000"/>
            <a:ext cx="4100000" cy="72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it-IT" sz="20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{{resa}}</a:t>
            </a:r>
          </a:p>
        </p:txBody>
      </p:sp>
      <p:sp>
        <p:nvSpPr>
          <p:cNvPr id="302" name="Testo 302"/>
          <p:cNvSpPr txBox="1"/>
          <p:nvPr/>
        </p:nvSpPr>
        <p:spPr>
          <a:xfrm>
            <a:off x="862089" y="3930000"/>
            <a:ext cx="5100000" cy="72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it-IT" sz="2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Valuta</a:t>
            </a:r>
          </a:p>
        </p:txBody>
      </p:sp>
      <p:sp>
        <p:nvSpPr>
          <p:cNvPr id="303" name="Testo 303"/>
          <p:cNvSpPr txBox="1"/>
          <p:nvPr/>
        </p:nvSpPr>
        <p:spPr>
          <a:xfrm>
            <a:off x="6462089" y="3930000"/>
            <a:ext cx="4100000" cy="72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it-IT" sz="20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EUR (€)</a:t>
            </a:r>
          </a:p>
        </p:txBody>
      </p:sp>
      <p:sp>
        <p:nvSpPr>
          <p:cNvPr id="304" name="Riga 304"/>
          <p:cNvSpPr/>
          <p:nvPr/>
        </p:nvSpPr>
        <p:spPr>
          <a:xfrm>
            <a:off x="612089" y="4650000"/>
            <a:ext cx="10200000" cy="720000"/>
          </a:xfrm>
          <a:prstGeom prst="rect">
            <a:avLst/>
          </a:prstGeom>
          <a:solidFill>
            <a:srgbClr val="FFFFFF">
              <a:alpha val="6000"/>
            </a:srgbClr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endParaRPr lang="it-IT"/>
          </a:p>
        </p:txBody>
      </p:sp>
      <p:sp>
        <p:nvSpPr>
          <p:cNvPr id="305" name="Testo 305"/>
          <p:cNvSpPr txBox="1"/>
          <p:nvPr/>
        </p:nvSpPr>
        <p:spPr>
          <a:xfrm>
            <a:off x="862089" y="4650000"/>
            <a:ext cx="5100000" cy="72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it-IT" sz="2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Prezzi</a:t>
            </a:r>
          </a:p>
        </p:txBody>
      </p:sp>
      <p:sp>
        <p:nvSpPr>
          <p:cNvPr id="306" name="Testo 306"/>
          <p:cNvSpPr txBox="1"/>
          <p:nvPr/>
        </p:nvSpPr>
        <p:spPr>
          <a:xfrm>
            <a:off x="6462089" y="4650000"/>
            <a:ext cx="4100000" cy="72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it-IT" sz="20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IVA esclusa</a:t>
            </a:r>
          </a:p>
        </p:txBody>
      </p:sp>
      <p:sp>
        <p:nvSpPr>
          <p:cNvPr id="307" name="Testo 307"/>
          <p:cNvSpPr txBox="1"/>
          <p:nvPr/>
        </p:nvSpPr>
        <p:spPr>
          <a:xfrm>
            <a:off x="862089" y="5370000"/>
            <a:ext cx="5100000" cy="72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it-IT" sz="2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Condizioni di pagamento</a:t>
            </a:r>
          </a:p>
        </p:txBody>
      </p:sp>
      <p:sp>
        <p:nvSpPr>
          <p:cNvPr id="308" name="Testo 308"/>
          <p:cNvSpPr txBox="1"/>
          <p:nvPr/>
        </p:nvSpPr>
        <p:spPr>
          <a:xfrm>
            <a:off x="6462089" y="5370000"/>
            <a:ext cx="4100000" cy="72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it-IT" sz="20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{{pagamento}}</a:t>
            </a:r>
          </a:p>
        </p:txBody>
      </p:sp>
      <p:sp>
        <p:nvSpPr>
          <p:cNvPr id="309" name="Riga 309"/>
          <p:cNvSpPr/>
          <p:nvPr/>
        </p:nvSpPr>
        <p:spPr>
          <a:xfrm>
            <a:off x="612089" y="6090000"/>
            <a:ext cx="10200000" cy="720000"/>
          </a:xfrm>
          <a:prstGeom prst="rect">
            <a:avLst/>
          </a:prstGeom>
          <a:solidFill>
            <a:srgbClr val="FFFFFF">
              <a:alpha val="6000"/>
            </a:srgbClr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endParaRPr lang="it-IT"/>
          </a:p>
        </p:txBody>
      </p:sp>
      <p:sp>
        <p:nvSpPr>
          <p:cNvPr id="310" name="Testo 310"/>
          <p:cNvSpPr txBox="1"/>
          <p:nvPr/>
        </p:nvSpPr>
        <p:spPr>
          <a:xfrm>
            <a:off x="862089" y="6090000"/>
            <a:ext cx="5100000" cy="72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it-IT" sz="2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Tempi di consegna</a:t>
            </a:r>
          </a:p>
        </p:txBody>
      </p:sp>
      <p:sp>
        <p:nvSpPr>
          <p:cNvPr id="311" name="Testo 311"/>
          <p:cNvSpPr txBox="1"/>
          <p:nvPr/>
        </p:nvSpPr>
        <p:spPr>
          <a:xfrm>
            <a:off x="6462089" y="6090000"/>
            <a:ext cx="4100000" cy="72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it-IT" sz="20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{{consegna}}</a:t>
            </a:r>
          </a:p>
        </p:txBody>
      </p:sp>
      <p:sp>
        <p:nvSpPr>
          <p:cNvPr id="312" name="Testo 312"/>
          <p:cNvSpPr txBox="1"/>
          <p:nvPr/>
        </p:nvSpPr>
        <p:spPr>
          <a:xfrm>
            <a:off x="862089" y="6810000"/>
            <a:ext cx="5100000" cy="72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it-IT" sz="2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Validità dell’offerta</a:t>
            </a:r>
          </a:p>
        </p:txBody>
      </p:sp>
      <p:sp>
        <p:nvSpPr>
          <p:cNvPr id="313" name="Testo 313"/>
          <p:cNvSpPr txBox="1"/>
          <p:nvPr/>
        </p:nvSpPr>
        <p:spPr>
          <a:xfrm>
            <a:off x="6462089" y="6810000"/>
            <a:ext cx="4100000" cy="72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it-IT" sz="20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{{validita}}</a:t>
            </a:r>
          </a:p>
        </p:txBody>
      </p:sp>
      <p:sp>
        <p:nvSpPr>
          <p:cNvPr id="314" name="Card 314"/>
          <p:cNvSpPr/>
          <p:nvPr/>
        </p:nvSpPr>
        <p:spPr>
          <a:xfrm>
            <a:off x="11200000" y="2450000"/>
            <a:ext cx="6476000" cy="5600000"/>
          </a:xfrm>
          <a:prstGeom prst="roundRect">
            <a:avLst>
              <a:gd name="adj" fmla="val 6000"/>
            </a:avLst>
          </a:prstGeom>
          <a:solidFill>
            <a:srgbClr val="FFFFFF">
              <a:alpha val="7000"/>
            </a:srgbClr>
          </a:solidFill>
          <a:ln w="19050">
            <a:solidFill>
              <a:srgbClr val="79E920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endParaRPr lang="it-IT"/>
          </a:p>
        </p:txBody>
      </p:sp>
      <p:sp>
        <p:nvSpPr>
          <p:cNvPr id="315" name="Testo 315"/>
          <p:cNvSpPr txBox="1"/>
          <p:nvPr/>
        </p:nvSpPr>
        <p:spPr>
          <a:xfrm>
            <a:off x="11500000" y="2750000"/>
            <a:ext cx="5876000" cy="510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spcAft>
                <a:spcPts val="1400"/>
              </a:spcAft>
              <a:buNone/>
            </a:pPr>
            <a:r>
              <a:rPr lang="it-IT" sz="2400" b="1" dirty="0">
                <a:solidFill>
                  <a:srgbClr val="79E9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DOCUMENTAZIONE INCLUSA</a:t>
            </a:r>
          </a:p>
          <a:p>
            <a:pPr marL="342900" indent="-342900" algn="l">
              <a:lnSpc>
                <a:spcPts val="2900"/>
              </a:lnSpc>
              <a:spcAft>
                <a:spcPts val="800"/>
              </a:spcAft>
              <a:buClr>
                <a:srgbClr val="79E920"/>
              </a:buClr>
              <a:buFont typeface="Arial"/>
              <a:buChar char="•"/>
            </a:pPr>
            <a:r>
              <a:rPr lang="it-IT" sz="2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Calcolo strutturale depositato al Genio Civile</a:t>
            </a:r>
          </a:p>
          <a:p>
            <a:pPr marL="342900" indent="-342900" algn="l">
              <a:lnSpc>
                <a:spcPts val="2900"/>
              </a:lnSpc>
              <a:spcAft>
                <a:spcPts val="800"/>
              </a:spcAft>
              <a:buClr>
                <a:srgbClr val="79E920"/>
              </a:buClr>
              <a:buFont typeface="Arial"/>
              <a:buChar char="•"/>
            </a:pPr>
            <a:r>
              <a:rPr lang="it-IT" sz="2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Certificazione CE EN 1090</a:t>
            </a:r>
          </a:p>
          <a:p>
            <a:pPr marL="342900" indent="-342900" algn="l">
              <a:lnSpc>
                <a:spcPts val="2900"/>
              </a:lnSpc>
              <a:spcAft>
                <a:spcPts val="800"/>
              </a:spcAft>
              <a:buClr>
                <a:srgbClr val="79E920"/>
              </a:buClr>
              <a:buFont typeface="Arial"/>
              <a:buChar char="•"/>
            </a:pPr>
            <a:r>
              <a:rPr lang="it-IT" sz="2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Configurazione del sistema TTS® Agri Solar Control</a:t>
            </a:r>
          </a:p>
          <a:p>
            <a:pPr marL="342900" indent="-342900" algn="l">
              <a:lnSpc>
                <a:spcPts val="2900"/>
              </a:lnSpc>
              <a:spcAft>
                <a:spcPts val="800"/>
              </a:spcAft>
              <a:buClr>
                <a:srgbClr val="79E920"/>
              </a:buClr>
              <a:buFont typeface="Arial"/>
              <a:buChar char="•"/>
            </a:pPr>
            <a:r>
              <a:rPr lang="it-IT" sz="2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Layout esecutivo dei tracker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2C2C2C">
                <a:alpha val="100000"/>
              </a:srgbClr>
            </a:gs>
            <a:gs pos="100000">
              <a:srgbClr val="000000">
                <a:alpha val="100000"/>
              </a:srgbClr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5400000" flipH="1" flipV="1">
            <a:off x="17549852" y="-2897585"/>
            <a:ext cx="3536471" cy="5670726"/>
          </a:xfrm>
          <a:custGeom>
            <a:avLst/>
            <a:gdLst/>
            <a:ahLst/>
            <a:cxnLst/>
            <a:rect l="l" t="t" r="r" b="b"/>
            <a:pathLst>
              <a:path w="3536471" h="5670726">
                <a:moveTo>
                  <a:pt x="3536470" y="5670726"/>
                </a:moveTo>
                <a:lnTo>
                  <a:pt x="0" y="5670726"/>
                </a:lnTo>
                <a:lnTo>
                  <a:pt x="0" y="0"/>
                </a:lnTo>
                <a:lnTo>
                  <a:pt x="3536470" y="0"/>
                </a:lnTo>
                <a:lnTo>
                  <a:pt x="3536470" y="5670726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" name="Freeform 3"/>
          <p:cNvSpPr/>
          <p:nvPr/>
        </p:nvSpPr>
        <p:spPr>
          <a:xfrm rot="-5400000" flipH="1" flipV="1">
            <a:off x="-1450179" y="8265749"/>
            <a:ext cx="2747959" cy="4406348"/>
          </a:xfrm>
          <a:custGeom>
            <a:avLst/>
            <a:gdLst/>
            <a:ahLst/>
            <a:cxnLst/>
            <a:rect l="l" t="t" r="r" b="b"/>
            <a:pathLst>
              <a:path w="2747959" h="4406348">
                <a:moveTo>
                  <a:pt x="2747958" y="4406348"/>
                </a:moveTo>
                <a:lnTo>
                  <a:pt x="0" y="4406348"/>
                </a:lnTo>
                <a:lnTo>
                  <a:pt x="0" y="0"/>
                </a:lnTo>
                <a:lnTo>
                  <a:pt x="2747958" y="0"/>
                </a:lnTo>
                <a:lnTo>
                  <a:pt x="2747958" y="4406348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grpSp>
        <p:nvGrpSpPr>
          <p:cNvPr id="4" name="Group 4"/>
          <p:cNvGrpSpPr/>
          <p:nvPr/>
        </p:nvGrpSpPr>
        <p:grpSpPr>
          <a:xfrm>
            <a:off x="13388308" y="2323548"/>
            <a:ext cx="6549199" cy="6549199"/>
            <a:chOff x="0" y="0"/>
            <a:chExt cx="812800" cy="8128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79E920">
                    <a:alpha val="100000"/>
                  </a:srgbClr>
                </a:gs>
                <a:gs pos="100000">
                  <a:srgbClr val="233D0F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it-IT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3873472" y="2856756"/>
            <a:ext cx="5578871" cy="5578871"/>
            <a:chOff x="0" y="0"/>
            <a:chExt cx="812800" cy="8128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3"/>
              <a:stretch>
                <a:fillRect l="-53092" r="-53092"/>
              </a:stretch>
            </a:blipFill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it-IT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1251682" y="3108840"/>
            <a:ext cx="13325524" cy="1044260"/>
            <a:chOff x="0" y="0"/>
            <a:chExt cx="5945144" cy="465894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5945144" cy="465894"/>
            </a:xfrm>
            <a:custGeom>
              <a:avLst/>
              <a:gdLst/>
              <a:ahLst/>
              <a:cxnLst/>
              <a:rect l="l" t="t" r="r" b="b"/>
              <a:pathLst>
                <a:path w="5945144" h="465894">
                  <a:moveTo>
                    <a:pt x="5741944" y="0"/>
                  </a:moveTo>
                  <a:cubicBezTo>
                    <a:pt x="5854169" y="0"/>
                    <a:pt x="5945144" y="104294"/>
                    <a:pt x="5945144" y="232947"/>
                  </a:cubicBezTo>
                  <a:cubicBezTo>
                    <a:pt x="5945144" y="361600"/>
                    <a:pt x="5854169" y="465894"/>
                    <a:pt x="5741944" y="465894"/>
                  </a:cubicBezTo>
                  <a:lnTo>
                    <a:pt x="203200" y="465894"/>
                  </a:lnTo>
                  <a:cubicBezTo>
                    <a:pt x="90976" y="465894"/>
                    <a:pt x="0" y="361600"/>
                    <a:pt x="0" y="232947"/>
                  </a:cubicBezTo>
                  <a:cubicBezTo>
                    <a:pt x="0" y="104294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79E920"/>
            </a:solidFill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it-IT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5945144" cy="50399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251682" y="4219514"/>
            <a:ext cx="7946072" cy="910910"/>
            <a:chOff x="0" y="0"/>
            <a:chExt cx="3545117" cy="4064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3545117" cy="406400"/>
            </a:xfrm>
            <a:custGeom>
              <a:avLst/>
              <a:gdLst/>
              <a:ahLst/>
              <a:cxnLst/>
              <a:rect l="l" t="t" r="r" b="b"/>
              <a:pathLst>
                <a:path w="3545117" h="406400">
                  <a:moveTo>
                    <a:pt x="3341917" y="0"/>
                  </a:moveTo>
                  <a:cubicBezTo>
                    <a:pt x="3454141" y="0"/>
                    <a:pt x="3545117" y="90976"/>
                    <a:pt x="3545117" y="203200"/>
                  </a:cubicBezTo>
                  <a:cubicBezTo>
                    <a:pt x="3545117" y="315424"/>
                    <a:pt x="3454141" y="406400"/>
                    <a:pt x="3341917" y="406400"/>
                  </a:cubicBezTo>
                  <a:lnTo>
                    <a:pt x="203200" y="406400"/>
                  </a:lnTo>
                  <a:cubicBezTo>
                    <a:pt x="90976" y="406400"/>
                    <a:pt x="0" y="315424"/>
                    <a:pt x="0" y="203200"/>
                  </a:cubicBez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79E920"/>
            </a:solidFill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it-IT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3545117" cy="444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251682" y="5196837"/>
            <a:ext cx="15950300" cy="910910"/>
            <a:chOff x="0" y="0"/>
            <a:chExt cx="6939347" cy="40640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6939347" cy="406400"/>
            </a:xfrm>
            <a:custGeom>
              <a:avLst/>
              <a:gdLst/>
              <a:ahLst/>
              <a:cxnLst/>
              <a:rect l="l" t="t" r="r" b="b"/>
              <a:pathLst>
                <a:path w="6939347" h="406400">
                  <a:moveTo>
                    <a:pt x="6736147" y="0"/>
                  </a:moveTo>
                  <a:cubicBezTo>
                    <a:pt x="6848371" y="0"/>
                    <a:pt x="6939347" y="90976"/>
                    <a:pt x="6939347" y="203200"/>
                  </a:cubicBezTo>
                  <a:cubicBezTo>
                    <a:pt x="6939347" y="315424"/>
                    <a:pt x="6848371" y="406400"/>
                    <a:pt x="6736147" y="406400"/>
                  </a:cubicBezTo>
                  <a:lnTo>
                    <a:pt x="203200" y="406400"/>
                  </a:lnTo>
                  <a:cubicBezTo>
                    <a:pt x="90976" y="406400"/>
                    <a:pt x="0" y="315424"/>
                    <a:pt x="0" y="203200"/>
                  </a:cubicBez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79E920"/>
            </a:solidFill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it-IT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6939347" cy="444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1251682" y="6174160"/>
            <a:ext cx="13811974" cy="910910"/>
            <a:chOff x="0" y="0"/>
            <a:chExt cx="6162173" cy="40640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6162173" cy="406400"/>
            </a:xfrm>
            <a:custGeom>
              <a:avLst/>
              <a:gdLst/>
              <a:ahLst/>
              <a:cxnLst/>
              <a:rect l="l" t="t" r="r" b="b"/>
              <a:pathLst>
                <a:path w="6162173" h="406400">
                  <a:moveTo>
                    <a:pt x="5958973" y="0"/>
                  </a:moveTo>
                  <a:cubicBezTo>
                    <a:pt x="6071197" y="0"/>
                    <a:pt x="6162173" y="90976"/>
                    <a:pt x="6162173" y="203200"/>
                  </a:cubicBezTo>
                  <a:cubicBezTo>
                    <a:pt x="6162173" y="315424"/>
                    <a:pt x="6071197" y="406400"/>
                    <a:pt x="5958973" y="406400"/>
                  </a:cubicBezTo>
                  <a:lnTo>
                    <a:pt x="203200" y="406400"/>
                  </a:lnTo>
                  <a:cubicBezTo>
                    <a:pt x="90976" y="406400"/>
                    <a:pt x="0" y="315424"/>
                    <a:pt x="0" y="203200"/>
                  </a:cubicBez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79E920"/>
            </a:solidFill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it-IT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38100"/>
              <a:ext cx="6162173" cy="444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308640" y="3258714"/>
            <a:ext cx="792401" cy="792401"/>
            <a:chOff x="0" y="0"/>
            <a:chExt cx="812800" cy="81280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79E920"/>
            </a:solidFill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it-IT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308640" y="4236037"/>
            <a:ext cx="792401" cy="792401"/>
            <a:chOff x="0" y="0"/>
            <a:chExt cx="812800" cy="81280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79E920"/>
            </a:solidFill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it-IT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27" name="Freeform 27"/>
          <p:cNvSpPr/>
          <p:nvPr/>
        </p:nvSpPr>
        <p:spPr>
          <a:xfrm>
            <a:off x="444724" y="3423963"/>
            <a:ext cx="520231" cy="481830"/>
          </a:xfrm>
          <a:custGeom>
            <a:avLst/>
            <a:gdLst/>
            <a:ahLst/>
            <a:cxnLst/>
            <a:rect l="l" t="t" r="r" b="b"/>
            <a:pathLst>
              <a:path w="520231" h="481830">
                <a:moveTo>
                  <a:pt x="0" y="0"/>
                </a:moveTo>
                <a:lnTo>
                  <a:pt x="520232" y="0"/>
                </a:lnTo>
                <a:lnTo>
                  <a:pt x="520232" y="481830"/>
                </a:lnTo>
                <a:lnTo>
                  <a:pt x="0" y="48183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8" name="Freeform 28"/>
          <p:cNvSpPr/>
          <p:nvPr/>
        </p:nvSpPr>
        <p:spPr>
          <a:xfrm>
            <a:off x="444724" y="4401287"/>
            <a:ext cx="520231" cy="481830"/>
          </a:xfrm>
          <a:custGeom>
            <a:avLst/>
            <a:gdLst/>
            <a:ahLst/>
            <a:cxnLst/>
            <a:rect l="l" t="t" r="r" b="b"/>
            <a:pathLst>
              <a:path w="520231" h="481830">
                <a:moveTo>
                  <a:pt x="0" y="0"/>
                </a:moveTo>
                <a:lnTo>
                  <a:pt x="520232" y="0"/>
                </a:lnTo>
                <a:lnTo>
                  <a:pt x="520232" y="481830"/>
                </a:lnTo>
                <a:lnTo>
                  <a:pt x="0" y="48183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9" name="Freeform 29"/>
          <p:cNvSpPr/>
          <p:nvPr/>
        </p:nvSpPr>
        <p:spPr>
          <a:xfrm>
            <a:off x="15279090" y="6623514"/>
            <a:ext cx="5133239" cy="5123906"/>
          </a:xfrm>
          <a:custGeom>
            <a:avLst/>
            <a:gdLst/>
            <a:ahLst/>
            <a:cxnLst/>
            <a:rect l="l" t="t" r="r" b="b"/>
            <a:pathLst>
              <a:path w="5133239" h="5123906">
                <a:moveTo>
                  <a:pt x="0" y="0"/>
                </a:moveTo>
                <a:lnTo>
                  <a:pt x="5133239" y="0"/>
                </a:lnTo>
                <a:lnTo>
                  <a:pt x="5133239" y="5123907"/>
                </a:lnTo>
                <a:lnTo>
                  <a:pt x="0" y="512390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grpSp>
        <p:nvGrpSpPr>
          <p:cNvPr id="30" name="Group 30"/>
          <p:cNvGrpSpPr/>
          <p:nvPr/>
        </p:nvGrpSpPr>
        <p:grpSpPr>
          <a:xfrm>
            <a:off x="15736713" y="7085070"/>
            <a:ext cx="4200794" cy="4200794"/>
            <a:chOff x="0" y="0"/>
            <a:chExt cx="812800" cy="812800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79E920">
                    <a:alpha val="100000"/>
                  </a:srgbClr>
                </a:gs>
                <a:gs pos="100000">
                  <a:srgbClr val="233D0F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it-IT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16047907" y="7396265"/>
            <a:ext cx="3578406" cy="3578406"/>
            <a:chOff x="0" y="0"/>
            <a:chExt cx="812800" cy="812800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6"/>
              <a:stretch>
                <a:fillRect l="-70618" r="-4819"/>
              </a:stretch>
            </a:blipFill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it-IT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35" name="Freeform 35"/>
          <p:cNvSpPr/>
          <p:nvPr/>
        </p:nvSpPr>
        <p:spPr>
          <a:xfrm rot="5400000">
            <a:off x="16584497" y="8601099"/>
            <a:ext cx="996555" cy="1314401"/>
          </a:xfrm>
          <a:custGeom>
            <a:avLst/>
            <a:gdLst/>
            <a:ahLst/>
            <a:cxnLst/>
            <a:rect l="l" t="t" r="r" b="b"/>
            <a:pathLst>
              <a:path w="996555" h="1314401">
                <a:moveTo>
                  <a:pt x="0" y="0"/>
                </a:moveTo>
                <a:lnTo>
                  <a:pt x="996555" y="0"/>
                </a:lnTo>
                <a:lnTo>
                  <a:pt x="996555" y="1314402"/>
                </a:lnTo>
                <a:lnTo>
                  <a:pt x="0" y="131440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grpSp>
        <p:nvGrpSpPr>
          <p:cNvPr id="36" name="Group 36"/>
          <p:cNvGrpSpPr/>
          <p:nvPr/>
        </p:nvGrpSpPr>
        <p:grpSpPr>
          <a:xfrm>
            <a:off x="308640" y="5213360"/>
            <a:ext cx="792401" cy="792401"/>
            <a:chOff x="0" y="0"/>
            <a:chExt cx="812800" cy="812800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79E920"/>
            </a:solidFill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it-IT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39" name="Freeform 39"/>
          <p:cNvSpPr/>
          <p:nvPr/>
        </p:nvSpPr>
        <p:spPr>
          <a:xfrm>
            <a:off x="444724" y="5378610"/>
            <a:ext cx="520231" cy="481830"/>
          </a:xfrm>
          <a:custGeom>
            <a:avLst/>
            <a:gdLst/>
            <a:ahLst/>
            <a:cxnLst/>
            <a:rect l="l" t="t" r="r" b="b"/>
            <a:pathLst>
              <a:path w="520231" h="481830">
                <a:moveTo>
                  <a:pt x="0" y="0"/>
                </a:moveTo>
                <a:lnTo>
                  <a:pt x="520232" y="0"/>
                </a:lnTo>
                <a:lnTo>
                  <a:pt x="520232" y="481830"/>
                </a:lnTo>
                <a:lnTo>
                  <a:pt x="0" y="48183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grpSp>
        <p:nvGrpSpPr>
          <p:cNvPr id="40" name="Group 40"/>
          <p:cNvGrpSpPr/>
          <p:nvPr/>
        </p:nvGrpSpPr>
        <p:grpSpPr>
          <a:xfrm>
            <a:off x="308640" y="6190684"/>
            <a:ext cx="792401" cy="792401"/>
            <a:chOff x="0" y="0"/>
            <a:chExt cx="812800" cy="812800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79E920"/>
            </a:solidFill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it-IT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43" name="Freeform 43"/>
          <p:cNvSpPr/>
          <p:nvPr/>
        </p:nvSpPr>
        <p:spPr>
          <a:xfrm>
            <a:off x="444724" y="6355933"/>
            <a:ext cx="520231" cy="481830"/>
          </a:xfrm>
          <a:custGeom>
            <a:avLst/>
            <a:gdLst/>
            <a:ahLst/>
            <a:cxnLst/>
            <a:rect l="l" t="t" r="r" b="b"/>
            <a:pathLst>
              <a:path w="520231" h="481830">
                <a:moveTo>
                  <a:pt x="0" y="0"/>
                </a:moveTo>
                <a:lnTo>
                  <a:pt x="520232" y="0"/>
                </a:lnTo>
                <a:lnTo>
                  <a:pt x="520232" y="481830"/>
                </a:lnTo>
                <a:lnTo>
                  <a:pt x="0" y="48183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4" name="TextBox 44"/>
          <p:cNvSpPr txBox="1"/>
          <p:nvPr/>
        </p:nvSpPr>
        <p:spPr>
          <a:xfrm>
            <a:off x="665577" y="113821"/>
            <a:ext cx="6020600" cy="10192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8397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997" b="1" i="0" u="none" strike="noStrike" kern="1200" cap="none" spc="-293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uce Bold"/>
                <a:ea typeface="Open Sauce Bold"/>
                <a:cs typeface="Open Sauce Bold"/>
                <a:sym typeface="Open Sauce Bold"/>
              </a:rPr>
              <a:t>GARANZIE 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1544292" y="3237906"/>
            <a:ext cx="13032914" cy="8149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357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500" b="1" i="0" u="none" strike="noStrike" kern="1200" cap="none" spc="-17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Open Sauce Bold"/>
                <a:ea typeface="Open Sauce Bold"/>
                <a:cs typeface="Open Sauce Bold"/>
                <a:sym typeface="Open Sauce Bold"/>
              </a:rPr>
              <a:t>{{anni_garanzia_struttura}} anni di garanzia su struttura e componenti forniti da Terranova </a:t>
            </a:r>
          </a:p>
          <a:p>
            <a:pPr marL="0" marR="0" lvl="0" indent="0" algn="l" defTabSz="914400" rtl="0" eaLnBrk="1" fontAlgn="auto" latinLnBrk="0" hangingPunct="1">
              <a:lnSpc>
                <a:spcPts val="2856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-137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Open Sauce Bold"/>
                <a:ea typeface="Open Sauce Bold"/>
                <a:cs typeface="Open Sauce Bold"/>
                <a:sym typeface="Open Sauce Bold"/>
              </a:rPr>
              <a:t>(con contratto di manutenzione)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619464" y="4295137"/>
            <a:ext cx="7578290" cy="596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49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500" b="1" i="0" u="none" strike="noStrike" kern="1200" cap="none" spc="-17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Open Sauce Bold"/>
                <a:ea typeface="Open Sauce Bold"/>
                <a:cs typeface="Open Sauce Bold"/>
                <a:sym typeface="Open Sauce Bold"/>
              </a:rPr>
              <a:t>{{anni_garanzia_commerciali}} anni sui componenti commerciali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1648039" y="5320505"/>
            <a:ext cx="15553943" cy="5969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49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500" b="1" i="0" u="none" strike="noStrike" kern="1200" cap="none" spc="-171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Open Sauce Bold"/>
                <a:ea typeface="Open Sauce Bold"/>
                <a:cs typeface="Open Sauce Bold"/>
                <a:sym typeface="Open Sauce Bold"/>
              </a:rPr>
              <a:t>assistenza</a:t>
            </a:r>
            <a:r>
              <a:rPr kumimoji="0" lang="en-US" sz="3500" b="1" i="0" u="none" strike="noStrike" kern="1200" cap="none" spc="-171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Open Sauce Bold"/>
                <a:ea typeface="Open Sauce Bold"/>
                <a:cs typeface="Open Sauce Bold"/>
                <a:sym typeface="Open Sauce Bold"/>
              </a:rPr>
              <a:t> </a:t>
            </a:r>
            <a:r>
              <a:rPr kumimoji="0" lang="en-US" sz="3500" b="1" i="0" u="none" strike="noStrike" kern="1200" cap="none" spc="-171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Open Sauce Bold"/>
                <a:ea typeface="Open Sauce Bold"/>
                <a:cs typeface="Open Sauce Bold"/>
                <a:sym typeface="Open Sauce Bold"/>
              </a:rPr>
              <a:t>gratuita</a:t>
            </a:r>
            <a:r>
              <a:rPr kumimoji="0" lang="en-US" sz="3500" b="1" i="0" u="none" strike="noStrike" kern="1200" cap="none" spc="-171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Open Sauce Bold"/>
                <a:ea typeface="Open Sauce Bold"/>
                <a:cs typeface="Open Sauce Bold"/>
                <a:sym typeface="Open Sauce Bold"/>
              </a:rPr>
              <a:t> {{anni_assistenza_gratuita}} anni e </a:t>
            </a:r>
            <a:r>
              <a:rPr kumimoji="0" lang="en-US" sz="3500" b="1" i="0" u="none" strike="noStrike" kern="1200" cap="none" spc="-171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Open Sauce Bold"/>
                <a:ea typeface="Open Sauce Bold"/>
                <a:cs typeface="Open Sauce Bold"/>
                <a:sym typeface="Open Sauce Bold"/>
              </a:rPr>
              <a:t>manutenzione</a:t>
            </a:r>
            <a:r>
              <a:rPr kumimoji="0" lang="en-US" sz="3500" b="1" i="0" u="none" strike="noStrike" kern="1200" cap="none" spc="-171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Open Sauce Bold"/>
                <a:ea typeface="Open Sauce Bold"/>
                <a:cs typeface="Open Sauce Bold"/>
                <a:sym typeface="Open Sauce Bold"/>
              </a:rPr>
              <a:t> </a:t>
            </a:r>
            <a:r>
              <a:rPr kumimoji="0" lang="en-US" sz="3500" b="1" i="0" u="none" strike="noStrike" kern="1200" cap="none" spc="-171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Open Sauce Bold"/>
                <a:ea typeface="Open Sauce Bold"/>
                <a:cs typeface="Open Sauce Bold"/>
                <a:sym typeface="Open Sauce Bold"/>
              </a:rPr>
              <a:t>programmata</a:t>
            </a:r>
            <a:r>
              <a:rPr kumimoji="0" lang="en-US" sz="3500" b="1" i="0" u="none" strike="noStrike" kern="1200" cap="none" spc="-171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Open Sauce Bold"/>
                <a:ea typeface="Open Sauce Bold"/>
                <a:cs typeface="Open Sauce Bold"/>
                <a:sym typeface="Open Sauce Bold"/>
              </a:rPr>
              <a:t> per </a:t>
            </a:r>
            <a:r>
              <a:rPr kumimoji="0" lang="en-US" sz="3500" b="1" i="0" u="none" strike="noStrike" kern="1200" cap="none" spc="-171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Open Sauce Bold"/>
                <a:ea typeface="Open Sauce Bold"/>
                <a:cs typeface="Open Sauce Bold"/>
                <a:sym typeface="Open Sauce Bold"/>
              </a:rPr>
              <a:t>tutta</a:t>
            </a:r>
            <a:r>
              <a:rPr kumimoji="0" lang="en-US" sz="3500" b="1" i="0" u="none" strike="noStrike" kern="1200" cap="none" spc="-171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Open Sauce Bold"/>
                <a:ea typeface="Open Sauce Bold"/>
                <a:cs typeface="Open Sauce Bold"/>
                <a:sym typeface="Open Sauce Bold"/>
              </a:rPr>
              <a:t> la vita utile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1544292" y="6255096"/>
            <a:ext cx="14559449" cy="596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49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500" b="1" i="0" u="none" strike="noStrike" kern="1200" cap="none" spc="-17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Open Sauce Bold"/>
                <a:ea typeface="Open Sauce Bold"/>
                <a:cs typeface="Open Sauce Bold"/>
                <a:sym typeface="Open Sauce Bold"/>
              </a:rPr>
              <a:t>certificazioni: CE EN 1090, UNI EN ISO 12100, UNI ISO/TR 14121-2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1201571" y="805987"/>
            <a:ext cx="5484606" cy="11113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9097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497" b="1" i="0" u="none" strike="noStrike" kern="1200" cap="none" spc="-318" normalizeH="0" baseline="0" noProof="0">
                <a:ln>
                  <a:noFill/>
                </a:ln>
                <a:solidFill>
                  <a:srgbClr val="79E920"/>
                </a:solidFill>
                <a:effectLst/>
                <a:uLnTx/>
                <a:uFillTx/>
                <a:latin typeface="Open Sauce Bold"/>
                <a:ea typeface="Open Sauce Bold"/>
                <a:cs typeface="Open Sauce Bold"/>
                <a:sym typeface="Open Sauce Bold"/>
              </a:rPr>
              <a:t>e certificazioni</a:t>
            </a:r>
          </a:p>
        </p:txBody>
      </p:sp>
      <p:sp>
        <p:nvSpPr>
          <p:cNvPr id="50" name="Freeform 50"/>
          <p:cNvSpPr/>
          <p:nvPr/>
        </p:nvSpPr>
        <p:spPr>
          <a:xfrm>
            <a:off x="612089" y="8596796"/>
            <a:ext cx="4983083" cy="1370348"/>
          </a:xfrm>
          <a:custGeom>
            <a:avLst/>
            <a:gdLst/>
            <a:ahLst/>
            <a:cxnLst/>
            <a:rect l="l" t="t" r="r" b="b"/>
            <a:pathLst>
              <a:path w="4983083" h="1370348">
                <a:moveTo>
                  <a:pt x="0" y="0"/>
                </a:moveTo>
                <a:lnTo>
                  <a:pt x="4983083" y="0"/>
                </a:lnTo>
                <a:lnTo>
                  <a:pt x="4983083" y="1370348"/>
                </a:lnTo>
                <a:lnTo>
                  <a:pt x="0" y="1370348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1" name="Freeform 51"/>
          <p:cNvSpPr/>
          <p:nvPr/>
        </p:nvSpPr>
        <p:spPr>
          <a:xfrm>
            <a:off x="15765540" y="294725"/>
            <a:ext cx="2080170" cy="1739830"/>
          </a:xfrm>
          <a:custGeom>
            <a:avLst/>
            <a:gdLst/>
            <a:ahLst/>
            <a:cxnLst/>
            <a:rect l="l" t="t" r="r" b="b"/>
            <a:pathLst>
              <a:path w="2080170" h="1739830">
                <a:moveTo>
                  <a:pt x="0" y="0"/>
                </a:moveTo>
                <a:lnTo>
                  <a:pt x="2080169" y="0"/>
                </a:lnTo>
                <a:lnTo>
                  <a:pt x="2080169" y="1739830"/>
                </a:lnTo>
                <a:lnTo>
                  <a:pt x="0" y="173983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</TotalTime>
  <Words>812</Words>
  <Application>Microsoft Office PowerPoint</Application>
  <PresentationFormat>Personalizzato</PresentationFormat>
  <Paragraphs>212</Paragraphs>
  <Slides>11</Slides>
  <Notes>2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9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11</vt:i4>
      </vt:variant>
    </vt:vector>
  </HeadingPairs>
  <TitlesOfParts>
    <vt:vector size="21" baseType="lpstr">
      <vt:lpstr>Aptos</vt:lpstr>
      <vt:lpstr>Canva Sans Bold</vt:lpstr>
      <vt:lpstr>Open Sauce Bold</vt:lpstr>
      <vt:lpstr>Public Sans Bold</vt:lpstr>
      <vt:lpstr>Canva Sans</vt:lpstr>
      <vt:lpstr>Calibri</vt:lpstr>
      <vt:lpstr>Open Sauce</vt:lpstr>
      <vt:lpstr>Arial</vt:lpstr>
      <vt:lpstr>Public Sans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OFFERTA TECNICO ECONOMICA</dc:title>
  <dc:creator>Pc6_editor</dc:creator>
  <cp:lastModifiedBy>stella  terranova</cp:lastModifiedBy>
  <cp:revision>13</cp:revision>
  <dcterms:created xsi:type="dcterms:W3CDTF">2006-08-16T00:00:00Z</dcterms:created>
  <dcterms:modified xsi:type="dcterms:W3CDTF">2026-10-23T13:04:41Z</dcterms:modified>
  <dc:identifier>DAHK9gIkHPk</dc:identifier>
</cp:coreProperties>
</file>