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26"/>
    <p:sldId id="262" r:id="rId8"/>
    <p:sldId id="265" r:id="rId11"/>
    <p:sldId id="268" r:id="rId13"/>
    <p:sldId id="266" r:id="rId14"/>
  </p:sldIdLst>
  <p:sldSz cx="18288000" cy="10287000"/>
  <p:notesSz cx="6858000" cy="9144000"/>
  <p:embeddedFontLst>
    <p:embeddedFont>
      <p:font typeface="Canva Sans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Open Sauce" panose="020B0604020202020204" charset="0"/>
      <p:regular r:id="rId18"/>
    </p:embeddedFont>
    <p:embeddedFont>
      <p:font typeface="Open Sauce Bold" panose="020B0604020202020204" charset="0"/>
      <p:regular r:id="rId19"/>
    </p:embeddedFont>
    <p:embeddedFont>
      <p:font typeface="Public Sans" panose="020B0604020202020204" charset="0"/>
      <p:regular r:id="rId20"/>
    </p:embeddedFont>
    <p:embeddedFont>
      <p:font typeface="Public Sa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9" Type="http://schemas.openxmlformats.org/officeDocument/2006/relationships/font" Target="fonts/font4.fntdata"/><Relationship Id="rId14" Type="http://schemas.openxmlformats.org/officeDocument/2006/relationships/slide" Target="slides/slide13.xml"/><Relationship Id="rId22" Type="http://schemas.openxmlformats.org/officeDocument/2006/relationships/presProps" Target="presProps.xml"/>  <Relationship Id="rId26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36930-BCAF-481F-81C0-FA8E7A71E5C9}" type="datetimeFigureOut">
              <a:rPr lang="it-IT" smtClean="0"/>
              <a:t>23/07/2026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CB805-766D-4E39-93D5-D0ECFD709C4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0396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CB805-766D-4E39-93D5-D0ECFD709C44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0211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7.jpeg"/><Relationship Id="rId7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jpeg"/><Relationship Id="rId10" Type="http://schemas.openxmlformats.org/officeDocument/2006/relationships/image" Target="../media/image5.png"/><Relationship Id="rId4" Type="http://schemas.openxmlformats.org/officeDocument/2006/relationships/image" Target="../media/image8.sv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9.jpeg"/><Relationship Id="rId7" Type="http://schemas.openxmlformats.org/officeDocument/2006/relationships/image" Target="../media/image3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.png"/><Relationship Id="rId4" Type="http://schemas.openxmlformats.org/officeDocument/2006/relationships/image" Target="../media/image8.svg"/><Relationship Id="rId9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683955" y="1676063"/>
            <a:ext cx="7982383" cy="7967870"/>
          </a:xfrm>
          <a:custGeom>
            <a:avLst/>
            <a:gdLst/>
            <a:ahLst/>
            <a:cxnLst/>
            <a:rect l="l" t="t" r="r" b="b"/>
            <a:pathLst>
              <a:path w="7982383" h="7967870">
                <a:moveTo>
                  <a:pt x="0" y="0"/>
                </a:moveTo>
                <a:lnTo>
                  <a:pt x="7982383" y="0"/>
                </a:lnTo>
                <a:lnTo>
                  <a:pt x="7982383" y="7967869"/>
                </a:lnTo>
                <a:lnTo>
                  <a:pt x="0" y="7967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 dirty="0"/>
          </a:p>
        </p:txBody>
      </p:sp>
      <p:grpSp>
        <p:nvGrpSpPr>
          <p:cNvPr id="4" name="Group 4"/>
          <p:cNvGrpSpPr/>
          <p:nvPr/>
        </p:nvGrpSpPr>
        <p:grpSpPr>
          <a:xfrm>
            <a:off x="11395576" y="2393800"/>
            <a:ext cx="6532395" cy="653239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9E920">
                    <a:alpha val="100000"/>
                  </a:srgbClr>
                </a:gs>
                <a:gs pos="100000">
                  <a:srgbClr val="233D0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879495" y="2877719"/>
            <a:ext cx="5564557" cy="556455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3495"/>
              </a:stretch>
            </a:blipFill>
          </p:spPr>
          <p:txBody>
            <a:bodyPr/>
            <a:lstStyle/>
            <a:p>
              <a:endParaRPr lang="it-IT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6032" y="4276898"/>
            <a:ext cx="4671500" cy="919051"/>
            <a:chOff x="0" y="0"/>
            <a:chExt cx="2065716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65716" cy="406400"/>
            </a:xfrm>
            <a:custGeom>
              <a:avLst/>
              <a:gdLst/>
              <a:ahLst/>
              <a:cxnLst/>
              <a:rect l="l" t="t" r="r" b="b"/>
              <a:pathLst>
                <a:path w="2065716" h="406400">
                  <a:moveTo>
                    <a:pt x="1862516" y="0"/>
                  </a:moveTo>
                  <a:cubicBezTo>
                    <a:pt x="1974740" y="0"/>
                    <a:pt x="2065716" y="90976"/>
                    <a:pt x="2065716" y="203200"/>
                  </a:cubicBezTo>
                  <a:cubicBezTo>
                    <a:pt x="2065716" y="315424"/>
                    <a:pt x="1974740" y="406400"/>
                    <a:pt x="18625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6571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86032" y="5555906"/>
            <a:ext cx="4671500" cy="919051"/>
            <a:chOff x="0" y="0"/>
            <a:chExt cx="2065716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65716" cy="406400"/>
            </a:xfrm>
            <a:custGeom>
              <a:avLst/>
              <a:gdLst/>
              <a:ahLst/>
              <a:cxnLst/>
              <a:rect l="l" t="t" r="r" b="b"/>
              <a:pathLst>
                <a:path w="2065716" h="406400">
                  <a:moveTo>
                    <a:pt x="1862516" y="0"/>
                  </a:moveTo>
                  <a:cubicBezTo>
                    <a:pt x="1974740" y="0"/>
                    <a:pt x="2065716" y="90976"/>
                    <a:pt x="2065716" y="203200"/>
                  </a:cubicBezTo>
                  <a:cubicBezTo>
                    <a:pt x="2065716" y="315424"/>
                    <a:pt x="1974740" y="406400"/>
                    <a:pt x="18625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6571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969787" y="4276898"/>
            <a:ext cx="4671500" cy="919051"/>
            <a:chOff x="0" y="0"/>
            <a:chExt cx="2065716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65716" cy="406400"/>
            </a:xfrm>
            <a:custGeom>
              <a:avLst/>
              <a:gdLst/>
              <a:ahLst/>
              <a:cxnLst/>
              <a:rect l="l" t="t" r="r" b="b"/>
              <a:pathLst>
                <a:path w="2065716" h="406400">
                  <a:moveTo>
                    <a:pt x="1862516" y="0"/>
                  </a:moveTo>
                  <a:cubicBezTo>
                    <a:pt x="1974740" y="0"/>
                    <a:pt x="2065716" y="90976"/>
                    <a:pt x="2065716" y="203200"/>
                  </a:cubicBezTo>
                  <a:cubicBezTo>
                    <a:pt x="2065716" y="315424"/>
                    <a:pt x="1974740" y="406400"/>
                    <a:pt x="18625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06571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69787" y="5555906"/>
            <a:ext cx="4671500" cy="919051"/>
            <a:chOff x="0" y="0"/>
            <a:chExt cx="2065716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65716" cy="406400"/>
            </a:xfrm>
            <a:custGeom>
              <a:avLst/>
              <a:gdLst/>
              <a:ahLst/>
              <a:cxnLst/>
              <a:rect l="l" t="t" r="r" b="b"/>
              <a:pathLst>
                <a:path w="2065716" h="406400">
                  <a:moveTo>
                    <a:pt x="1862516" y="0"/>
                  </a:moveTo>
                  <a:cubicBezTo>
                    <a:pt x="1974740" y="0"/>
                    <a:pt x="2065716" y="90976"/>
                    <a:pt x="2065716" y="203200"/>
                  </a:cubicBezTo>
                  <a:cubicBezTo>
                    <a:pt x="2065716" y="315424"/>
                    <a:pt x="1974740" y="406400"/>
                    <a:pt x="18625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6571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21" name="Freeform 21"/>
          <p:cNvSpPr/>
          <p:nvPr/>
        </p:nvSpPr>
        <p:spPr>
          <a:xfrm rot="5400000">
            <a:off x="11156401" y="288788"/>
            <a:ext cx="1476814" cy="1947836"/>
          </a:xfrm>
          <a:custGeom>
            <a:avLst/>
            <a:gdLst/>
            <a:ahLst/>
            <a:cxnLst/>
            <a:rect l="l" t="t" r="r" b="b"/>
            <a:pathLst>
              <a:path w="1476814" h="1947836">
                <a:moveTo>
                  <a:pt x="0" y="0"/>
                </a:moveTo>
                <a:lnTo>
                  <a:pt x="1476814" y="0"/>
                </a:lnTo>
                <a:lnTo>
                  <a:pt x="1476814" y="1947836"/>
                </a:lnTo>
                <a:lnTo>
                  <a:pt x="0" y="19478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/>
          </a:p>
        </p:txBody>
      </p:sp>
      <p:sp>
        <p:nvSpPr>
          <p:cNvPr id="22" name="Freeform 22"/>
          <p:cNvSpPr/>
          <p:nvPr/>
        </p:nvSpPr>
        <p:spPr>
          <a:xfrm>
            <a:off x="10123035" y="8962993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0" y="0"/>
                </a:lnTo>
                <a:lnTo>
                  <a:pt x="1121840" y="422199"/>
                </a:lnTo>
                <a:lnTo>
                  <a:pt x="0" y="422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 dirty="0"/>
          </a:p>
        </p:txBody>
      </p:sp>
      <p:sp>
        <p:nvSpPr>
          <p:cNvPr id="23" name="Freeform 23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 dirty="0"/>
          </a:p>
        </p:txBody>
      </p:sp>
      <p:sp>
        <p:nvSpPr>
          <p:cNvPr id="24" name="Freeform 24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 dirty="0"/>
          </a:p>
        </p:txBody>
      </p:sp>
      <p:sp>
        <p:nvSpPr>
          <p:cNvPr id="25" name="TextBox 25"/>
          <p:cNvSpPr txBox="1"/>
          <p:nvPr/>
        </p:nvSpPr>
        <p:spPr>
          <a:xfrm>
            <a:off x="1028700" y="504517"/>
            <a:ext cx="8115300" cy="1405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8"/>
              </a:lnSpc>
            </a:pPr>
            <a:r>
              <a:rPr lang="en-US" sz="4800" b="1" spc="-235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OFFERTA TECNICO ECONOMICA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1845891"/>
            <a:ext cx="9042843" cy="1228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spc="-176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{{nome_impianto}}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spc="-176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{{potenza_kwp}} kWp </a:t>
            </a:r>
            <a:r>
              <a:rPr lang="en-US" sz="3600" b="1" spc="-176" dirty="0" err="1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Pannelli</a:t>
            </a:r>
            <a:r>
              <a:rPr lang="en-US" sz="3600" b="1" spc="-176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{{potenza_modulo_w}} W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34409" y="4404636"/>
            <a:ext cx="297474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Solar Energy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34409" y="5683644"/>
            <a:ext cx="297474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Agricoltura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113515" y="4401036"/>
            <a:ext cx="4384043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Rinnovabili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46298" y="5683644"/>
            <a:ext cx="391847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Agrivoltaico</a:t>
            </a:r>
          </a:p>
        </p:txBody>
      </p:sp>
      <p:sp>
        <p:nvSpPr>
          <p:cNvPr id="130" name="Dati offerta"/>
          <p:cNvSpPr txBox="1"/>
          <p:nvPr/>
        </p:nvSpPr>
        <p:spPr>
          <a:xfrm>
            <a:off x="1028700" y="6850000"/>
            <a:ext cx="9300000" cy="1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  <a:buNone/>
            </a:pPr>
            <a:r>
              <a:rPr lang="it-IT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Cliente </a:t>
            </a:r>
            <a:r>
              <a:rPr lang="it-IT" sz="24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{{cliente}}</a:t>
            </a:r>
          </a:p>
          <a:p>
            <a:pPr algn="l">
              <a:lnSpc>
                <a:spcPts val="3300"/>
              </a:lnSpc>
              <a:spcAft>
                <a:spcPts val="0"/>
              </a:spcAft>
              <a:buNone/>
            </a:pPr>
            <a:r>
              <a:rPr lang="it-IT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Offerta n. </a:t>
            </a:r>
            <a:r>
              <a:rPr lang="it-IT" sz="24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{{numero_offerta}} rev. {{revisione}}</a:t>
            </a:r>
          </a:p>
          <a:p>
            <a:pPr algn="l">
              <a:lnSpc>
                <a:spcPts val="3300"/>
              </a:lnSpc>
              <a:spcAft>
                <a:spcPts val="0"/>
              </a:spcAft>
              <a:buNone/>
            </a:pPr>
            <a:r>
              <a:rPr lang="it-IT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Data </a:t>
            </a:r>
            <a:r>
              <a:rPr lang="it-IT" sz="24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{{data_offerta}}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477325" y="1744114"/>
            <a:ext cx="8002916" cy="7988366"/>
          </a:xfrm>
          <a:custGeom>
            <a:avLst/>
            <a:gdLst/>
            <a:ahLst/>
            <a:cxnLst/>
            <a:rect l="l" t="t" r="r" b="b"/>
            <a:pathLst>
              <a:path w="8002916" h="7988366">
                <a:moveTo>
                  <a:pt x="0" y="0"/>
                </a:moveTo>
                <a:lnTo>
                  <a:pt x="8002917" y="0"/>
                </a:lnTo>
                <a:lnTo>
                  <a:pt x="8002917" y="7988365"/>
                </a:lnTo>
                <a:lnTo>
                  <a:pt x="0" y="7988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11738801" y="3441020"/>
            <a:ext cx="6549199" cy="654919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9E920">
                    <a:alpha val="100000"/>
                  </a:srgbClr>
                </a:gs>
                <a:gs pos="100000">
                  <a:srgbClr val="233D0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223965" y="3890528"/>
            <a:ext cx="5578871" cy="557887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t="-16666" b="-1666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346763"/>
            <a:ext cx="6996424" cy="820375"/>
            <a:chOff x="0" y="0"/>
            <a:chExt cx="346591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65910" cy="406400"/>
            </a:xfrm>
            <a:custGeom>
              <a:avLst/>
              <a:gdLst/>
              <a:ahLst/>
              <a:cxnLst/>
              <a:rect l="l" t="t" r="r" b="b"/>
              <a:pathLst>
                <a:path w="3465910" h="406400">
                  <a:moveTo>
                    <a:pt x="3262710" y="0"/>
                  </a:moveTo>
                  <a:cubicBezTo>
                    <a:pt x="3374934" y="0"/>
                    <a:pt x="3465910" y="90976"/>
                    <a:pt x="3465910" y="203200"/>
                  </a:cubicBezTo>
                  <a:cubicBezTo>
                    <a:pt x="3465910" y="315424"/>
                    <a:pt x="3374934" y="406400"/>
                    <a:pt x="326271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46591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5324086"/>
            <a:ext cx="6996424" cy="820375"/>
            <a:chOff x="0" y="0"/>
            <a:chExt cx="3465910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65910" cy="406400"/>
            </a:xfrm>
            <a:custGeom>
              <a:avLst/>
              <a:gdLst/>
              <a:ahLst/>
              <a:cxnLst/>
              <a:rect l="l" t="t" r="r" b="b"/>
              <a:pathLst>
                <a:path w="3465910" h="406400">
                  <a:moveTo>
                    <a:pt x="3262710" y="0"/>
                  </a:moveTo>
                  <a:cubicBezTo>
                    <a:pt x="3374934" y="0"/>
                    <a:pt x="3465910" y="90976"/>
                    <a:pt x="3465910" y="203200"/>
                  </a:cubicBezTo>
                  <a:cubicBezTo>
                    <a:pt x="3465910" y="315424"/>
                    <a:pt x="3374934" y="406400"/>
                    <a:pt x="326271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46591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6301409"/>
            <a:ext cx="6996424" cy="820375"/>
            <a:chOff x="0" y="0"/>
            <a:chExt cx="3465910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465910" cy="406400"/>
            </a:xfrm>
            <a:custGeom>
              <a:avLst/>
              <a:gdLst/>
              <a:ahLst/>
              <a:cxnLst/>
              <a:rect l="l" t="t" r="r" b="b"/>
              <a:pathLst>
                <a:path w="3465910" h="406400">
                  <a:moveTo>
                    <a:pt x="3262710" y="0"/>
                  </a:moveTo>
                  <a:cubicBezTo>
                    <a:pt x="3374934" y="0"/>
                    <a:pt x="3465910" y="90976"/>
                    <a:pt x="3465910" y="203200"/>
                  </a:cubicBezTo>
                  <a:cubicBezTo>
                    <a:pt x="3465910" y="315424"/>
                    <a:pt x="3374934" y="406400"/>
                    <a:pt x="326271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46591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7278733"/>
            <a:ext cx="6996424" cy="820375"/>
            <a:chOff x="0" y="0"/>
            <a:chExt cx="3465910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65910" cy="406400"/>
            </a:xfrm>
            <a:custGeom>
              <a:avLst/>
              <a:gdLst/>
              <a:ahLst/>
              <a:cxnLst/>
              <a:rect l="l" t="t" r="r" b="b"/>
              <a:pathLst>
                <a:path w="3465910" h="406400">
                  <a:moveTo>
                    <a:pt x="3262710" y="0"/>
                  </a:moveTo>
                  <a:cubicBezTo>
                    <a:pt x="3374934" y="0"/>
                    <a:pt x="3465910" y="90976"/>
                    <a:pt x="3465910" y="203200"/>
                  </a:cubicBezTo>
                  <a:cubicBezTo>
                    <a:pt x="3465910" y="315424"/>
                    <a:pt x="3374934" y="406400"/>
                    <a:pt x="326271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46591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32394" y="4441287"/>
            <a:ext cx="576005" cy="57600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32394" y="5432284"/>
            <a:ext cx="576005" cy="57600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87342" y="1780741"/>
            <a:ext cx="16952633" cy="1849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3"/>
              </a:lnSpc>
            </a:pPr>
            <a:r>
              <a:rPr lang="en-US" sz="2902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Soluzione agrivoltaica affidabile, evolutiva e pienamente integrata. </a:t>
            </a:r>
          </a:p>
          <a:p>
            <a:pPr algn="just">
              <a:lnSpc>
                <a:spcPts val="3643"/>
              </a:lnSpc>
            </a:pPr>
            <a:r>
              <a:rPr lang="en-US" sz="2802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Il nostro approccio prevede la completa gestione interna della progettazione, produzione, software di controllo e assistenza post-vendita, garantendo massima flessibilità operativa e possibilità di personalizzazione nel tempo. 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132394" y="6423280"/>
            <a:ext cx="576005" cy="576005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32394" y="7414277"/>
            <a:ext cx="576005" cy="576005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237763" y="4560137"/>
            <a:ext cx="365268" cy="338305"/>
          </a:xfrm>
          <a:custGeom>
            <a:avLst/>
            <a:gdLst/>
            <a:ahLst/>
            <a:cxnLst/>
            <a:rect l="l" t="t" r="r" b="b"/>
            <a:pathLst>
              <a:path w="365268" h="338305">
                <a:moveTo>
                  <a:pt x="0" y="0"/>
                </a:moveTo>
                <a:lnTo>
                  <a:pt x="365268" y="0"/>
                </a:lnTo>
                <a:lnTo>
                  <a:pt x="365268" y="338305"/>
                </a:lnTo>
                <a:lnTo>
                  <a:pt x="0" y="338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5" name="Freeform 35"/>
          <p:cNvSpPr/>
          <p:nvPr/>
        </p:nvSpPr>
        <p:spPr>
          <a:xfrm>
            <a:off x="1237763" y="5551134"/>
            <a:ext cx="365268" cy="338305"/>
          </a:xfrm>
          <a:custGeom>
            <a:avLst/>
            <a:gdLst/>
            <a:ahLst/>
            <a:cxnLst/>
            <a:rect l="l" t="t" r="r" b="b"/>
            <a:pathLst>
              <a:path w="365268" h="338305">
                <a:moveTo>
                  <a:pt x="0" y="0"/>
                </a:moveTo>
                <a:lnTo>
                  <a:pt x="365268" y="0"/>
                </a:lnTo>
                <a:lnTo>
                  <a:pt x="365268" y="338305"/>
                </a:lnTo>
                <a:lnTo>
                  <a:pt x="0" y="338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6" name="Freeform 36"/>
          <p:cNvSpPr/>
          <p:nvPr/>
        </p:nvSpPr>
        <p:spPr>
          <a:xfrm>
            <a:off x="1237763" y="6542130"/>
            <a:ext cx="365268" cy="338305"/>
          </a:xfrm>
          <a:custGeom>
            <a:avLst/>
            <a:gdLst/>
            <a:ahLst/>
            <a:cxnLst/>
            <a:rect l="l" t="t" r="r" b="b"/>
            <a:pathLst>
              <a:path w="365268" h="338305">
                <a:moveTo>
                  <a:pt x="0" y="0"/>
                </a:moveTo>
                <a:lnTo>
                  <a:pt x="365268" y="0"/>
                </a:lnTo>
                <a:lnTo>
                  <a:pt x="365268" y="338306"/>
                </a:lnTo>
                <a:lnTo>
                  <a:pt x="0" y="338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7" name="Freeform 37"/>
          <p:cNvSpPr/>
          <p:nvPr/>
        </p:nvSpPr>
        <p:spPr>
          <a:xfrm>
            <a:off x="1237763" y="7533127"/>
            <a:ext cx="365268" cy="338305"/>
          </a:xfrm>
          <a:custGeom>
            <a:avLst/>
            <a:gdLst/>
            <a:ahLst/>
            <a:cxnLst/>
            <a:rect l="l" t="t" r="r" b="b"/>
            <a:pathLst>
              <a:path w="365268" h="338305">
                <a:moveTo>
                  <a:pt x="0" y="0"/>
                </a:moveTo>
                <a:lnTo>
                  <a:pt x="365268" y="0"/>
                </a:lnTo>
                <a:lnTo>
                  <a:pt x="365268" y="338305"/>
                </a:lnTo>
                <a:lnTo>
                  <a:pt x="0" y="338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8" name="Freeform 38"/>
          <p:cNvSpPr/>
          <p:nvPr/>
        </p:nvSpPr>
        <p:spPr>
          <a:xfrm>
            <a:off x="8418189" y="4394388"/>
            <a:ext cx="5133239" cy="5123906"/>
          </a:xfrm>
          <a:custGeom>
            <a:avLst/>
            <a:gdLst/>
            <a:ahLst/>
            <a:cxnLst/>
            <a:rect l="l" t="t" r="r" b="b"/>
            <a:pathLst>
              <a:path w="5133239" h="5123906">
                <a:moveTo>
                  <a:pt x="0" y="0"/>
                </a:moveTo>
                <a:lnTo>
                  <a:pt x="5133239" y="0"/>
                </a:lnTo>
                <a:lnTo>
                  <a:pt x="5133239" y="5123906"/>
                </a:lnTo>
                <a:lnTo>
                  <a:pt x="0" y="5123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9" name="Group 39"/>
          <p:cNvGrpSpPr/>
          <p:nvPr/>
        </p:nvGrpSpPr>
        <p:grpSpPr>
          <a:xfrm>
            <a:off x="8875812" y="4855944"/>
            <a:ext cx="4200794" cy="4200794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9E920">
                    <a:alpha val="100000"/>
                  </a:srgbClr>
                </a:gs>
                <a:gs pos="100000">
                  <a:srgbClr val="233D0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187006" y="5167138"/>
            <a:ext cx="3578406" cy="3578406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9199" r="-413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4" name="Freeform 44"/>
          <p:cNvSpPr/>
          <p:nvPr/>
        </p:nvSpPr>
        <p:spPr>
          <a:xfrm flipH="1">
            <a:off x="8875812" y="8121164"/>
            <a:ext cx="1248759" cy="1248759"/>
          </a:xfrm>
          <a:custGeom>
            <a:avLst/>
            <a:gdLst/>
            <a:ahLst/>
            <a:cxnLst/>
            <a:rect l="l" t="t" r="r" b="b"/>
            <a:pathLst>
              <a:path w="1248759" h="1248759">
                <a:moveTo>
                  <a:pt x="1248759" y="0"/>
                </a:moveTo>
                <a:lnTo>
                  <a:pt x="0" y="0"/>
                </a:lnTo>
                <a:lnTo>
                  <a:pt x="0" y="1248759"/>
                </a:lnTo>
                <a:lnTo>
                  <a:pt x="1248759" y="1248759"/>
                </a:lnTo>
                <a:lnTo>
                  <a:pt x="124875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5" name="Freeform 45"/>
          <p:cNvSpPr/>
          <p:nvPr/>
        </p:nvSpPr>
        <p:spPr>
          <a:xfrm rot="5400000">
            <a:off x="10636248" y="588635"/>
            <a:ext cx="996555" cy="1314401"/>
          </a:xfrm>
          <a:custGeom>
            <a:avLst/>
            <a:gdLst/>
            <a:ahLst/>
            <a:cxnLst/>
            <a:rect l="l" t="t" r="r" b="b"/>
            <a:pathLst>
              <a:path w="996555" h="1314401">
                <a:moveTo>
                  <a:pt x="0" y="0"/>
                </a:moveTo>
                <a:lnTo>
                  <a:pt x="996556" y="0"/>
                </a:lnTo>
                <a:lnTo>
                  <a:pt x="996556" y="1314402"/>
                </a:lnTo>
                <a:lnTo>
                  <a:pt x="0" y="131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6" name="Freeform 46"/>
          <p:cNvSpPr/>
          <p:nvPr/>
        </p:nvSpPr>
        <p:spPr>
          <a:xfrm>
            <a:off x="16618135" y="9047200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1" y="0"/>
                </a:lnTo>
                <a:lnTo>
                  <a:pt x="1121841" y="422200"/>
                </a:lnTo>
                <a:lnTo>
                  <a:pt x="0" y="42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7" name="Freeform 47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8" name="Freeform 48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9" name="TextBox 49"/>
          <p:cNvSpPr txBox="1"/>
          <p:nvPr/>
        </p:nvSpPr>
        <p:spPr>
          <a:xfrm>
            <a:off x="1935861" y="4397502"/>
            <a:ext cx="4841118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Robustezza strutturale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935861" y="5388499"/>
            <a:ext cx="6298692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Affidabilità elettromeccanica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935861" y="6379496"/>
            <a:ext cx="4841118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Continuità produttiva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935861" y="7370492"/>
            <a:ext cx="5545922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supporto tecnico diretto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80530" y="130690"/>
            <a:ext cx="4587120" cy="101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7"/>
              </a:lnSpc>
              <a:spcBef>
                <a:spcPct val="0"/>
              </a:spcBef>
            </a:pPr>
            <a:r>
              <a:rPr lang="en-US" sz="5997" b="1" spc="-2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 NOSTRA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859610" y="632811"/>
            <a:ext cx="4993619" cy="1111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7"/>
              </a:lnSpc>
              <a:spcBef>
                <a:spcPct val="0"/>
              </a:spcBef>
            </a:pPr>
            <a:r>
              <a:rPr lang="en-US" sz="6497" b="1" spc="-318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proposta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612089" y="170900"/>
            <a:ext cx="5360266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 spc="-29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LAYOUT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2088" y="1054767"/>
            <a:ext cx="7693711" cy="984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 spc="-294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{{nome_impianto}}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7200" y="2550000"/>
            <a:ext cx="7239000" cy="5088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</a:pPr>
            <a:r>
              <a:rPr lang="it-IT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{{#tracker}}N.</a:t>
            </a:r>
            <a:r>
              <a:rPr lang="it-IT" sz="26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{{quantita}}</a:t>
            </a:r>
            <a:r>
              <a:rPr lang="it-IT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 TRACKER TTS.{{moduli}} MODULI{{/tracker}}</a:t>
            </a:r>
          </a:p>
          <a:p>
            <a:pPr>
              <a:lnSpc>
                <a:spcPts val="2000"/>
              </a:lnSpc>
            </a:pPr>
            <a:endParaRPr lang="it-IT" sz="2600" dirty="0"/>
          </a:p>
          <a:p>
            <a:pPr>
              <a:lnSpc>
                <a:spcPts val="3500"/>
              </a:lnSpc>
            </a:pPr>
            <a:r>
              <a:rPr lang="it-IT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N.</a:t>
            </a:r>
            <a:r>
              <a:rPr lang="it-IT" sz="26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{{n_quadri_area}}</a:t>
            </a:r>
            <a:r>
              <a:rPr lang="it-IT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 QUADRI DI CAMPO (AREA)</a:t>
            </a:r>
          </a:p>
          <a:p>
            <a:pPr>
              <a:lnSpc>
                <a:spcPts val="3500"/>
              </a:lnSpc>
            </a:pPr>
            <a:r>
              <a:rPr lang="it-IT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N.</a:t>
            </a:r>
            <a:r>
              <a:rPr lang="it-IT" sz="26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{{n_quadri_generali}}</a:t>
            </a:r>
            <a:r>
              <a:rPr lang="it-IT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 QUADRO GENERALE</a:t>
            </a:r>
          </a:p>
          <a:p>
            <a:pPr>
              <a:lnSpc>
                <a:spcPts val="2000"/>
              </a:lnSpc>
            </a:pPr>
            <a:endParaRPr lang="it-IT" sz="2600" dirty="0"/>
          </a:p>
          <a:p>
            <a:pPr>
              <a:lnSpc>
                <a:spcPts val="3500"/>
              </a:lnSpc>
            </a:pPr>
            <a:r>
              <a:rPr lang="it-IT" sz="26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{{moduli_totali}}</a:t>
            </a:r>
            <a:r>
              <a:rPr lang="it-IT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 pannelli da {{potenza_modulo_w}} W</a:t>
            </a:r>
          </a:p>
          <a:p>
            <a:pPr>
              <a:lnSpc>
                <a:spcPts val="3500"/>
              </a:lnSpc>
            </a:pPr>
            <a:r>
              <a:rPr lang="it-IT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Potenza totale </a:t>
            </a:r>
            <a:r>
              <a:rPr lang="it-IT" sz="26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{{potenza_kwp}} kWp</a:t>
            </a:r>
          </a:p>
        </p:txBody>
      </p:sp>
      <p:pic>
        <p:nvPicPr>
          <p:cNvPr id="8" name="IMG_LAYOUT" descr="Planimetria impianto - sostituita dalla web app">
            <a:extLst>
              <a:ext uri="{FF2B5EF4-FFF2-40B4-BE49-F238E27FC236}">
                <a16:creationId xmlns:a16="http://schemas.microsoft.com/office/drawing/2014/main" id="{303DF27B-6FDA-D09C-1B62-FE462318BA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4600" y="2920071"/>
            <a:ext cx="6400800" cy="64569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826659" y="-1416236"/>
            <a:ext cx="3203309" cy="5136501"/>
          </a:xfrm>
          <a:custGeom>
            <a:avLst/>
            <a:gdLst/>
            <a:ahLst/>
            <a:cxnLst/>
            <a:rect l="l" t="t" r="r" b="b"/>
            <a:pathLst>
              <a:path w="3203309" h="5136501">
                <a:moveTo>
                  <a:pt x="0" y="5136501"/>
                </a:moveTo>
                <a:lnTo>
                  <a:pt x="3203309" y="5136501"/>
                </a:lnTo>
                <a:lnTo>
                  <a:pt x="3203309" y="0"/>
                </a:lnTo>
                <a:lnTo>
                  <a:pt x="0" y="0"/>
                </a:lnTo>
                <a:lnTo>
                  <a:pt x="0" y="513650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5765540" y="294725"/>
            <a:ext cx="1602826" cy="1340585"/>
          </a:xfrm>
          <a:custGeom>
            <a:avLst/>
            <a:gdLst/>
            <a:ahLst/>
            <a:cxnLst/>
            <a:rect l="l" t="t" r="r" b="b"/>
            <a:pathLst>
              <a:path w="1602826" h="1340585">
                <a:moveTo>
                  <a:pt x="0" y="0"/>
                </a:moveTo>
                <a:lnTo>
                  <a:pt x="1602826" y="0"/>
                </a:lnTo>
                <a:lnTo>
                  <a:pt x="1602826" y="1340585"/>
                </a:lnTo>
                <a:lnTo>
                  <a:pt x="0" y="134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487313" y="370391"/>
            <a:ext cx="4020184" cy="1105551"/>
          </a:xfrm>
          <a:custGeom>
            <a:avLst/>
            <a:gdLst/>
            <a:ahLst/>
            <a:cxnLst/>
            <a:rect l="l" t="t" r="r" b="b"/>
            <a:pathLst>
              <a:path w="4020184" h="1105551">
                <a:moveTo>
                  <a:pt x="0" y="0"/>
                </a:moveTo>
                <a:lnTo>
                  <a:pt x="4020185" y="0"/>
                </a:lnTo>
                <a:lnTo>
                  <a:pt x="4020185" y="1105550"/>
                </a:lnTo>
                <a:lnTo>
                  <a:pt x="0" y="1105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411113" y="2442490"/>
            <a:ext cx="5096859" cy="2994404"/>
          </a:xfrm>
          <a:custGeom>
            <a:avLst/>
            <a:gdLst/>
            <a:ahLst/>
            <a:cxnLst/>
            <a:rect l="l" t="t" r="r" b="b"/>
            <a:pathLst>
              <a:path w="5096859" h="2994404">
                <a:moveTo>
                  <a:pt x="0" y="0"/>
                </a:moveTo>
                <a:lnTo>
                  <a:pt x="5096859" y="0"/>
                </a:lnTo>
                <a:lnTo>
                  <a:pt x="5096859" y="2994404"/>
                </a:lnTo>
                <a:lnTo>
                  <a:pt x="0" y="29944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6059068" y="2429850"/>
            <a:ext cx="6116370" cy="3038734"/>
          </a:xfrm>
          <a:custGeom>
            <a:avLst/>
            <a:gdLst/>
            <a:ahLst/>
            <a:cxnLst/>
            <a:rect l="l" t="t" r="r" b="b"/>
            <a:pathLst>
              <a:path w="6116370" h="3038734">
                <a:moveTo>
                  <a:pt x="0" y="0"/>
                </a:moveTo>
                <a:lnTo>
                  <a:pt x="6116370" y="0"/>
                </a:lnTo>
                <a:lnTo>
                  <a:pt x="6116370" y="3038734"/>
                </a:lnTo>
                <a:lnTo>
                  <a:pt x="0" y="30387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1825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12726535" y="2429850"/>
            <a:ext cx="5042975" cy="2943837"/>
          </a:xfrm>
          <a:custGeom>
            <a:avLst/>
            <a:gdLst/>
            <a:ahLst/>
            <a:cxnLst/>
            <a:rect l="l" t="t" r="r" b="b"/>
            <a:pathLst>
              <a:path w="5042975" h="2943837">
                <a:moveTo>
                  <a:pt x="0" y="0"/>
                </a:moveTo>
                <a:lnTo>
                  <a:pt x="5042974" y="0"/>
                </a:lnTo>
                <a:lnTo>
                  <a:pt x="5042974" y="2943837"/>
                </a:lnTo>
                <a:lnTo>
                  <a:pt x="0" y="29438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706" y="6533447"/>
            <a:ext cx="524544" cy="524862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132" y="7008930"/>
            <a:ext cx="524544" cy="524862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470415" y="6640309"/>
            <a:ext cx="15788885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19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OGNI TRACKER E’ DOTATO DI UN MOTORE DEDICATO E CONTROLLO INDIPENDENTE 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spc="19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OGNI TRACKER HA UN ID UNIVOCO ASSEGNATO DURANTE LA CONFIGURAZIONE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85564" y="5936739"/>
            <a:ext cx="13463378" cy="47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902">
                <a:solidFill>
                  <a:srgbClr val="79E921"/>
                </a:solidFill>
                <a:latin typeface="Public Sans"/>
                <a:ea typeface="Public Sans"/>
                <a:cs typeface="Public Sans"/>
                <a:sym typeface="Public Sans"/>
              </a:rPr>
              <a:t>GESTIONE INDIVIDUALE DEI TRACKER E DIAGNOSTICA AVANZATA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85304" y="257176"/>
            <a:ext cx="9928269" cy="77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300"/>
              </a:lnSpc>
              <a:spcBef>
                <a:spcPct val="0"/>
              </a:spcBef>
            </a:pPr>
            <a:r>
              <a:rPr lang="en-US" sz="4500" b="1" spc="-22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Sistema di Controllo Proprietario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07788" y="880762"/>
            <a:ext cx="8949800" cy="8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b="1" spc="-259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TTS® AGRI SOLAR CONTROL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0870" y="7993494"/>
            <a:ext cx="17058640" cy="2447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79E920"/>
                </a:solidFill>
                <a:latin typeface="Canva Sans"/>
                <a:ea typeface="Canva Sans"/>
                <a:cs typeface="Canva Sans"/>
                <a:sym typeface="Canva Sans"/>
              </a:rPr>
              <a:t>VANTAGGI:</a:t>
            </a:r>
          </a:p>
          <a:p>
            <a:pPr marL="582925" lvl="1" indent="-291463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79E920"/>
                </a:solidFill>
                <a:latin typeface="Canva Sans"/>
                <a:ea typeface="Canva Sans"/>
                <a:cs typeface="Canva Sans"/>
                <a:sym typeface="Canva Sans"/>
              </a:rPr>
              <a:t>Gestione decentralizzata con supervisione in tempo reale e integrazione SCADA.</a:t>
            </a:r>
          </a:p>
          <a:p>
            <a:pPr marL="582925" lvl="1" indent="-291463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79E920"/>
                </a:solidFill>
                <a:latin typeface="Canva Sans"/>
                <a:ea typeface="Canva Sans"/>
                <a:cs typeface="Canva Sans"/>
                <a:sym typeface="Canva Sans"/>
              </a:rPr>
              <a:t>Localizzazione immediata di anomalie e guasti.</a:t>
            </a:r>
          </a:p>
          <a:p>
            <a:pPr marL="582925" lvl="1" indent="-291463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79E920"/>
                </a:solidFill>
                <a:latin typeface="Canva Sans"/>
                <a:ea typeface="Canva Sans"/>
                <a:cs typeface="Canva Sans"/>
                <a:sym typeface="Canva Sans"/>
              </a:rPr>
              <a:t>Isolamento delle singole unità senza impatto sulla continuità operativa dell’impianto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699">
              <a:solidFill>
                <a:srgbClr val="79E92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 flipV="1">
            <a:off x="17549852" y="-2897585"/>
            <a:ext cx="3536471" cy="5670726"/>
          </a:xfrm>
          <a:custGeom>
            <a:avLst/>
            <a:gdLst/>
            <a:ahLst/>
            <a:cxnLst/>
            <a:rect l="l" t="t" r="r" b="b"/>
            <a:pathLst>
              <a:path w="3536471" h="5670726">
                <a:moveTo>
                  <a:pt x="3536470" y="5670726"/>
                </a:moveTo>
                <a:lnTo>
                  <a:pt x="0" y="5670726"/>
                </a:lnTo>
                <a:lnTo>
                  <a:pt x="0" y="0"/>
                </a:lnTo>
                <a:lnTo>
                  <a:pt x="3536470" y="0"/>
                </a:lnTo>
                <a:lnTo>
                  <a:pt x="3536470" y="567072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 rot="-5400000" flipH="1" flipV="1">
            <a:off x="-1450179" y="8265749"/>
            <a:ext cx="2747959" cy="4406348"/>
          </a:xfrm>
          <a:custGeom>
            <a:avLst/>
            <a:gdLst/>
            <a:ahLst/>
            <a:cxnLst/>
            <a:rect l="l" t="t" r="r" b="b"/>
            <a:pathLst>
              <a:path w="2747959" h="4406348">
                <a:moveTo>
                  <a:pt x="2747958" y="4406348"/>
                </a:moveTo>
                <a:lnTo>
                  <a:pt x="0" y="4406348"/>
                </a:lnTo>
                <a:lnTo>
                  <a:pt x="0" y="0"/>
                </a:lnTo>
                <a:lnTo>
                  <a:pt x="2747958" y="0"/>
                </a:lnTo>
                <a:lnTo>
                  <a:pt x="2747958" y="440634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3388308" y="2323548"/>
            <a:ext cx="6549199" cy="654919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9E920">
                    <a:alpha val="100000"/>
                  </a:srgbClr>
                </a:gs>
                <a:gs pos="100000">
                  <a:srgbClr val="233D0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873472" y="2856756"/>
            <a:ext cx="5578871" cy="557887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53092" r="-5309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51682" y="3108840"/>
            <a:ext cx="13325524" cy="1044260"/>
            <a:chOff x="0" y="0"/>
            <a:chExt cx="5945144" cy="4658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45144" cy="465894"/>
            </a:xfrm>
            <a:custGeom>
              <a:avLst/>
              <a:gdLst/>
              <a:ahLst/>
              <a:cxnLst/>
              <a:rect l="l" t="t" r="r" b="b"/>
              <a:pathLst>
                <a:path w="5945144" h="465894">
                  <a:moveTo>
                    <a:pt x="5741944" y="0"/>
                  </a:moveTo>
                  <a:cubicBezTo>
                    <a:pt x="5854169" y="0"/>
                    <a:pt x="5945144" y="104294"/>
                    <a:pt x="5945144" y="232947"/>
                  </a:cubicBezTo>
                  <a:cubicBezTo>
                    <a:pt x="5945144" y="361600"/>
                    <a:pt x="5854169" y="465894"/>
                    <a:pt x="5741944" y="465894"/>
                  </a:cubicBezTo>
                  <a:lnTo>
                    <a:pt x="203200" y="465894"/>
                  </a:lnTo>
                  <a:cubicBezTo>
                    <a:pt x="90976" y="465894"/>
                    <a:pt x="0" y="361600"/>
                    <a:pt x="0" y="232947"/>
                  </a:cubicBezTo>
                  <a:cubicBezTo>
                    <a:pt x="0" y="10429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945144" cy="503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51682" y="4219514"/>
            <a:ext cx="7946072" cy="910910"/>
            <a:chOff x="0" y="0"/>
            <a:chExt cx="3545117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45117" cy="406400"/>
            </a:xfrm>
            <a:custGeom>
              <a:avLst/>
              <a:gdLst/>
              <a:ahLst/>
              <a:cxnLst/>
              <a:rect l="l" t="t" r="r" b="b"/>
              <a:pathLst>
                <a:path w="3545117" h="406400">
                  <a:moveTo>
                    <a:pt x="3341917" y="0"/>
                  </a:moveTo>
                  <a:cubicBezTo>
                    <a:pt x="3454141" y="0"/>
                    <a:pt x="3545117" y="90976"/>
                    <a:pt x="3545117" y="203200"/>
                  </a:cubicBezTo>
                  <a:cubicBezTo>
                    <a:pt x="3545117" y="315424"/>
                    <a:pt x="3454141" y="406400"/>
                    <a:pt x="33419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54511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51682" y="5196837"/>
            <a:ext cx="15553943" cy="910910"/>
            <a:chOff x="0" y="0"/>
            <a:chExt cx="6939347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39347" cy="406400"/>
            </a:xfrm>
            <a:custGeom>
              <a:avLst/>
              <a:gdLst/>
              <a:ahLst/>
              <a:cxnLst/>
              <a:rect l="l" t="t" r="r" b="b"/>
              <a:pathLst>
                <a:path w="6939347" h="406400">
                  <a:moveTo>
                    <a:pt x="6736147" y="0"/>
                  </a:moveTo>
                  <a:cubicBezTo>
                    <a:pt x="6848371" y="0"/>
                    <a:pt x="6939347" y="90976"/>
                    <a:pt x="6939347" y="203200"/>
                  </a:cubicBezTo>
                  <a:cubicBezTo>
                    <a:pt x="6939347" y="315424"/>
                    <a:pt x="6848371" y="406400"/>
                    <a:pt x="673614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93934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51682" y="6174160"/>
            <a:ext cx="13811974" cy="910910"/>
            <a:chOff x="0" y="0"/>
            <a:chExt cx="6162173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162173" cy="406400"/>
            </a:xfrm>
            <a:custGeom>
              <a:avLst/>
              <a:gdLst/>
              <a:ahLst/>
              <a:cxnLst/>
              <a:rect l="l" t="t" r="r" b="b"/>
              <a:pathLst>
                <a:path w="6162173" h="406400">
                  <a:moveTo>
                    <a:pt x="5958973" y="0"/>
                  </a:moveTo>
                  <a:cubicBezTo>
                    <a:pt x="6071197" y="0"/>
                    <a:pt x="6162173" y="90976"/>
                    <a:pt x="6162173" y="203200"/>
                  </a:cubicBezTo>
                  <a:cubicBezTo>
                    <a:pt x="6162173" y="315424"/>
                    <a:pt x="6071197" y="406400"/>
                    <a:pt x="595897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616217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08640" y="3258714"/>
            <a:ext cx="792401" cy="79240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08640" y="4236037"/>
            <a:ext cx="792401" cy="792401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7" name="Freeform 27"/>
          <p:cNvSpPr/>
          <p:nvPr/>
        </p:nvSpPr>
        <p:spPr>
          <a:xfrm>
            <a:off x="444724" y="3423963"/>
            <a:ext cx="520231" cy="481830"/>
          </a:xfrm>
          <a:custGeom>
            <a:avLst/>
            <a:gdLst/>
            <a:ahLst/>
            <a:cxnLst/>
            <a:rect l="l" t="t" r="r" b="b"/>
            <a:pathLst>
              <a:path w="520231" h="481830">
                <a:moveTo>
                  <a:pt x="0" y="0"/>
                </a:moveTo>
                <a:lnTo>
                  <a:pt x="520232" y="0"/>
                </a:lnTo>
                <a:lnTo>
                  <a:pt x="520232" y="481830"/>
                </a:lnTo>
                <a:lnTo>
                  <a:pt x="0" y="4818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444724" y="4401287"/>
            <a:ext cx="520231" cy="481830"/>
          </a:xfrm>
          <a:custGeom>
            <a:avLst/>
            <a:gdLst/>
            <a:ahLst/>
            <a:cxnLst/>
            <a:rect l="l" t="t" r="r" b="b"/>
            <a:pathLst>
              <a:path w="520231" h="481830">
                <a:moveTo>
                  <a:pt x="0" y="0"/>
                </a:moveTo>
                <a:lnTo>
                  <a:pt x="520232" y="0"/>
                </a:lnTo>
                <a:lnTo>
                  <a:pt x="520232" y="481830"/>
                </a:lnTo>
                <a:lnTo>
                  <a:pt x="0" y="4818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5279090" y="6623514"/>
            <a:ext cx="5133239" cy="5123906"/>
          </a:xfrm>
          <a:custGeom>
            <a:avLst/>
            <a:gdLst/>
            <a:ahLst/>
            <a:cxnLst/>
            <a:rect l="l" t="t" r="r" b="b"/>
            <a:pathLst>
              <a:path w="5133239" h="5123906">
                <a:moveTo>
                  <a:pt x="0" y="0"/>
                </a:moveTo>
                <a:lnTo>
                  <a:pt x="5133239" y="0"/>
                </a:lnTo>
                <a:lnTo>
                  <a:pt x="5133239" y="5123907"/>
                </a:lnTo>
                <a:lnTo>
                  <a:pt x="0" y="5123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15736713" y="7085070"/>
            <a:ext cx="4200794" cy="4200794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9E920">
                    <a:alpha val="100000"/>
                  </a:srgbClr>
                </a:gs>
                <a:gs pos="100000">
                  <a:srgbClr val="233D0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047907" y="7396265"/>
            <a:ext cx="3578406" cy="3578406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70618" r="-4819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5" name="Freeform 35"/>
          <p:cNvSpPr/>
          <p:nvPr/>
        </p:nvSpPr>
        <p:spPr>
          <a:xfrm rot="5400000">
            <a:off x="16584497" y="8601099"/>
            <a:ext cx="996555" cy="1314401"/>
          </a:xfrm>
          <a:custGeom>
            <a:avLst/>
            <a:gdLst/>
            <a:ahLst/>
            <a:cxnLst/>
            <a:rect l="l" t="t" r="r" b="b"/>
            <a:pathLst>
              <a:path w="996555" h="1314401">
                <a:moveTo>
                  <a:pt x="0" y="0"/>
                </a:moveTo>
                <a:lnTo>
                  <a:pt x="996555" y="0"/>
                </a:lnTo>
                <a:lnTo>
                  <a:pt x="996555" y="1314402"/>
                </a:lnTo>
                <a:lnTo>
                  <a:pt x="0" y="131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308640" y="5213360"/>
            <a:ext cx="792401" cy="792401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9" name="Freeform 39"/>
          <p:cNvSpPr/>
          <p:nvPr/>
        </p:nvSpPr>
        <p:spPr>
          <a:xfrm>
            <a:off x="444724" y="5378610"/>
            <a:ext cx="520231" cy="481830"/>
          </a:xfrm>
          <a:custGeom>
            <a:avLst/>
            <a:gdLst/>
            <a:ahLst/>
            <a:cxnLst/>
            <a:rect l="l" t="t" r="r" b="b"/>
            <a:pathLst>
              <a:path w="520231" h="481830">
                <a:moveTo>
                  <a:pt x="0" y="0"/>
                </a:moveTo>
                <a:lnTo>
                  <a:pt x="520232" y="0"/>
                </a:lnTo>
                <a:lnTo>
                  <a:pt x="520232" y="481830"/>
                </a:lnTo>
                <a:lnTo>
                  <a:pt x="0" y="4818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0" name="Group 40"/>
          <p:cNvGrpSpPr/>
          <p:nvPr/>
        </p:nvGrpSpPr>
        <p:grpSpPr>
          <a:xfrm>
            <a:off x="308640" y="6190684"/>
            <a:ext cx="792401" cy="792401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3" name="Freeform 43"/>
          <p:cNvSpPr/>
          <p:nvPr/>
        </p:nvSpPr>
        <p:spPr>
          <a:xfrm>
            <a:off x="444724" y="6355933"/>
            <a:ext cx="520231" cy="481830"/>
          </a:xfrm>
          <a:custGeom>
            <a:avLst/>
            <a:gdLst/>
            <a:ahLst/>
            <a:cxnLst/>
            <a:rect l="l" t="t" r="r" b="b"/>
            <a:pathLst>
              <a:path w="520231" h="481830">
                <a:moveTo>
                  <a:pt x="0" y="0"/>
                </a:moveTo>
                <a:lnTo>
                  <a:pt x="520232" y="0"/>
                </a:lnTo>
                <a:lnTo>
                  <a:pt x="520232" y="481830"/>
                </a:lnTo>
                <a:lnTo>
                  <a:pt x="0" y="4818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65577" y="113821"/>
            <a:ext cx="6020600" cy="101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839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997" b="1" i="0" u="none" strike="noStrike" kern="1200" cap="none" spc="-29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GARANZIE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544292" y="3237906"/>
            <a:ext cx="13032914" cy="814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-147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{{anni_garanzia_struttura}} anni di garanzia su struttura e componenti forniti da Terranova </a:t>
            </a:r>
          </a:p>
          <a:p>
            <a:pPr marL="0" marR="0" lvl="0" indent="0" algn="l" defTabSz="914400" rtl="0" eaLnBrk="1" fontAlgn="auto" latinLnBrk="0" hangingPunct="1">
              <a:lnSpc>
                <a:spcPts val="3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-147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(con contratto di manutenzione)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619464" y="4295137"/>
            <a:ext cx="7578290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9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-147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{{anni_garanzia_commerciali}} anni sui componenti commerciali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648039" y="5320505"/>
            <a:ext cx="14909377" cy="814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-147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assistenza gratuita {{anni_assistenza_gratuita}} anni</a:t>
            </a:r>
          </a:p>
          <a:p>
            <a:pPr marL="0" marR="0" lvl="0" indent="0" algn="l" defTabSz="914400" rtl="0" eaLnBrk="1" fontAlgn="auto" latinLnBrk="0" hangingPunct="1">
              <a:lnSpc>
                <a:spcPts val="3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-147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e manutenzione programmata per tutta la vita utile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44292" y="6255096"/>
            <a:ext cx="1455944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9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-147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certificazioni: CE EN 1090, UNI EN ISO 12100, UNI ISO/TR 14121-2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01571" y="805987"/>
            <a:ext cx="5484606" cy="1111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09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97" b="1" i="0" u="none" strike="noStrike" kern="1200" cap="none" spc="-318" normalizeH="0" baseline="0" noProof="0">
                <a:ln>
                  <a:noFill/>
                </a:ln>
                <a:solidFill>
                  <a:srgbClr val="79E920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e certificazioni</a:t>
            </a:r>
          </a:p>
        </p:txBody>
      </p:sp>
      <p:sp>
        <p:nvSpPr>
          <p:cNvPr id="50" name="Freeform 50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Freeform 51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329959" y="248628"/>
            <a:ext cx="8263664" cy="8248639"/>
          </a:xfrm>
          <a:custGeom>
            <a:avLst/>
            <a:gdLst/>
            <a:ahLst/>
            <a:cxnLst/>
            <a:rect l="l" t="t" r="r" b="b"/>
            <a:pathLst>
              <a:path w="8263664" h="8248639">
                <a:moveTo>
                  <a:pt x="0" y="0"/>
                </a:moveTo>
                <a:lnTo>
                  <a:pt x="8263664" y="0"/>
                </a:lnTo>
                <a:lnTo>
                  <a:pt x="8263664" y="8248639"/>
                </a:lnTo>
                <a:lnTo>
                  <a:pt x="0" y="824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83087" y="2188031"/>
            <a:ext cx="6762582" cy="676258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9E920">
                    <a:alpha val="100000"/>
                  </a:srgbClr>
                </a:gs>
                <a:gs pos="100000">
                  <a:srgbClr val="233D0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84058" y="2689002"/>
            <a:ext cx="5760640" cy="576064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r="-3333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53787" y="7222486"/>
            <a:ext cx="4035062" cy="1121262"/>
            <a:chOff x="0" y="0"/>
            <a:chExt cx="1315209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15209" cy="406400"/>
            </a:xfrm>
            <a:custGeom>
              <a:avLst/>
              <a:gdLst/>
              <a:ahLst/>
              <a:cxnLst/>
              <a:rect l="l" t="t" r="r" b="b"/>
              <a:pathLst>
                <a:path w="1315209" h="406400">
                  <a:moveTo>
                    <a:pt x="1112009" y="0"/>
                  </a:moveTo>
                  <a:cubicBezTo>
                    <a:pt x="1224233" y="0"/>
                    <a:pt x="1315209" y="90976"/>
                    <a:pt x="1315209" y="203200"/>
                  </a:cubicBezTo>
                  <a:cubicBezTo>
                    <a:pt x="1315209" y="315424"/>
                    <a:pt x="1224233" y="406400"/>
                    <a:pt x="11120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0581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1520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948138" y="7195359"/>
            <a:ext cx="4035062" cy="1121262"/>
            <a:chOff x="0" y="0"/>
            <a:chExt cx="1315209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15209" cy="406400"/>
            </a:xfrm>
            <a:custGeom>
              <a:avLst/>
              <a:gdLst/>
              <a:ahLst/>
              <a:cxnLst/>
              <a:rect l="l" t="t" r="r" b="b"/>
              <a:pathLst>
                <a:path w="1315209" h="406400">
                  <a:moveTo>
                    <a:pt x="1112009" y="0"/>
                  </a:moveTo>
                  <a:cubicBezTo>
                    <a:pt x="1224233" y="0"/>
                    <a:pt x="1315209" y="90976"/>
                    <a:pt x="1315209" y="203200"/>
                  </a:cubicBezTo>
                  <a:cubicBezTo>
                    <a:pt x="1315209" y="315424"/>
                    <a:pt x="1224233" y="406400"/>
                    <a:pt x="11120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0581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1520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44157" y="7195359"/>
            <a:ext cx="3179214" cy="1121262"/>
            <a:chOff x="0" y="0"/>
            <a:chExt cx="1036250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36250" cy="406400"/>
            </a:xfrm>
            <a:custGeom>
              <a:avLst/>
              <a:gdLst/>
              <a:ahLst/>
              <a:cxnLst/>
              <a:rect l="l" t="t" r="r" b="b"/>
              <a:pathLst>
                <a:path w="1036250" h="406400">
                  <a:moveTo>
                    <a:pt x="833050" y="0"/>
                  </a:moveTo>
                  <a:cubicBezTo>
                    <a:pt x="945274" y="0"/>
                    <a:pt x="1036250" y="90976"/>
                    <a:pt x="1036250" y="203200"/>
                  </a:cubicBezTo>
                  <a:cubicBezTo>
                    <a:pt x="1036250" y="315424"/>
                    <a:pt x="945274" y="406400"/>
                    <a:pt x="8330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362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167908" y="7195359"/>
            <a:ext cx="3179214" cy="1121262"/>
            <a:chOff x="0" y="0"/>
            <a:chExt cx="1036250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36250" cy="406400"/>
            </a:xfrm>
            <a:custGeom>
              <a:avLst/>
              <a:gdLst/>
              <a:ahLst/>
              <a:cxnLst/>
              <a:rect l="l" t="t" r="r" b="b"/>
              <a:pathLst>
                <a:path w="1036250" h="406400">
                  <a:moveTo>
                    <a:pt x="833050" y="0"/>
                  </a:moveTo>
                  <a:cubicBezTo>
                    <a:pt x="945274" y="0"/>
                    <a:pt x="1036250" y="90976"/>
                    <a:pt x="1036250" y="203200"/>
                  </a:cubicBezTo>
                  <a:cubicBezTo>
                    <a:pt x="1036250" y="315424"/>
                    <a:pt x="945274" y="406400"/>
                    <a:pt x="8330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362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0753352" y="320566"/>
            <a:ext cx="4758522" cy="1308594"/>
          </a:xfrm>
          <a:custGeom>
            <a:avLst/>
            <a:gdLst/>
            <a:ahLst/>
            <a:cxnLst/>
            <a:rect l="l" t="t" r="r" b="b"/>
            <a:pathLst>
              <a:path w="4758522" h="1308594">
                <a:moveTo>
                  <a:pt x="0" y="0"/>
                </a:moveTo>
                <a:lnTo>
                  <a:pt x="4758523" y="0"/>
                </a:lnTo>
                <a:lnTo>
                  <a:pt x="4758523" y="1308593"/>
                </a:lnTo>
                <a:lnTo>
                  <a:pt x="0" y="1308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2" name="Freeform 22"/>
          <p:cNvSpPr/>
          <p:nvPr/>
        </p:nvSpPr>
        <p:spPr>
          <a:xfrm>
            <a:off x="16152395" y="294725"/>
            <a:ext cx="1693314" cy="1416268"/>
          </a:xfrm>
          <a:custGeom>
            <a:avLst/>
            <a:gdLst/>
            <a:ahLst/>
            <a:cxnLst/>
            <a:rect l="l" t="t" r="r" b="b"/>
            <a:pathLst>
              <a:path w="1693314" h="1416268">
                <a:moveTo>
                  <a:pt x="0" y="0"/>
                </a:moveTo>
                <a:lnTo>
                  <a:pt x="1693314" y="0"/>
                </a:lnTo>
                <a:lnTo>
                  <a:pt x="1693314" y="1416268"/>
                </a:lnTo>
                <a:lnTo>
                  <a:pt x="0" y="14162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3" name="Incluso"/>
          <p:cNvSpPr txBox="1"/>
          <p:nvPr/>
        </p:nvSpPr>
        <p:spPr>
          <a:xfrm>
            <a:off x="7092794" y="2150000"/>
            <a:ext cx="9469862" cy="30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400"/>
              </a:lnSpc>
              <a:spcAft>
                <a:spcPts val="60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INCLUSO NEL PREZZO</a:t>
            </a:r>
          </a:p>
          <a:p>
            <a:pPr algn="l" marL="342900" indent="-342900">
              <a:lnSpc>
                <a:spcPts val="3100"/>
              </a:lnSpc>
              <a:spcAft>
                <a:spcPts val="0"/>
              </a:spcAft>
              <a:buFont typeface="Arial"/>
              <a:buChar char="•"/>
            </a:pPr>
            <a:r>
              <a:rPr lang="it-IT" sz="2300" dirty="0">
                <a:solidFill>
                  <a:srgbClr val="79E920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{{#inclusi}}{{voce}}{{/inclusi}}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7479" y="134328"/>
            <a:ext cx="5279145" cy="102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397"/>
              </a:lnSpc>
              <a:spcBef>
                <a:spcPct val="0"/>
              </a:spcBef>
            </a:pPr>
            <a:r>
              <a:rPr lang="en-US" sz="5997" b="1" spc="-2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TOTALE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117" y="784193"/>
            <a:ext cx="6025506" cy="102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397"/>
              </a:lnSpc>
              <a:spcBef>
                <a:spcPct val="0"/>
              </a:spcBef>
            </a:pPr>
            <a:r>
              <a:rPr lang="en-US" sz="5997" b="1" spc="-293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Investimento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06599" y="7357609"/>
            <a:ext cx="2608831" cy="675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</a:pPr>
            <a:r>
              <a:rPr lang="en-US" b="1" spc="-137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COSTO</a:t>
            </a:r>
          </a:p>
          <a:p>
            <a:pPr algn="ctr">
              <a:lnSpc>
                <a:spcPts val="2796"/>
              </a:lnSpc>
            </a:pPr>
            <a:r>
              <a:rPr lang="en-US" sz="1600" b="1" spc="-137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STRUTTURA E COMPONENTI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87990" y="7596170"/>
            <a:ext cx="2303377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</a:pPr>
            <a:r>
              <a:rPr lang="en-US" sz="2796" b="1" spc="-137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Trasporto</a:t>
            </a:r>
            <a:endParaRPr lang="en-US" sz="2796" b="1" spc="-137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172956" y="7479577"/>
            <a:ext cx="2988501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6"/>
              </a:lnSpc>
            </a:pPr>
            <a:r>
              <a:rPr lang="en-US" sz="2596" b="1" strike="sngStrike" spc="-127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€ {{prezzo_listino}} </a:t>
            </a:r>
            <a:r>
              <a:rPr lang="en-US" sz="2596" b="1" spc="-127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 IVA</a:t>
            </a:r>
          </a:p>
          <a:p>
            <a:pPr algn="ctr">
              <a:lnSpc>
                <a:spcPts val="2596"/>
              </a:lnSpc>
            </a:pPr>
            <a:r>
              <a:rPr lang="en-US" sz="2596" b="1" spc="-127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€ {{prezzo_offerta}} + IVA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409023" y="7621818"/>
            <a:ext cx="2303377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6"/>
              </a:lnSpc>
            </a:pPr>
            <a:r>
              <a:rPr lang="en-US" sz="2596" b="1" spc="-127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€ {{costo_trasporto}} + IVA</a:t>
            </a:r>
          </a:p>
        </p:txBody>
      </p:sp>
      <p:sp>
        <p:nvSpPr>
          <p:cNvPr id="30" name="Prezzo kWp"/>
          <p:cNvSpPr txBox="1"/>
          <p:nvPr/>
        </p:nvSpPr>
        <p:spPr>
          <a:xfrm>
            <a:off x="7092794" y="5350000"/>
            <a:ext cx="9469862" cy="1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600"/>
              </a:lnSpc>
              <a:spcAft>
                <a:spcPts val="0"/>
              </a:spcAft>
              <a:buNone/>
            </a:pPr>
            <a:r>
              <a:rPr lang="it-IT" sz="4699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 xml:space="preserve">{{prezzo_kwp}} €/kWp</a:t>
            </a:r>
          </a:p>
          <a:p>
            <a:pPr algn="l">
              <a:lnSpc>
                <a:spcPts val="3200"/>
              </a:lnSpc>
              <a:spcAft>
                <a:spcPts val="0"/>
              </a:spcAft>
              <a:buNone/>
            </a:pPr>
            <a:r>
              <a:rPr lang="it-IT" sz="23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Peso struttura ~{{peso_struttura_ton}} t · {{profilo_acciaio}}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D0BF364C-2A64-E4F8-5A1A-BFA84D8DD01D}"/>
              </a:ext>
            </a:extLst>
          </p:cNvPr>
          <p:cNvGrpSpPr/>
          <p:nvPr/>
        </p:nvGrpSpPr>
        <p:grpSpPr>
          <a:xfrm>
            <a:off x="7824386" y="8524394"/>
            <a:ext cx="6762581" cy="1121262"/>
            <a:chOff x="0" y="0"/>
            <a:chExt cx="1315209" cy="406400"/>
          </a:xfrm>
        </p:grpSpPr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CF5E5E8F-518E-1657-4FBA-1F029B798F21}"/>
                </a:ext>
              </a:extLst>
            </p:cNvPr>
            <p:cNvSpPr/>
            <p:nvPr/>
          </p:nvSpPr>
          <p:spPr>
            <a:xfrm>
              <a:off x="0" y="0"/>
              <a:ext cx="1315209" cy="406400"/>
            </a:xfrm>
            <a:custGeom>
              <a:avLst/>
              <a:gdLst/>
              <a:ahLst/>
              <a:cxnLst/>
              <a:rect l="l" t="t" r="r" b="b"/>
              <a:pathLst>
                <a:path w="1315209" h="406400">
                  <a:moveTo>
                    <a:pt x="1112009" y="0"/>
                  </a:moveTo>
                  <a:cubicBezTo>
                    <a:pt x="1224233" y="0"/>
                    <a:pt x="1315209" y="90976"/>
                    <a:pt x="1315209" y="203200"/>
                  </a:cubicBezTo>
                  <a:cubicBezTo>
                    <a:pt x="1315209" y="315424"/>
                    <a:pt x="1224233" y="406400"/>
                    <a:pt x="11120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0581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TextBox 14">
              <a:extLst>
                <a:ext uri="{FF2B5EF4-FFF2-40B4-BE49-F238E27FC236}">
                  <a16:creationId xmlns:a16="http://schemas.microsoft.com/office/drawing/2014/main" id="{C27A8A8B-C269-60F8-A11A-A0C288C1947C}"/>
                </a:ext>
              </a:extLst>
            </p:cNvPr>
            <p:cNvSpPr txBox="1"/>
            <p:nvPr/>
          </p:nvSpPr>
          <p:spPr>
            <a:xfrm>
              <a:off x="0" y="-38100"/>
              <a:ext cx="131520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18">
            <a:extLst>
              <a:ext uri="{FF2B5EF4-FFF2-40B4-BE49-F238E27FC236}">
                <a16:creationId xmlns:a16="http://schemas.microsoft.com/office/drawing/2014/main" id="{A9E4A425-AC6D-4018-EE89-B3A65D457333}"/>
              </a:ext>
            </a:extLst>
          </p:cNvPr>
          <p:cNvGrpSpPr/>
          <p:nvPr/>
        </p:nvGrpSpPr>
        <p:grpSpPr>
          <a:xfrm>
            <a:off x="6044157" y="8524394"/>
            <a:ext cx="3179214" cy="1121262"/>
            <a:chOff x="0" y="0"/>
            <a:chExt cx="1036250" cy="406400"/>
          </a:xfrm>
        </p:grpSpPr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FAC1FAFD-CB70-1FA7-50FD-F3A15587C16B}"/>
                </a:ext>
              </a:extLst>
            </p:cNvPr>
            <p:cNvSpPr/>
            <p:nvPr/>
          </p:nvSpPr>
          <p:spPr>
            <a:xfrm>
              <a:off x="0" y="0"/>
              <a:ext cx="1036250" cy="406400"/>
            </a:xfrm>
            <a:custGeom>
              <a:avLst/>
              <a:gdLst/>
              <a:ahLst/>
              <a:cxnLst/>
              <a:rect l="l" t="t" r="r" b="b"/>
              <a:pathLst>
                <a:path w="1036250" h="406400">
                  <a:moveTo>
                    <a:pt x="833050" y="0"/>
                  </a:moveTo>
                  <a:cubicBezTo>
                    <a:pt x="945274" y="0"/>
                    <a:pt x="1036250" y="90976"/>
                    <a:pt x="1036250" y="203200"/>
                  </a:cubicBezTo>
                  <a:cubicBezTo>
                    <a:pt x="1036250" y="315424"/>
                    <a:pt x="945274" y="406400"/>
                    <a:pt x="8330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TextBox 20">
              <a:extLst>
                <a:ext uri="{FF2B5EF4-FFF2-40B4-BE49-F238E27FC236}">
                  <a16:creationId xmlns:a16="http://schemas.microsoft.com/office/drawing/2014/main" id="{4A60E3CD-6E2A-A13B-7D86-007C82AD58FF}"/>
                </a:ext>
              </a:extLst>
            </p:cNvPr>
            <p:cNvSpPr txBox="1"/>
            <p:nvPr/>
          </p:nvSpPr>
          <p:spPr>
            <a:xfrm>
              <a:off x="0" y="-38100"/>
              <a:ext cx="10362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27">
            <a:extLst>
              <a:ext uri="{FF2B5EF4-FFF2-40B4-BE49-F238E27FC236}">
                <a16:creationId xmlns:a16="http://schemas.microsoft.com/office/drawing/2014/main" id="{FD5AC318-8627-93CA-FB41-613EADF813D0}"/>
              </a:ext>
            </a:extLst>
          </p:cNvPr>
          <p:cNvSpPr txBox="1"/>
          <p:nvPr/>
        </p:nvSpPr>
        <p:spPr>
          <a:xfrm>
            <a:off x="6364239" y="8925205"/>
            <a:ext cx="2303377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</a:pPr>
            <a:r>
              <a:rPr lang="en-US" sz="2796" b="1" spc="-137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Posa in opera</a:t>
            </a:r>
          </a:p>
        </p:txBody>
      </p:sp>
      <p:sp>
        <p:nvSpPr>
          <p:cNvPr id="37" name="TextBox 29">
            <a:extLst>
              <a:ext uri="{FF2B5EF4-FFF2-40B4-BE49-F238E27FC236}">
                <a16:creationId xmlns:a16="http://schemas.microsoft.com/office/drawing/2014/main" id="{0CE46507-130F-DE1C-7906-A72B583BA5FA}"/>
              </a:ext>
            </a:extLst>
          </p:cNvPr>
          <p:cNvSpPr txBox="1"/>
          <p:nvPr/>
        </p:nvSpPr>
        <p:spPr>
          <a:xfrm>
            <a:off x="9417593" y="8724900"/>
            <a:ext cx="5192120" cy="7989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596" b="1" spc="-127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€ {{costo_posa}} + IVA {{nota_posa}}</a:t>
            </a:r>
            <a:r>
              <a:rPr lang="en-US" sz="2596" b="1" spc="-127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/>
            </a:r>
            <a:r>
              <a:rPr lang="en-US" sz="2596" b="1" spc="-127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/>
            </a:r>
          </a:p>
          <a:p>
            <a:r>
              <a:rPr lang="en-US" sz="2596" b="1" spc="-127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{{modalita_posa}}</a:t>
            </a:r>
          </a:p>
        </p:txBody>
      </p:sp>
      <p:sp>
        <p:nvSpPr>
          <p:cNvPr id="140" name="Nota prezzi"/>
          <p:cNvSpPr txBox="1"/>
          <p:nvPr/>
        </p:nvSpPr>
        <p:spPr>
          <a:xfrm>
            <a:off x="14900000" y="8650000"/>
            <a:ext cx="3100000" cy="1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00"/>
              </a:lnSpc>
              <a:spcAft>
                <a:spcPts val="0"/>
              </a:spcAft>
              <a:buNone/>
            </a:pPr>
            <a:r>
              <a:rPr lang="it-IT" sz="1500" dirty="0">
                <a:solidFill>
                  <a:srgbClr val="BFBFB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Prezzi IVA esclusa. €/kWp calcolato su struttura e componenti. Trasporto e posa in opera sono opzionali.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612089" y="170900"/>
            <a:ext cx="760000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 spc="-29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DATI DI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2088" y="1054767"/>
            <a:ext cx="7693711" cy="984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 spc="-294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Progetto</a:t>
            </a:r>
          </a:p>
        </p:txBody>
      </p:sp>
      <p:sp>
        <p:nvSpPr>
          <p:cNvPr id="100" name="Card 100"/>
          <p:cNvSpPr/>
          <p:nvPr/>
        </p:nvSpPr>
        <p:spPr>
          <a:xfrm>
            <a:off x="612089" y="2900000"/>
            <a:ext cx="5300000" cy="440000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9050">
            <a:solidFill>
              <a:srgbClr val="79E92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0" name="Card text 1"/>
          <p:cNvSpPr txBox="1"/>
          <p:nvPr/>
        </p:nvSpPr>
        <p:spPr>
          <a:xfrm>
            <a:off x="912089" y="3200000"/>
            <a:ext cx="4700000" cy="3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  <a:buNone/>
            </a:pPr>
            <a:r>
              <a:rPr lang="it-IT" sz="24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CLIENTE E SITO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Cliente: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{{cliente}}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Referente: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{{referente}}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Località: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{{localita}}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Coordinate: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{{coordinate}}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Potenza: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{{potenza_kwp}} kWp</a:t>
            </a:r>
          </a:p>
        </p:txBody>
      </p:sp>
      <p:sp>
        <p:nvSpPr>
          <p:cNvPr id="101" name="Card 101"/>
          <p:cNvSpPr/>
          <p:nvPr/>
        </p:nvSpPr>
        <p:spPr>
          <a:xfrm>
            <a:off x="6200000" y="2900000"/>
            <a:ext cx="5300000" cy="440000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9050">
            <a:solidFill>
              <a:srgbClr val="79E92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1" name="Card text 2"/>
          <p:cNvSpPr txBox="1"/>
          <p:nvPr/>
        </p:nvSpPr>
        <p:spPr>
          <a:xfrm>
            <a:off x="6500000" y="3200000"/>
            <a:ext cx="4700000" cy="3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  <a:buNone/>
            </a:pPr>
            <a:r>
              <a:rPr lang="it-IT" sz="24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MODULO FOTOVOLTAICO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Modello: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{{modulo_modello}}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Tipo: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{{modulo_tipo}}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Potenza: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{{potenza_modulo_w}} Wp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Dimensioni: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{{modulo_dimensioni}} mm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Peso: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{{modulo_peso_kg}} kg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Quantità: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{{moduli_totali}} pz</a:t>
            </a:r>
          </a:p>
        </p:txBody>
      </p:sp>
      <p:sp>
        <p:nvSpPr>
          <p:cNvPr id="102" name="Card 102"/>
          <p:cNvSpPr/>
          <p:nvPr/>
        </p:nvSpPr>
        <p:spPr>
          <a:xfrm>
            <a:off x="11787911" y="2900000"/>
            <a:ext cx="5300000" cy="440000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9050">
            <a:solidFill>
              <a:srgbClr val="79E92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2" name="Card text 3"/>
          <p:cNvSpPr txBox="1"/>
          <p:nvPr/>
        </p:nvSpPr>
        <p:spPr>
          <a:xfrm>
            <a:off x="12087911" y="3200000"/>
            <a:ext cx="4700000" cy="3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  <a:buNone/>
            </a:pPr>
            <a:r>
              <a:rPr lang="it-IT" sz="24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CONDIZIONI DI PROGETTO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Vento di progetto: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{{vento_ms}} m/s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Terreno (Eurocodice):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cat. {{categoria_terreno}}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Altitudine: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{{altitudine_m}} m s.l.m.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Corrosività: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{{classe_corrosivita}}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Pendenza N-S: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{{pendenza_ns}}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Altezza min. modulo: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{{altezza_min_modulo_m}} m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Infissione: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{{infissione_m}} m*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Rotazione: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±{{angolo_rotazione}}°</a:t>
            </a:r>
          </a:p>
        </p:txBody>
      </p:sp>
      <p:sp>
        <p:nvSpPr>
          <p:cNvPr id="120" name="Nota infissione"/>
          <p:cNvSpPr txBox="1"/>
          <p:nvPr/>
        </p:nvSpPr>
        <p:spPr>
          <a:xfrm>
            <a:off x="6200000" y="7500000"/>
            <a:ext cx="11000000" cy="4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00"/>
              </a:lnSpc>
              <a:spcAft>
                <a:spcPts val="0"/>
              </a:spcAft>
              <a:buNone/>
            </a:pPr>
            <a:r>
              <a:rPr lang="it-IT" sz="1500" dirty="0">
                <a:solidFill>
                  <a:srgbClr val="BFBFB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* Profondità di infissione da validare con pull-out test o studio geotecnico. Moduli non inclusi nella fornitura.</a:t>
            </a:r>
          </a:p>
        </p:txBody>
      </p:sp>
      <p:sp>
        <p:nvSpPr>
          <p:cNvPr id="200" name="Card pesi"/>
          <p:cNvSpPr/>
          <p:nvPr/>
        </p:nvSpPr>
        <p:spPr>
          <a:xfrm>
            <a:off x="6200000" y="8050000"/>
            <a:ext cx="10887911" cy="1500000"/>
          </a:xfrm>
          <a:prstGeom prst="roundRect">
            <a:avLst>
              <a:gd name="adj" fmla="val 12000"/>
            </a:avLst>
          </a:prstGeom>
          <a:solidFill>
            <a:srgbClr val="FFFFFF">
              <a:alpha val="7000"/>
            </a:srgbClr>
          </a:solidFill>
          <a:ln w="19050">
            <a:solidFill>
              <a:srgbClr val="79E92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01" name="Card text 4"/>
          <p:cNvSpPr txBox="1"/>
          <p:nvPr/>
        </p:nvSpPr>
        <p:spPr>
          <a:xfrm>
            <a:off x="6480000" y="8050000"/>
            <a:ext cx="1900000" cy="1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buNone/>
            </a:pP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PESI DELLA</a:t>
            </a:r>
          </a:p>
          <a:p>
            <a:pPr algn="l">
              <a:lnSpc>
                <a:spcPts val="2400"/>
              </a:lnSpc>
              <a:spcAft>
                <a:spcPts val="0"/>
              </a:spcAft>
              <a:buNone/>
            </a:pP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FORNITURA</a:t>
            </a:r>
          </a:p>
        </p:txBody>
      </p:sp>
      <p:sp>
        <p:nvSpPr>
          <p:cNvPr id="202" name="Peso Struttura"/>
          <p:cNvSpPr txBox="1"/>
          <p:nvPr/>
        </p:nvSpPr>
        <p:spPr>
          <a:xfrm>
            <a:off x="8380000" y="8050000"/>
            <a:ext cx="1685582" cy="1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2000"/>
              </a:lnSpc>
              <a:spcAft>
                <a:spcPts val="0"/>
              </a:spcAft>
              <a:buNone/>
            </a:pPr>
            <a:r>
              <a:rPr lang="it-IT" sz="15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Struttura</a:t>
            </a:r>
          </a:p>
          <a:p>
            <a:pPr algn="l">
              <a:lnSpc>
                <a:spcPts val="2800"/>
              </a:lnSpc>
              <a:spcAft>
                <a:spcPts val="0"/>
              </a:spcAft>
              <a:buNone/>
            </a:pPr>
            <a:r>
              <a:rPr lang="it-IT" sz="22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{{peso_struttura}}</a:t>
            </a:r>
          </a:p>
        </p:txBody>
      </p:sp>
      <p:sp>
        <p:nvSpPr>
          <p:cNvPr id="203" name="Peso Bulloneria"/>
          <p:cNvSpPr txBox="1"/>
          <p:nvPr/>
        </p:nvSpPr>
        <p:spPr>
          <a:xfrm>
            <a:off x="10065582" y="8050000"/>
            <a:ext cx="1685582" cy="1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2000"/>
              </a:lnSpc>
              <a:spcAft>
                <a:spcPts val="0"/>
              </a:spcAft>
              <a:buNone/>
            </a:pPr>
            <a:r>
              <a:rPr lang="it-IT" sz="15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Bulloneria</a:t>
            </a:r>
          </a:p>
          <a:p>
            <a:pPr algn="l">
              <a:lnSpc>
                <a:spcPts val="2800"/>
              </a:lnSpc>
              <a:spcAft>
                <a:spcPts val="0"/>
              </a:spcAft>
              <a:buNone/>
            </a:pPr>
            <a:r>
              <a:rPr lang="it-IT" sz="22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{{peso_bulloneria}}</a:t>
            </a:r>
          </a:p>
        </p:txBody>
      </p:sp>
      <p:sp>
        <p:nvSpPr>
          <p:cNvPr id="204" name="Peso Elettromeccanico"/>
          <p:cNvSpPr txBox="1"/>
          <p:nvPr/>
        </p:nvSpPr>
        <p:spPr>
          <a:xfrm>
            <a:off x="11751164" y="8050000"/>
            <a:ext cx="1685582" cy="1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2000"/>
              </a:lnSpc>
              <a:spcAft>
                <a:spcPts val="0"/>
              </a:spcAft>
              <a:buNone/>
            </a:pPr>
            <a:r>
              <a:rPr lang="it-IT" sz="15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Elettromeccanico</a:t>
            </a:r>
          </a:p>
          <a:p>
            <a:pPr algn="l">
              <a:lnSpc>
                <a:spcPts val="2800"/>
              </a:lnSpc>
              <a:spcAft>
                <a:spcPts val="0"/>
              </a:spcAft>
              <a:buNone/>
            </a:pPr>
            <a:r>
              <a:rPr lang="it-IT" sz="22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{{peso_elettromeccanico}}</a:t>
            </a:r>
          </a:p>
        </p:txBody>
      </p:sp>
      <p:sp>
        <p:nvSpPr>
          <p:cNvPr id="205" name="Peso Elettronico"/>
          <p:cNvSpPr txBox="1"/>
          <p:nvPr/>
        </p:nvSpPr>
        <p:spPr>
          <a:xfrm>
            <a:off x="13436746" y="8050000"/>
            <a:ext cx="1685582" cy="1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2000"/>
              </a:lnSpc>
              <a:spcAft>
                <a:spcPts val="0"/>
              </a:spcAft>
              <a:buNone/>
            </a:pPr>
            <a:r>
              <a:rPr lang="it-IT" sz="15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Elettronico</a:t>
            </a:r>
          </a:p>
          <a:p>
            <a:pPr algn="l">
              <a:lnSpc>
                <a:spcPts val="2800"/>
              </a:lnSpc>
              <a:spcAft>
                <a:spcPts val="0"/>
              </a:spcAft>
              <a:buNone/>
            </a:pPr>
            <a:r>
              <a:rPr lang="it-IT" sz="22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{{peso_elettronico}}</a:t>
            </a:r>
          </a:p>
        </p:txBody>
      </p:sp>
      <p:sp>
        <p:nvSpPr>
          <p:cNvPr id="206" name="Peso Totale"/>
          <p:cNvSpPr txBox="1"/>
          <p:nvPr/>
        </p:nvSpPr>
        <p:spPr>
          <a:xfrm>
            <a:off x="15122328" y="8050000"/>
            <a:ext cx="1685582" cy="1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2000"/>
              </a:lnSpc>
              <a:spcAft>
                <a:spcPts val="0"/>
              </a:spcAft>
              <a:buNone/>
            </a:pPr>
            <a:r>
              <a:rPr lang="it-IT" sz="15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Totale</a:t>
            </a:r>
          </a:p>
          <a:p>
            <a:pPr algn="l">
              <a:lnSpc>
                <a:spcPts val="2800"/>
              </a:lnSpc>
              <a:spcAft>
                <a:spcPts val="0"/>
              </a:spcAft>
              <a:buNone/>
            </a:pPr>
            <a:r>
              <a:rPr lang="it-IT" sz="22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{{peso_totale}}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</Words>
  <Application>Microsoft Office PowerPoint</Application>
  <PresentationFormat>Personalizzato</PresentationFormat>
  <Paragraphs>163</Paragraphs>
  <Slides>13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3" baseType="lpstr">
      <vt:lpstr>Arial</vt:lpstr>
      <vt:lpstr>Aptos</vt:lpstr>
      <vt:lpstr>Public Sans Bold</vt:lpstr>
      <vt:lpstr>Open Sauce Bold</vt:lpstr>
      <vt:lpstr>Public Sans</vt:lpstr>
      <vt:lpstr>Open Sauce</vt:lpstr>
      <vt:lpstr>Canva Sans Bold</vt:lpstr>
      <vt:lpstr>Canva Sans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OFFERTA TECNICO ECONOMICA</dc:title>
  <dc:creator>Pc6_editor</dc:creator>
  <cp:lastModifiedBy>stella  terranova</cp:lastModifiedBy>
  <cp:revision>9</cp:revision>
  <dcterms:created xsi:type="dcterms:W3CDTF">2006-08-16T00:00:00Z</dcterms:created>
  <dcterms:modified xsi:type="dcterms:W3CDTF">2026-07-23T13:28:05Z</dcterms:modified>
  <dc:identifier>DAHK9gIkHPk</dc:identifier>
</cp:coreProperties>
</file>