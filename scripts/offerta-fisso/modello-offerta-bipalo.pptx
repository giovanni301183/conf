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59" r:id="rId6"/>
    <p:sldId id="260" r:id="rId7"/>
  </p:sldIdLst>
  <p:sldSz cx="18288000" cy="10287000"/>
  <p:notesSz cx="7104063" cy="10234613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Open Sauce" panose="020B0604020202020204" charset="0"/>
      <p:regular r:id="rId11"/>
    </p:embeddedFont>
    <p:embeddedFont>
      <p:font typeface="Open Sauce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E2266FF-7630-4928-8F55-1E0618D0E3AB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31FA81F-D9BE-416B-B888-5032DBBC3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877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752"/>
            <a:fld id="{1B7CB805-766D-4E39-93D5-D0ECFD709C44}" type="slidenum">
              <a:rPr lang="it-IT">
                <a:solidFill>
                  <a:prstClr val="black"/>
                </a:solidFill>
                <a:latin typeface="Aptos" panose="02110004020202020204"/>
              </a:rPr>
              <a:pPr defTabSz="990752"/>
              <a:t>4</a:t>
            </a:fld>
            <a:endParaRPr lang="it-IT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30211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463291" y="440431"/>
            <a:ext cx="13441021" cy="1651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7"/>
              </a:lnSpc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SOLAR MAX IMPIANTO FOTOVOLTAICO TERRANOVA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3281" y="2558476"/>
            <a:ext cx="13241031" cy="556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1"/>
              </a:lnSpc>
            </a:pP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Strutture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fotovoltaiche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fisse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l">
              <a:lnSpc>
                <a:spcPts val="5731"/>
              </a:lnSpc>
            </a:pP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Soluzione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industriale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integrata</a:t>
            </a:r>
            <a:endParaRPr lang="en-US" sz="4697" b="1" spc="-230" dirty="0">
              <a:solidFill>
                <a:srgbClr val="79E92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interamente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in-house,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basata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consolidata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esperienza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nella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carpenteria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metallica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per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vigneti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serre,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capannoni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strutture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custom.</a:t>
            </a:r>
          </a:p>
          <a:p>
            <a:pPr algn="l">
              <a:lnSpc>
                <a:spcPts val="3657"/>
              </a:lnSpc>
            </a:pP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Vantaggi</a:t>
            </a:r>
            <a:endParaRPr lang="en-US" sz="2998" b="1" spc="-146" dirty="0">
              <a:solidFill>
                <a:srgbClr val="79E92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rapida</a:t>
            </a: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Installazione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semplificata</a:t>
            </a: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Qualità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controllata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lungo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tutta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la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filiera</a:t>
            </a: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Affidabilità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durata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nel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tempo</a:t>
            </a:r>
          </a:p>
          <a:p>
            <a:pPr algn="l">
              <a:lnSpc>
                <a:spcPts val="3657"/>
              </a:lnSpc>
            </a:pP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597177" y="7679908"/>
            <a:ext cx="3251754" cy="5214183"/>
          </a:xfrm>
          <a:custGeom>
            <a:avLst/>
            <a:gdLst/>
            <a:ahLst/>
            <a:cxnLst/>
            <a:rect l="l" t="t" r="r" b="b"/>
            <a:pathLst>
              <a:path w="3251754" h="5214183">
                <a:moveTo>
                  <a:pt x="3251754" y="5214184"/>
                </a:moveTo>
                <a:lnTo>
                  <a:pt x="0" y="5214184"/>
                </a:lnTo>
                <a:lnTo>
                  <a:pt x="0" y="0"/>
                </a:lnTo>
                <a:lnTo>
                  <a:pt x="3251754" y="0"/>
                </a:lnTo>
                <a:lnTo>
                  <a:pt x="3251754" y="52141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420397" y="4003863"/>
            <a:ext cx="6996424" cy="820375"/>
            <a:chOff x="0" y="0"/>
            <a:chExt cx="3465910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20397" y="4981186"/>
            <a:ext cx="6996424" cy="820375"/>
            <a:chOff x="0" y="0"/>
            <a:chExt cx="346591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0397" y="5958509"/>
            <a:ext cx="8634821" cy="956613"/>
            <a:chOff x="0" y="0"/>
            <a:chExt cx="366834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68349" cy="406400"/>
            </a:xfrm>
            <a:custGeom>
              <a:avLst/>
              <a:gdLst/>
              <a:ahLst/>
              <a:cxnLst/>
              <a:rect l="l" t="t" r="r" b="b"/>
              <a:pathLst>
                <a:path w="3668349" h="406400">
                  <a:moveTo>
                    <a:pt x="3465149" y="0"/>
                  </a:moveTo>
                  <a:cubicBezTo>
                    <a:pt x="3577373" y="0"/>
                    <a:pt x="3668349" y="90976"/>
                    <a:pt x="3668349" y="203200"/>
                  </a:cubicBezTo>
                  <a:cubicBezTo>
                    <a:pt x="3668349" y="315424"/>
                    <a:pt x="3577373" y="406400"/>
                    <a:pt x="34651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6834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20397" y="7015867"/>
            <a:ext cx="6996424" cy="820375"/>
            <a:chOff x="0" y="0"/>
            <a:chExt cx="346591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4091" y="4098387"/>
            <a:ext cx="576005" cy="57600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24091" y="5089384"/>
            <a:ext cx="576005" cy="57600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20397" y="2121760"/>
            <a:ext cx="13930042" cy="161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330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Time-to-energy più rapido</a:t>
            </a:r>
          </a:p>
          <a:p>
            <a:pPr algn="l">
              <a:lnSpc>
                <a:spcPts val="4293"/>
              </a:lnSpc>
            </a:pPr>
            <a:r>
              <a:rPr lang="en-US" sz="330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 interna dei profili → eliminazione delle dipendenze esterne → consegne più veloci e cantieri più rapidi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24091" y="6080380"/>
            <a:ext cx="576005" cy="57600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24091" y="7151412"/>
            <a:ext cx="576005" cy="57600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629460" y="4217237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Freeform 29"/>
          <p:cNvSpPr/>
          <p:nvPr/>
        </p:nvSpPr>
        <p:spPr>
          <a:xfrm>
            <a:off x="1629460" y="5208234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1629460" y="6199230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6"/>
                </a:lnTo>
                <a:lnTo>
                  <a:pt x="0" y="338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Freeform 31"/>
          <p:cNvSpPr/>
          <p:nvPr/>
        </p:nvSpPr>
        <p:spPr>
          <a:xfrm>
            <a:off x="1629460" y="7270262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Freeform 32"/>
          <p:cNvSpPr/>
          <p:nvPr/>
        </p:nvSpPr>
        <p:spPr>
          <a:xfrm flipH="1">
            <a:off x="17039241" y="9038241"/>
            <a:ext cx="1248759" cy="1248759"/>
          </a:xfrm>
          <a:custGeom>
            <a:avLst/>
            <a:gdLst/>
            <a:ahLst/>
            <a:cxnLst/>
            <a:rect l="l" t="t" r="r" b="b"/>
            <a:pathLst>
              <a:path w="1248759" h="1248759">
                <a:moveTo>
                  <a:pt x="1248759" y="0"/>
                </a:moveTo>
                <a:lnTo>
                  <a:pt x="0" y="0"/>
                </a:lnTo>
                <a:lnTo>
                  <a:pt x="0" y="1248759"/>
                </a:lnTo>
                <a:lnTo>
                  <a:pt x="1248759" y="1248759"/>
                </a:lnTo>
                <a:lnTo>
                  <a:pt x="12487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Freeform 33"/>
          <p:cNvSpPr/>
          <p:nvPr/>
        </p:nvSpPr>
        <p:spPr>
          <a:xfrm rot="5400000">
            <a:off x="10811107" y="99436"/>
            <a:ext cx="996555" cy="1314401"/>
          </a:xfrm>
          <a:custGeom>
            <a:avLst/>
            <a:gdLst/>
            <a:ahLst/>
            <a:cxnLst/>
            <a:rect l="l" t="t" r="r" b="b"/>
            <a:pathLst>
              <a:path w="996555" h="1314401">
                <a:moveTo>
                  <a:pt x="0" y="0"/>
                </a:moveTo>
                <a:lnTo>
                  <a:pt x="996555" y="0"/>
                </a:lnTo>
                <a:lnTo>
                  <a:pt x="996555" y="1314401"/>
                </a:lnTo>
                <a:lnTo>
                  <a:pt x="0" y="131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4" name="Freeform 34"/>
          <p:cNvSpPr/>
          <p:nvPr/>
        </p:nvSpPr>
        <p:spPr>
          <a:xfrm>
            <a:off x="16618135" y="9047200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1" y="0"/>
                </a:lnTo>
                <a:lnTo>
                  <a:pt x="1121841" y="422200"/>
                </a:lnTo>
                <a:lnTo>
                  <a:pt x="0" y="42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5" name="Freeform 35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6" name="Freeform 36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7" name="TextBox 37"/>
          <p:cNvSpPr txBox="1"/>
          <p:nvPr/>
        </p:nvSpPr>
        <p:spPr>
          <a:xfrm>
            <a:off x="2327558" y="4054602"/>
            <a:ext cx="4841118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 interna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spc="-17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327558" y="5045599"/>
            <a:ext cx="6298692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Qualità costante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spc="-17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327558" y="6036596"/>
            <a:ext cx="9373524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Zero rischi di ritardi da fornitori critici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spc="-17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327558" y="7027592"/>
            <a:ext cx="554592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Supporto tecnico diretto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12089" y="235687"/>
            <a:ext cx="4587120" cy="10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IL NOSTRO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488163" y="770852"/>
            <a:ext cx="4993619" cy="111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7"/>
              </a:lnSpc>
              <a:spcBef>
                <a:spcPct val="0"/>
              </a:spcBef>
            </a:pPr>
            <a:r>
              <a:rPr lang="en-US" sz="6497" b="1" spc="-318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vantaggio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326156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2010450" y="2473646"/>
            <a:ext cx="13795531" cy="944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90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Adattiamo la struttura al sito senza perdere standardizzazione:</a:t>
            </a:r>
          </a:p>
          <a:p>
            <a:pPr algn="l">
              <a:lnSpc>
                <a:spcPts val="3773"/>
              </a:lnSpc>
            </a:pPr>
            <a:r>
              <a:rPr lang="en-US" sz="290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terreni complessi - configurazioni variabili - moduli di nuova generazione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254479" y="3651217"/>
            <a:ext cx="17591230" cy="4712217"/>
            <a:chOff x="0" y="0"/>
            <a:chExt cx="4033356" cy="10804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33357" cy="1080428"/>
            </a:xfrm>
            <a:custGeom>
              <a:avLst/>
              <a:gdLst/>
              <a:ahLst/>
              <a:cxnLst/>
              <a:rect l="l" t="t" r="r" b="b"/>
              <a:pathLst>
                <a:path w="4033357" h="1080428">
                  <a:moveTo>
                    <a:pt x="0" y="0"/>
                  </a:moveTo>
                  <a:lnTo>
                    <a:pt x="4033357" y="0"/>
                  </a:lnTo>
                  <a:lnTo>
                    <a:pt x="4033357" y="1080428"/>
                  </a:lnTo>
                  <a:lnTo>
                    <a:pt x="0" y="1080428"/>
                  </a:ln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33356" cy="111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2401140" y="4964401"/>
            <a:ext cx="5175595" cy="3185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65"/>
              </a:lnSpc>
              <a:spcBef>
                <a:spcPct val="0"/>
              </a:spcBef>
            </a:pP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Installazione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semplificata</a:t>
            </a:r>
            <a:endParaRPr lang="en-US" sz="3000" u="none" strike="noStrike" spc="-17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0" lvl="0" indent="0" algn="ctr">
              <a:lnSpc>
                <a:spcPts val="4165"/>
              </a:lnSpc>
              <a:spcBef>
                <a:spcPct val="0"/>
              </a:spcBef>
            </a:pP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Meno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componenti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meno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complessità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</a:t>
            </a:r>
          </a:p>
          <a:p>
            <a:pPr marL="0" lvl="0" indent="0" algn="ctr">
              <a:lnSpc>
                <a:spcPts val="4165"/>
              </a:lnSpc>
              <a:spcBef>
                <a:spcPct val="0"/>
              </a:spcBef>
            </a:pP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meno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errori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 campo.</a:t>
            </a:r>
          </a:p>
          <a:p>
            <a:pPr marL="0" lvl="0" indent="0" algn="ctr">
              <a:lnSpc>
                <a:spcPts val="4165"/>
              </a:lnSpc>
              <a:spcBef>
                <a:spcPct val="0"/>
              </a:spcBef>
            </a:pP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→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Riduzione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diretta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EPC e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tempi di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montaggio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  <a:endParaRPr lang="en-US" sz="3500" b="1" u="none" strike="noStrike" spc="-17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91826" y="9473"/>
            <a:ext cx="3493653" cy="10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50" y="840729"/>
            <a:ext cx="12435067" cy="111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7"/>
              </a:lnSpc>
              <a:spcBef>
                <a:spcPct val="0"/>
              </a:spcBef>
            </a:pPr>
            <a:r>
              <a:rPr lang="en-US" sz="6497" b="1" spc="-318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industriale, non artigianale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13071088" y="3755803"/>
            <a:ext cx="3835698" cy="1217128"/>
          </a:xfrm>
          <a:custGeom>
            <a:avLst/>
            <a:gdLst/>
            <a:ahLst/>
            <a:cxnLst/>
            <a:rect l="l" t="t" r="r" b="b"/>
            <a:pathLst>
              <a:path w="10844477" h="4080234">
                <a:moveTo>
                  <a:pt x="0" y="0"/>
                </a:moveTo>
                <a:lnTo>
                  <a:pt x="10844476" y="0"/>
                </a:lnTo>
                <a:lnTo>
                  <a:pt x="10844476" y="4080235"/>
                </a:lnTo>
                <a:lnTo>
                  <a:pt x="0" y="40802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CC11AA12-F206-76E8-EFB4-8A3522E163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697"/>
          <a:stretch>
            <a:fillRect/>
          </a:stretch>
        </p:blipFill>
        <p:spPr>
          <a:xfrm>
            <a:off x="5596512" y="3910468"/>
            <a:ext cx="6623405" cy="411430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15451D36-447C-421C-D306-3161CE777E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282" y="4675735"/>
            <a:ext cx="5152885" cy="2583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2089" y="170900"/>
            <a:ext cx="536026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-294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LAYOUT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88" y="1054767"/>
            <a:ext cx="7693711" cy="984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spc="-294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TEKNA</a:t>
            </a:r>
            <a:endParaRPr kumimoji="0" lang="en-US" sz="6000" b="1" i="0" u="none" strike="noStrike" kern="1200" cap="none" spc="-294" normalizeH="0" baseline="0" noProof="0" dirty="0">
              <a:ln>
                <a:noFill/>
              </a:ln>
              <a:solidFill>
                <a:srgbClr val="79E920"/>
              </a:solidFill>
              <a:effectLst/>
              <a:uLnTx/>
              <a:uFillTx/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7200" y="2920071"/>
            <a:ext cx="7239000" cy="2523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0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N.</a:t>
            </a:r>
            <a:r>
              <a:rPr lang="en-US" sz="358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8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SOLAR MAX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.36 MODULI</a:t>
            </a:r>
          </a:p>
          <a:p>
            <a:pPr marL="0" marR="0" lvl="0" indent="0" algn="l" defTabSz="914400" rtl="0" eaLnBrk="1" fontAlgn="auto" latinLnBrk="0" hangingPunct="1">
              <a:lnSpc>
                <a:spcPts val="50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8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0" marR="0" lvl="0" indent="0" algn="l" defTabSz="914400" rtl="0" eaLnBrk="1" fontAlgn="auto" latinLnBrk="0" hangingPunct="1">
              <a:lnSpc>
                <a:spcPts val="50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87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Pannelli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da 7</a:t>
            </a:r>
            <a:r>
              <a:rPr lang="en-US" sz="358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35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W Potenza </a:t>
            </a:r>
            <a:r>
              <a:rPr kumimoji="0" lang="en-US" sz="3587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totale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b="1" spc="-176" dirty="0">
                <a:solidFill>
                  <a:srgbClr val="79E920"/>
                </a:solidFill>
                <a:latin typeface="Open Sauce Bold"/>
                <a:ea typeface="Canva Sans"/>
                <a:cs typeface="Canva Sans"/>
                <a:sym typeface="Open Sauce Bold"/>
              </a:rPr>
              <a:t>502</a:t>
            </a:r>
            <a:r>
              <a:rPr kumimoji="0" lang="en-US" sz="3200" b="1" i="0" u="none" strike="noStrike" kern="1200" cap="none" spc="-176" normalizeH="0" baseline="0" noProof="0" dirty="0">
                <a:ln>
                  <a:noFill/>
                </a:ln>
                <a:solidFill>
                  <a:srgbClr val="79E92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,74 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kWh.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F578305-2031-C780-FC29-ADE2BCA251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74" t="8634" r="2125" b="4061"/>
          <a:stretch>
            <a:fillRect/>
          </a:stretch>
        </p:blipFill>
        <p:spPr>
          <a:xfrm>
            <a:off x="8915399" y="442909"/>
            <a:ext cx="6240541" cy="454819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CAAFAB4-AAAD-7AFA-8E3D-A888593E7B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44" t="3154" r="2139" b="3596"/>
          <a:stretch>
            <a:fillRect/>
          </a:stretch>
        </p:blipFill>
        <p:spPr>
          <a:xfrm>
            <a:off x="8915400" y="5600700"/>
            <a:ext cx="79248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71824" y="5188953"/>
            <a:ext cx="1833074" cy="18330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57696" y="5070149"/>
            <a:ext cx="1833074" cy="18330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532358" y="5070149"/>
            <a:ext cx="1833074" cy="183307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 flipH="1" flipV="1">
            <a:off x="-527525" y="706807"/>
            <a:ext cx="1309712" cy="1727438"/>
          </a:xfrm>
          <a:custGeom>
            <a:avLst/>
            <a:gdLst/>
            <a:ahLst/>
            <a:cxnLst/>
            <a:rect l="l" t="t" r="r" b="b"/>
            <a:pathLst>
              <a:path w="1309712" h="1727438">
                <a:moveTo>
                  <a:pt x="1309711" y="1727437"/>
                </a:moveTo>
                <a:lnTo>
                  <a:pt x="0" y="1727437"/>
                </a:lnTo>
                <a:lnTo>
                  <a:pt x="0" y="0"/>
                </a:lnTo>
                <a:lnTo>
                  <a:pt x="1309711" y="0"/>
                </a:lnTo>
                <a:lnTo>
                  <a:pt x="1309711" y="172743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9191563" y="5480115"/>
            <a:ext cx="1193596" cy="1176097"/>
          </a:xfrm>
          <a:custGeom>
            <a:avLst/>
            <a:gdLst/>
            <a:ahLst/>
            <a:cxnLst/>
            <a:rect l="l" t="t" r="r" b="b"/>
            <a:pathLst>
              <a:path w="1193596" h="1176097">
                <a:moveTo>
                  <a:pt x="0" y="0"/>
                </a:moveTo>
                <a:lnTo>
                  <a:pt x="1193596" y="0"/>
                </a:lnTo>
                <a:lnTo>
                  <a:pt x="1193596" y="1176097"/>
                </a:lnTo>
                <a:lnTo>
                  <a:pt x="0" y="1176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12291070" y="5361311"/>
            <a:ext cx="966326" cy="1213423"/>
          </a:xfrm>
          <a:custGeom>
            <a:avLst/>
            <a:gdLst/>
            <a:ahLst/>
            <a:cxnLst/>
            <a:rect l="l" t="t" r="r" b="b"/>
            <a:pathLst>
              <a:path w="966326" h="1213423">
                <a:moveTo>
                  <a:pt x="0" y="0"/>
                </a:moveTo>
                <a:lnTo>
                  <a:pt x="966326" y="0"/>
                </a:lnTo>
                <a:lnTo>
                  <a:pt x="966326" y="1213423"/>
                </a:lnTo>
                <a:lnTo>
                  <a:pt x="0" y="1213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14793371" y="5361311"/>
            <a:ext cx="1311047" cy="1311047"/>
          </a:xfrm>
          <a:custGeom>
            <a:avLst/>
            <a:gdLst/>
            <a:ahLst/>
            <a:cxnLst/>
            <a:rect l="l" t="t" r="r" b="b"/>
            <a:pathLst>
              <a:path w="1311047" h="1311047">
                <a:moveTo>
                  <a:pt x="0" y="0"/>
                </a:moveTo>
                <a:lnTo>
                  <a:pt x="1311048" y="0"/>
                </a:lnTo>
                <a:lnTo>
                  <a:pt x="1311048" y="1311047"/>
                </a:lnTo>
                <a:lnTo>
                  <a:pt x="0" y="1311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TextBox 17"/>
          <p:cNvSpPr txBox="1"/>
          <p:nvPr/>
        </p:nvSpPr>
        <p:spPr>
          <a:xfrm>
            <a:off x="8629028" y="7624732"/>
            <a:ext cx="2557237" cy="37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7"/>
              </a:lnSpc>
              <a:spcBef>
                <a:spcPct val="0"/>
              </a:spcBef>
            </a:pPr>
            <a:r>
              <a:rPr lang="en-US" sz="2226" b="1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Tracciabilità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1049" y="2296034"/>
            <a:ext cx="12047523" cy="2956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13"/>
              </a:lnSpc>
            </a:pPr>
            <a:r>
              <a:rPr lang="en-US" sz="370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Strutture pensate per crescere nel tempo:</a:t>
            </a:r>
          </a:p>
          <a:p>
            <a:pPr marL="799456" lvl="1" indent="-399728" algn="just">
              <a:lnSpc>
                <a:spcPts val="4813"/>
              </a:lnSpc>
              <a:buFont typeface="Arial"/>
              <a:buChar char="•"/>
            </a:pPr>
            <a:r>
              <a:rPr lang="en-US" sz="370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ampliamenti successivi </a:t>
            </a:r>
          </a:p>
          <a:p>
            <a:pPr marL="799456" lvl="1" indent="-399728" algn="just">
              <a:lnSpc>
                <a:spcPts val="4813"/>
              </a:lnSpc>
              <a:buFont typeface="Arial"/>
              <a:buChar char="•"/>
            </a:pPr>
            <a:r>
              <a:rPr lang="en-US" sz="370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sviluppo per fasi </a:t>
            </a:r>
          </a:p>
          <a:p>
            <a:pPr marL="799456" lvl="1" indent="-399728" algn="just">
              <a:lnSpc>
                <a:spcPts val="4813"/>
              </a:lnSpc>
              <a:buFont typeface="Arial"/>
              <a:buChar char="•"/>
            </a:pPr>
            <a:r>
              <a:rPr lang="en-US" sz="370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modularità reale sul campo </a:t>
            </a:r>
          </a:p>
          <a:p>
            <a:pPr algn="just">
              <a:lnSpc>
                <a:spcPts val="4163"/>
              </a:lnSpc>
            </a:pPr>
            <a:endParaRPr lang="en-US" sz="3702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611775" y="7477650"/>
            <a:ext cx="2557237" cy="76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7"/>
              </a:lnSpc>
              <a:spcBef>
                <a:spcPct val="0"/>
              </a:spcBef>
            </a:pPr>
            <a:r>
              <a:rPr lang="en-US" sz="2226" b="1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Configurazione struttura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764680" y="7477650"/>
            <a:ext cx="1600752" cy="76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7"/>
              </a:lnSpc>
              <a:spcBef>
                <a:spcPct val="0"/>
              </a:spcBef>
            </a:pPr>
            <a:r>
              <a:rPr lang="en-US" sz="2226" b="1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 interna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-417659" y="116428"/>
            <a:ext cx="57310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0"/>
              </a:lnSpc>
              <a:spcBef>
                <a:spcPct val="0"/>
              </a:spcBef>
            </a:pPr>
            <a:r>
              <a:rPr lang="en-US" sz="6000" b="1" spc="-2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QUALI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29299" y="782319"/>
            <a:ext cx="3605529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 b="1" spc="-318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Benefici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70642" y="8549171"/>
            <a:ext cx="11256408" cy="13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 vendiamo semplici strutture fotovoltaiche.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Forniamo un sistema industriale completo che riduce tempi di cantiere, rischio di progetto e complessità EPC.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9959" y="248628"/>
            <a:ext cx="8263664" cy="8248639"/>
          </a:xfrm>
          <a:custGeom>
            <a:avLst/>
            <a:gdLst/>
            <a:ahLst/>
            <a:cxnLst/>
            <a:rect l="l" t="t" r="r" b="b"/>
            <a:pathLst>
              <a:path w="8263664" h="8248639">
                <a:moveTo>
                  <a:pt x="0" y="0"/>
                </a:moveTo>
                <a:lnTo>
                  <a:pt x="8263664" y="0"/>
                </a:lnTo>
                <a:lnTo>
                  <a:pt x="8263664" y="8248639"/>
                </a:lnTo>
                <a:lnTo>
                  <a:pt x="0" y="824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2873029" y="2911868"/>
            <a:ext cx="4901349" cy="1308595"/>
            <a:chOff x="0" y="0"/>
            <a:chExt cx="1347429" cy="3157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47429" cy="315722"/>
            </a:xfrm>
            <a:custGeom>
              <a:avLst/>
              <a:gdLst/>
              <a:ahLst/>
              <a:cxnLst/>
              <a:rect l="l" t="t" r="r" b="b"/>
              <a:pathLst>
                <a:path w="1347429" h="315722">
                  <a:moveTo>
                    <a:pt x="1144229" y="0"/>
                  </a:moveTo>
                  <a:cubicBezTo>
                    <a:pt x="1256454" y="0"/>
                    <a:pt x="1347429" y="70677"/>
                    <a:pt x="1347429" y="157861"/>
                  </a:cubicBezTo>
                  <a:cubicBezTo>
                    <a:pt x="1347429" y="245045"/>
                    <a:pt x="1256454" y="315722"/>
                    <a:pt x="1144229" y="315722"/>
                  </a:cubicBezTo>
                  <a:lnTo>
                    <a:pt x="203200" y="315722"/>
                  </a:lnTo>
                  <a:cubicBezTo>
                    <a:pt x="90976" y="315722"/>
                    <a:pt x="0" y="245045"/>
                    <a:pt x="0" y="157861"/>
                  </a:cubicBezTo>
                  <a:cubicBezTo>
                    <a:pt x="0" y="7067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0581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47429" cy="353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07649" y="5186531"/>
            <a:ext cx="5323903" cy="1480399"/>
            <a:chOff x="0" y="0"/>
            <a:chExt cx="1461758" cy="3110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1758" cy="311026"/>
            </a:xfrm>
            <a:custGeom>
              <a:avLst/>
              <a:gdLst/>
              <a:ahLst/>
              <a:cxnLst/>
              <a:rect l="l" t="t" r="r" b="b"/>
              <a:pathLst>
                <a:path w="1461758" h="311026">
                  <a:moveTo>
                    <a:pt x="1258558" y="0"/>
                  </a:moveTo>
                  <a:cubicBezTo>
                    <a:pt x="1370783" y="0"/>
                    <a:pt x="1461758" y="69626"/>
                    <a:pt x="1461758" y="155513"/>
                  </a:cubicBezTo>
                  <a:cubicBezTo>
                    <a:pt x="1461758" y="241401"/>
                    <a:pt x="1370783" y="311026"/>
                    <a:pt x="1258558" y="311026"/>
                  </a:cubicBezTo>
                  <a:lnTo>
                    <a:pt x="203200" y="311026"/>
                  </a:lnTo>
                  <a:cubicBezTo>
                    <a:pt x="90976" y="311026"/>
                    <a:pt x="0" y="241401"/>
                    <a:pt x="0" y="155513"/>
                  </a:cubicBezTo>
                  <a:cubicBezTo>
                    <a:pt x="0" y="696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0581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61758" cy="349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448552" y="2911869"/>
            <a:ext cx="3961930" cy="1308594"/>
            <a:chOff x="0" y="0"/>
            <a:chExt cx="1135583" cy="315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5583" cy="315722"/>
            </a:xfrm>
            <a:custGeom>
              <a:avLst/>
              <a:gdLst/>
              <a:ahLst/>
              <a:cxnLst/>
              <a:rect l="l" t="t" r="r" b="b"/>
              <a:pathLst>
                <a:path w="1135583" h="315722">
                  <a:moveTo>
                    <a:pt x="932383" y="0"/>
                  </a:moveTo>
                  <a:cubicBezTo>
                    <a:pt x="1044608" y="0"/>
                    <a:pt x="1135583" y="70677"/>
                    <a:pt x="1135583" y="157861"/>
                  </a:cubicBezTo>
                  <a:cubicBezTo>
                    <a:pt x="1135583" y="245045"/>
                    <a:pt x="1044608" y="315722"/>
                    <a:pt x="932383" y="315722"/>
                  </a:cubicBezTo>
                  <a:lnTo>
                    <a:pt x="203200" y="315722"/>
                  </a:lnTo>
                  <a:cubicBezTo>
                    <a:pt x="90976" y="315722"/>
                    <a:pt x="0" y="245045"/>
                    <a:pt x="0" y="157861"/>
                  </a:cubicBezTo>
                  <a:cubicBezTo>
                    <a:pt x="0" y="7067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35583" cy="353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48552" y="5200422"/>
            <a:ext cx="4146059" cy="1466509"/>
            <a:chOff x="0" y="0"/>
            <a:chExt cx="1036250" cy="3110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36250" cy="311026"/>
            </a:xfrm>
            <a:custGeom>
              <a:avLst/>
              <a:gdLst/>
              <a:ahLst/>
              <a:cxnLst/>
              <a:rect l="l" t="t" r="r" b="b"/>
              <a:pathLst>
                <a:path w="1036250" h="311026">
                  <a:moveTo>
                    <a:pt x="833050" y="0"/>
                  </a:moveTo>
                  <a:cubicBezTo>
                    <a:pt x="945274" y="0"/>
                    <a:pt x="1036250" y="69626"/>
                    <a:pt x="1036250" y="155513"/>
                  </a:cubicBezTo>
                  <a:cubicBezTo>
                    <a:pt x="1036250" y="241401"/>
                    <a:pt x="945274" y="311026"/>
                    <a:pt x="833050" y="311026"/>
                  </a:cubicBezTo>
                  <a:lnTo>
                    <a:pt x="203200" y="311026"/>
                  </a:lnTo>
                  <a:cubicBezTo>
                    <a:pt x="90976" y="311026"/>
                    <a:pt x="0" y="241401"/>
                    <a:pt x="0" y="155513"/>
                  </a:cubicBezTo>
                  <a:cubicBezTo>
                    <a:pt x="0" y="696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36250" cy="349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753352" y="320566"/>
            <a:ext cx="4758522" cy="1308594"/>
          </a:xfrm>
          <a:custGeom>
            <a:avLst/>
            <a:gdLst/>
            <a:ahLst/>
            <a:cxnLst/>
            <a:rect l="l" t="t" r="r" b="b"/>
            <a:pathLst>
              <a:path w="4758522" h="1308594">
                <a:moveTo>
                  <a:pt x="0" y="0"/>
                </a:moveTo>
                <a:lnTo>
                  <a:pt x="4758523" y="0"/>
                </a:lnTo>
                <a:lnTo>
                  <a:pt x="4758523" y="1308593"/>
                </a:lnTo>
                <a:lnTo>
                  <a:pt x="0" y="1308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16152395" y="294725"/>
            <a:ext cx="1693314" cy="1416268"/>
          </a:xfrm>
          <a:custGeom>
            <a:avLst/>
            <a:gdLst/>
            <a:ahLst/>
            <a:cxnLst/>
            <a:rect l="l" t="t" r="r" b="b"/>
            <a:pathLst>
              <a:path w="1693314" h="1416268">
                <a:moveTo>
                  <a:pt x="0" y="0"/>
                </a:moveTo>
                <a:lnTo>
                  <a:pt x="1693314" y="0"/>
                </a:lnTo>
                <a:lnTo>
                  <a:pt x="1693314" y="1416268"/>
                </a:lnTo>
                <a:lnTo>
                  <a:pt x="0" y="1416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TextBox 17"/>
          <p:cNvSpPr txBox="1"/>
          <p:nvPr/>
        </p:nvSpPr>
        <p:spPr>
          <a:xfrm>
            <a:off x="513621" y="2040015"/>
            <a:ext cx="8630379" cy="6424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La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struttura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è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realizzata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mediante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profilati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e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lamiere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piegate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ad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alta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efficienza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strutturale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che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consentono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ottenere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elevata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resistenza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79E92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u="sng" dirty="0">
                <a:solidFill>
                  <a:srgbClr val="79E9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STRUTTURA VERIFICATA PER CARICO NEVE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u="sng" dirty="0">
                <a:solidFill>
                  <a:srgbClr val="79E9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140 KG / M2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u="sng" dirty="0">
              <a:solidFill>
                <a:srgbClr val="79E92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Vantaggio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per il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cliente</a:t>
            </a:r>
            <a:endParaRPr lang="en-US" sz="2799" dirty="0">
              <a:solidFill>
                <a:srgbClr val="79E92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Minori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costi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trasporto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Facilità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movimentazione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in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cantiere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Riduzione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dei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tempi di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installazione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79E92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79E92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13649" y="4120"/>
            <a:ext cx="5279145" cy="102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2105" y="914400"/>
            <a:ext cx="9776853" cy="984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397"/>
              </a:lnSpc>
              <a:spcBef>
                <a:spcPct val="0"/>
              </a:spcBef>
            </a:pPr>
            <a:r>
              <a:rPr lang="en-US" sz="5997" b="1" spc="-293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Investimento 502, 74 kW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44970" y="3181717"/>
            <a:ext cx="3546178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01"/>
              </a:lnSpc>
            </a:pPr>
            <a:r>
              <a:rPr lang="en-US" sz="2701" b="1" u="sng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n. 19 STRUTTURE DA 36 MODULI </a:t>
            </a:r>
          </a:p>
          <a:p>
            <a:pPr>
              <a:lnSpc>
                <a:spcPts val="2701"/>
              </a:lnSpc>
            </a:pPr>
            <a:endParaRPr lang="en-US" sz="2701" b="1" spc="-132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36567" y="5397048"/>
            <a:ext cx="439102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2796" b="1" u="sng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N. 2 </a:t>
            </a:r>
            <a:r>
              <a:rPr lang="en-US" sz="2700" b="1" u="sng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TRASPORTI</a:t>
            </a:r>
            <a:r>
              <a:rPr lang="en-US" sz="2796" b="1" u="sng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ctr">
              <a:lnSpc>
                <a:spcPts val="2796"/>
              </a:lnSpc>
            </a:pPr>
            <a:r>
              <a:rPr lang="en-US" sz="2796" b="1" u="sng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 </a:t>
            </a:r>
            <a:r>
              <a:rPr lang="en-US" sz="2796" b="1" u="sng" spc="-137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servizio</a:t>
            </a:r>
            <a:r>
              <a:rPr lang="en-US" sz="2796" b="1" u="sng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796" b="1" u="sng" spc="-137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gru</a:t>
            </a:r>
            <a:r>
              <a:rPr lang="en-US" sz="2796" b="1" u="sng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per </a:t>
            </a:r>
            <a:r>
              <a:rPr lang="en-US" sz="2796" b="1" u="sng" spc="-137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operazioni</a:t>
            </a:r>
            <a:r>
              <a:rPr lang="en-US" sz="2796" b="1" u="sng" spc="-137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di </a:t>
            </a:r>
            <a:r>
              <a:rPr lang="en-US" sz="2796" b="1" u="sng" spc="-137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scarico</a:t>
            </a:r>
            <a:endParaRPr lang="en-US" sz="2796" b="1" u="sng" spc="-137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561629" y="5802506"/>
            <a:ext cx="2570446" cy="332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6"/>
              </a:lnSpc>
            </a:pPr>
            <a:r>
              <a:rPr lang="en-US" sz="2596" b="1" spc="-12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€ 1.000,00 + IVA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8708" y="7650851"/>
            <a:ext cx="17125670" cy="199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40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Acciaio al </a:t>
            </a:r>
            <a:r>
              <a:rPr lang="en-US" sz="4000" b="1" dirty="0" err="1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carbonio</a:t>
            </a:r>
            <a:r>
              <a:rPr lang="en-US" sz="40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ad </a:t>
            </a:r>
            <a:r>
              <a:rPr lang="en-US" sz="4000" b="1" dirty="0" err="1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alta</a:t>
            </a:r>
            <a:r>
              <a:rPr lang="en-US" sz="40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000" b="1" dirty="0" err="1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resistenza</a:t>
            </a:r>
            <a:r>
              <a:rPr lang="en-US" sz="40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MAGNELIS® S320GD+ZM310 </a:t>
            </a:r>
          </a:p>
          <a:p>
            <a:pPr algn="l">
              <a:lnSpc>
                <a:spcPts val="4793"/>
              </a:lnSpc>
            </a:pPr>
            <a:r>
              <a:rPr lang="en-US" sz="40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PILASTRI IN ACCIAIO ZINCATO A CALDO S355JR</a:t>
            </a:r>
          </a:p>
          <a:p>
            <a:pPr algn="r">
              <a:lnSpc>
                <a:spcPts val="6250"/>
              </a:lnSpc>
            </a:pPr>
            <a:r>
              <a:rPr lang="en-US" sz="4699" b="1" u="sng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 PESO 18 TON </a:t>
            </a: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D13BD202-E0F7-B6F4-CA1F-0D717BE7E16B}"/>
              </a:ext>
            </a:extLst>
          </p:cNvPr>
          <p:cNvSpPr txBox="1"/>
          <p:nvPr/>
        </p:nvSpPr>
        <p:spPr>
          <a:xfrm>
            <a:off x="14594611" y="3367665"/>
            <a:ext cx="2344506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596"/>
              </a:lnSpc>
              <a:defRPr sz="2596" b="1" spc="-1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</a:defRPr>
            </a:lvl1pPr>
          </a:lstStyle>
          <a:p>
            <a:r>
              <a:rPr lang="en-US" sz="2600" dirty="0">
                <a:sym typeface="Open Sauce Bold"/>
              </a:rPr>
              <a:t>€ 36.500 + 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Personalizzato</PresentationFormat>
  <Paragraphs>62</Paragraphs>
  <Slides>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4" baseType="lpstr">
      <vt:lpstr>Open Sauce Bold</vt:lpstr>
      <vt:lpstr>Canva Sans</vt:lpstr>
      <vt:lpstr>Canva Sans Bold</vt:lpstr>
      <vt:lpstr>Open Sauce</vt:lpstr>
      <vt:lpstr>Calibri</vt:lpstr>
      <vt:lpstr>Arial</vt:lpstr>
      <vt:lpstr>Aptos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Strutture fotovoltaiche fisse Soluzione industriale integrata Produzione interamente in-house, basata su una consolidata esperienza nella carpenteria metallica per vigneti, serre, capannoni e strutture custom. Vantaggi • Produzione rapida • Installazione</dc:title>
  <cp:lastModifiedBy>stella  terranova</cp:lastModifiedBy>
  <cp:revision>7</cp:revision>
  <cp:lastPrinted>2026-09-25T14:17:26Z</cp:lastPrinted>
  <dcterms:created xsi:type="dcterms:W3CDTF">2006-08-16T00:00:00Z</dcterms:created>
  <dcterms:modified xsi:type="dcterms:W3CDTF">2026-09-25T15:31:29Z</dcterms:modified>
  <dc:identifier>DAHM6MIMC84</dc:identifier>
</cp:coreProperties>
</file>